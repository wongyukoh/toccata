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4" r:id="rId18"/>
    <p:sldId id="275" r:id="rId19"/>
    <p:sldId id="276" r:id="rId20"/>
    <p:sldId id="277" r:id="rId21"/>
    <p:sldId id="280" r:id="rId22"/>
    <p:sldId id="281" r:id="rId23"/>
    <p:sldId id="282" r:id="rId24"/>
    <p:sldId id="283" r:id="rId25"/>
    <p:sldId id="284"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4A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51"/>
    <p:restoredTop sz="94610"/>
  </p:normalViewPr>
  <p:slideViewPr>
    <p:cSldViewPr snapToGrid="0" snapToObjects="1">
      <p:cViewPr varScale="1">
        <p:scale>
          <a:sx n="151" d="100"/>
          <a:sy n="151" d="100"/>
        </p:scale>
        <p:origin x="208"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금액(원)</c:v>
                </c:pt>
              </c:strCache>
            </c:strRef>
          </c:tx>
          <c:spPr>
            <a:solidFill>
              <a:srgbClr val="D9482B"/>
            </a:solidFill>
            <a:effectLst/>
          </c:spPr>
          <c:invertIfNegative val="0"/>
          <c:dLbls>
            <c:numFmt formatCode="#,##0" sourceLinked="0"/>
            <c:spPr>
              <a:noFill/>
              <a:ln>
                <a:noFill/>
              </a:ln>
              <a:effectLst/>
            </c:spPr>
            <c:txPr>
              <a:bodyPr/>
              <a:lstStyle/>
              <a:p>
                <a:pPr>
                  <a:defRPr sz="1100" b="0" i="0" u="none" strike="noStrike">
                    <a:solidFill>
                      <a:srgbClr val="16181D"/>
                    </a:solidFill>
                    <a:latin typeface="Apple SD Gothic Neo"/>
                  </a:defRPr>
                </a:pPr>
                <a:endParaRPr lang="en-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제어 · 전원</c:v>
                </c:pt>
                <c:pt idx="1">
                  <c:v>센서 · MCU · 기판</c:v>
                </c:pt>
                <c:pt idx="2">
                  <c:v>건반 액션</c:v>
                </c:pt>
                <c:pt idx="3">
                  <c:v>오디오 (스피커 · 앰프)</c:v>
                </c:pt>
                <c:pt idx="4">
                  <c:v>본체 구조 · 결합</c:v>
                </c:pt>
                <c:pt idx="5">
                  <c:v>기타 (소모품 · 페달 선 · 공구)</c:v>
                </c:pt>
              </c:strCache>
            </c:strRef>
          </c:cat>
          <c:val>
            <c:numRef>
              <c:f>Sheet1!$B$2:$B$7</c:f>
              <c:numCache>
                <c:formatCode>General</c:formatCode>
                <c:ptCount val="6"/>
                <c:pt idx="0">
                  <c:v>128335</c:v>
                </c:pt>
                <c:pt idx="1">
                  <c:v>154960</c:v>
                </c:pt>
                <c:pt idx="2">
                  <c:v>162479</c:v>
                </c:pt>
                <c:pt idx="3">
                  <c:v>62488</c:v>
                </c:pt>
                <c:pt idx="4">
                  <c:v>81249</c:v>
                </c:pt>
                <c:pt idx="5">
                  <c:v>10450</c:v>
                </c:pt>
              </c:numCache>
            </c:numRef>
          </c:val>
          <c:extLst>
            <c:ext xmlns:c16="http://schemas.microsoft.com/office/drawing/2014/chart" uri="{C3380CC4-5D6E-409C-BE32-E72D297353CC}">
              <c16:uniqueId val="{00000000-390B-9B4E-B352-DD6152FB91C3}"/>
            </c:ext>
          </c:extLst>
        </c:ser>
        <c:dLbls>
          <c:showLegendKey val="0"/>
          <c:showVal val="1"/>
          <c:showCatName val="0"/>
          <c:showSerName val="0"/>
          <c:showPercent val="0"/>
          <c:showBubbleSize val="0"/>
        </c:dLbls>
        <c:gapWidth val="5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444A54"/>
                </a:solidFill>
                <a:latin typeface="Apple SD Gothic Neo"/>
              </a:defRPr>
            </a:pPr>
            <a:endParaRPr lang="en-US"/>
          </a:p>
        </c:txPr>
        <c:crossAx val="2094734552"/>
        <c:crosses val="autoZero"/>
        <c:auto val="1"/>
        <c:lblAlgn val="ctr"/>
        <c:lblOffset val="100"/>
        <c:noMultiLvlLbl val="1"/>
      </c:catAx>
      <c:valAx>
        <c:axId val="2094734552"/>
        <c:scaling>
          <c:orientation val="minMax"/>
          <c:max val="2500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9625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Toccata 프로젝트 발표를 시작하겠습니다. 3D 프린터로 건반을 직접 뽑아 만드는 휴대용 88건반 디지털 피아노이고, 완성한 피아노로 하는 리듬게임까지 만드는 프로젝트입니다. 발표는 프로젝트 제목, 주제와 의도, 구성과 작동 방식, 사용할 센서와 부품, 제작 계획과 예상 결과 순서로 진행하고, 마지막에 부품 목록을 붙였습니다.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이름은 Toccata입니다. 토카타는 건반 악기를 위한 빠르고 화려한 곡 형식이고, 이탈리아어 toccare, 손대다에서 온 말입니다. 한 줄로 소개하면 휴대용 88건반 디지털 피아노이면서 리듬게임용 장비입니다. 88건반을 도~시 12건반짜리 옥타브 모듈 7개로 나눠 만듭니다. 리듬게임의 이름도 프로젝트와 같은 Toccata입니다.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주제는 3D 프린팅 건반과 홀센서, 소프트웨어 음원으로 누르는 세기와 페달까지 표현하는 88건반 디지털 피아노를 직접 만들고, 그 피아노를 컨트롤러로 쓰는 리듬게임 Toccata까지 만드는 것입니다. 의도는 네 가지입니다. 실제 피아노처럼 세기와 페달, 무게감이 있을 것. 파트별로 나눠 들고 다닐 것. 3D 프린터로 건반과 레버, 틀을 직접 출력하고 강철 추와 봉, 스프링 같은 금속 부품만 사서 조립하며, 건반이 부러지면 모듈을 풀지 않고 그 한 개만 예비 건반으로 바꿔 끼울 수 있을 것(흑건은 옆 백건 두 개를 먼저 뺍니다). 그리고 완성한 피아노로 리듬게임을 할 수 있을 것. 순서는 1단계 피아노, 2단계 리듬게임입니다.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프로젝트는 두 단계입니다. 1단계는 피아노를 만드는 것으로, 하드웨어를 설계하고 제작한 뒤 소리가 제대로 나는지 테스트합니다. 이 단계가 끝나면 88건반 디지털 피아노이자 USB-MIDI 컨트롤러가 됩니다. 2단계는 그 피아노에 호환되는 리듬게임 Toccata를 만드는 것으로, 먼저 건반과 세기, 페달 입력을 게임에 연동하고, 그다음 노트와 판정, 곡, 스토리와 아트를 만듭니다. 피아노의 모듈이 각각 USB-MIDI 장치라서 게임은 피아노를 고치지 않고 같은 신호를 받아 쓰고, 피아노 안의 라즈베리파이 5에서 돌아가며 화면은 모니터나 TV로 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기준은 두 가지입니다. Yamaha P-145 같은 입문형 디지털 피아노, 그리고 dovetail studio의 3D 프린팅 피아노 영상입니다. 영상에서는 무게 레버로 무게감을 내는 아이디어를 가져왔고, 제작자가 다음 버전은 PETG와 홀센서로 바꾸겠다고 한 교훈을 반영해 처음부터 그렇게 시작합니다. Toccata의 건반은 시소처럼 움직이고, 강철 무게 레버의 무게로 돌아옵니다. 여기에 분리·휴대와 리듬게임 컨트롤러라는 점이 다른 점입니다.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전체 구성입니다. 건반 모듈 7개는 각각 홀센서 12개, MUX, RP2040-Zero를 가진 독립된 USB-MIDI 장치입니다. 모듈과 페달이 USB 허브를 거쳐 라즈베리파이 5에 연결되고, 파이에서 피아노 음원 FluidSynth와 2단계의 리듬게임이 돌아갑니다. 소리는 USB DAC, 헤드폰 잭, 앰프를 거쳐 좌우 스피커로 나가고, 게임 화면은 HDMI로 모니터나 TV에 나옵니다. 전원은 USB-C 하나로 65와트 충전기나 20볼트 3.25암페어를 내는 보조배터리를 씁니다. 각 부분의 실제 회로는 뒤의 전자부 회로 슬라이드에서 보여 드립니다.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본체는 5종류의 파트로 나뉩니다. 앞쪽은 88건반으로, 옥타브 모듈 7개와 양 끝 부속 2개가 도브테일로 끼워집니다. 뒤쪽은 깊이 195밀리의 뒷바로, 좌우 스피커 파트와 가운데 유닛으로 나뉩니다. 가운데 유닛에는 예비 건반 보관함, 라즈베리파이와 앰프가 들어가는 제어부 칸, 보조배터리 칸이 있습니다. 전체는 1254 곱하기 410밀리이고, 옥타브 모듈 하나는 약 1.37킬로그램입니다. 각 모듈의 제어 기판은 모듈 바닥 구멍으로 밑에서 넣습니다. 파트 사이는 커넥터로만 연결됩니다.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건반 구조는 W1이라고 부르는 현재 설계이고, 9월 29일 r4.5에서 45가지 검사를 모두 통과했습니다. 건반은 지름 4밀리 스테인리스 봉 위에서 시소처럼 돌고, 건반 꼬리의 캡스턴 나사가 강철 추가 달린 무게 레버를 들어 올립니다. 그랜드나 디지털 피아노가 해머를 드는 것과 같은 원리라서 누를 때 무게감이 납니다. 강철 추는 레버 캐리어에 MS 폴리머 탄성 접착제로 붙입니다. 손을 떼면 레버의 무게와 미스미 기성품 비틀림 스프링이 건반을 되돌립니다. 누르는 힘은 약 52그램, 같은 건반을 1초에 16번 정도 칠 수 있고, 건반은 스냅 노치로 끼워져 있어 도구 없이 뺄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누르고 소리가 나기까지의 과정입니다. 건반이 시소처럼 내려가면서 밑면 자석이 홀센서 쪽으로 다가가고, 각 모듈의 RP2040-Zero가 16채널 MUX로 12개 센서를 건반마다 초당 약 6천 번 읽습니다. 건반 위치가 40%에서 90%를 지나는 시간이 짧을수록 세게 친 것으로 계산하고, 90%에서 Note On, 35% 아래로 올라오면 Note Off를 보냅니다. 끝까지 떼지 않아도 50%까지 올라오면 다시 칠 수 있습니다. 무게 레버가 튀어서 생기는 가짜 재타건은 펌웨어가 걸러냅니다. 앞 음을 치고 250밀리초 안에 건반이 절반까지 올라오면 튄 것으로 의심하고, 500밀리초 안에 앞 음 속도의 4분의 1보다 느리게 다시 눌리면 버립니다. 이 신호가 USB-MIDI로 라즈베리파이에 가서 피아노 소리가 되고, 2단계에서는 같은 신호를 리듬게임이 입력으로 씁니다. 지연 목표는 10밀리초 미만입니다.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W1 설계의 전자부 회로입니다. W1은 센서 기판과 제어 기판 같은 전자부를 이전 설계에서 그대로 가져온다고만 적어 두었는데, 이것을 W1 r4.5(9월 29일, 개정 B)의 좌표와 자석 위치, 기판 외곽에 맞춰 부품 번호와 핀 번호, 넷 이름, 값까지 적은 실제 회로도로 만들었습니다. 회로도 7장과 기판 배치도 2장, 모두 9장이고, 보드는 센서 기판과 제어 기판이 옥타브 모듈마다 한 장씩 각 7장, 양 끝 부속 기판 2장, 페달 보드와 페달 안 센서, 그리고 제어부의 전원과 오디오 배선입니다. 부품표는 KiCad 심볼과 풋프린트까지 107줄이고, 그린 선으로 연결을 다시 계산해 의도한 넷리스트와 대조한 결과 연결 오류는 0입니다. 파트 사이는 모두 꽂았다 빼는 커넥터로 연결됩니다.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옥타브 모듈 하나의 전자부입니다. 위는 센서 기판으로, 건반 12개 밑에 홀센서 DRV5055가 한 줄로 눕혀 놓여 있고, 센서마다 100나노패럿 콘덴서, 전원 버스 양 끝에 10마이크로패럿 콘덴서가 있습니다. 센서 출력 12개와 전원은 16심 리본 케이블로 아래 제어 기판에 갑니다. 제어 기판에서는 16채널 MUX가 센서를 하나씩 골라 RP2040-Zero의 ADC 하나로 읽습니다. ID 점퍼 3개를 어떻게 납땜하느냐에 따라 같은 기판이 O1부터 O7까지 다른 USB 이름을 갖습니다. 끝 부속을 빼도 유령 음이 나지 않도록 풀다운 저항을 달았습니다. W1 설계에서 백건의 자석과 센서 사이 간격은 쉴 때 약 11밀리, 끝까지 누르면 약 5.6밀리이고, 이때 센서 출력은 약 4에서 22밀리테슬라입니다. 흑건은 약 2에서 25밀리테슬라, 가장 가까울 때도 31밀리테슬라라서 A2 등급 센서의 선형 범위 ±44밀리테슬라 안에 들어갑니다. 그래서 센서 등급은 A2 그대로 씁니다.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제어부의 전원과 오디오 회로입니다. 전원은 USB-C 하나로 받습니다. PD 트리거가 20볼트를 받아 퓨즈와 스위치를 지나 앰프에 바로 들어가고, 강압 모듈이 5.1볼트를 만들어 라즈베리파이와 허브에 줍니다. 평균 소비전력은 13에서 17와트, 최저음을 세게 칠 때 순간 최대 약 50와트입니다. 회로 검토에서 PD 트리거가 20볼트에 3.25암페어를 요구할 수 있다는 점이 나왔습니다. 전원이 그만큼 주지 못하면 15볼트나 12볼트, 최악에는 5볼트로 내려가기 때문에, 20볼트 3.25암페어 전원을 한 포트로 쓰고 실제 케이블로 20볼트가 나오는지 먼저 잽니다. 오디오는 USB 동글에서 헤드폰 잭을 거쳐 앰프로 가는데, 헤드폰을 꽂으면 잭의 접점이 떨어져 스피커가 자동으로 꺼집니다. 저음 차단 필터와 소프트웨어 음량 상한으로 작은 스피커를 보호합니다.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기판 배치와 회로 검토 결과입니다. 제어 기판은 5 곱하기 7센티 만능기판에 모든 구멍을 RP2040-Zero 핀 격자에 맞춰 배치했고, W1 건반 기구의 홈과 금지 구역을 피했습니다. 9월 29일 개정 B에서는 W1 r4.5에 맞춰 제어 기판을 모듈 바닥 구멍으로 밑에서 넣고, 위에 매단 보스에 M3×6 버튼헤드 나사 2개와 위치 핀 2개로 고정합니다. 리본과 끝 부속 선은 넣기 전에 아랫면에 납땜합니다. 센서 기판은 길이 161.6밀리의 띠 기판이고, 오른쪽 턱 기둥과 0.4밀리 띄웁니다. 끝 부속 기판은 센서 바 안에 들어가게 줄이고 1킬로옴 저항을 아랫면 칩으로 바꿨습니다. 전기 설계 검토로 바뀐 점은 페달 잭 단락, 끝 부속을 뺐을 때의 유령 음, PD 전원 조건, 강압 모듈의 출고 전압, 접지 험이고, RP2040-Zero는 핀 헤더로 세워 답니다. 이 때문에 10마이크로패럿 칩 콘덴서, 끝 부속용 1킬로옴 칩 저항, 핀 헤더 4줄을 구매 목록에 넣었고, 부품이 도착하면 전압과 접점부터 먼저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2단계 리듬게임의 화면입니다. 다른 리듬게임처럼 위에서 노트가 내려오고, 판정선에 닿을 때 해당 건반을 누릅니다. 처음 구상대로 흑건도 하나의 키로 쓰는데, 세 가지로 구분합니다. 흑건 노트는 흰 건반 판정선보다 위쪽의 흑현이라는 판정선에서 치고, 모양은 좁은 흑요석 육각 결정이며, 위치는 두 흰 레인의 경계 위에 놓입니다. 실제 피아노를 위에서 보면 흑건이 안쪽, 즉 위쪽에 있는 것과 같습니다. 흰 건반 노트는 넓은 상아 막대이고, 홀드 노트는 빛나는 실 꼬리가 달려 있으며, 세게 쳐야 하는 노트는 주홍, 여리게 쳐야 하는 노트는 하늘색입니다. 88레인은 한 번에 다 펴지 않고, 곡을 따라 움직이는 음역 창으로 보여 줍니다.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노트와 기믹입니다. 기본 노트는 탭, 화음, 연타, 트릴, 아르페지오입니다. 처음 구상의 핵심인 계속 누르기는 기본 홀드 외에 끝에서 정확히 놓는 매듭 홀드, 누른 만큼 차오르는 모으기 홀드, 앞 건반을 떼기 전에 다음 건반을 누르는 레가토 사슬, 누르지 않고 기다리는 쉼표 노트로 넓혔습니다. 누르는 세기는 여리게, 보통, 세게 세 구간으로 나누고, 세게 쳐야 깨지는 깨기 노트, 살며시 쳐야 하는 유리 노트, 점점 세게 치는 크레셴도 사슬 같은 기믹을 둡니다. 판정은 PERFECT, GREAT, GOOD 세 단계이고, 점수 100만 점 중 10%가 세기 같은 표현 점수입니다. 피아노 펌웨어가 건반이 튀어 생긴 가짜 입력을 거르기 때문에, 채보도 같은 건반을 곧바로 다시 칠 때는 세기 요구를 두지 않는 규칙을 둡니다. 세부 수치는 하드웨어가 확정된 뒤 실측으로 정합니다.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센서 쪽 부품은 네 가지입니다. TI의 DRV5055 선형 홀센서가 자기장의 세기를 전압으로 바꾸고, 건반마다 밑면에 지름 5밀리 네오디뮴 자석을 하나씩 붙입니다. 각 모듈의 RP2040-Zero가 16채널 멀티플렉서로 센서 12개를 ADC 하나로 차례로 읽습니다. 홀센서는 접촉이 없어 마모되지 않고, 빛이나 색에 영향을 받지 않으며, 위치를 연속으로 재서 세기를 계산할 수 있습니다. 이 세기 값은 리듬게임의 세기 기믹에도 그대로 쓰입니다.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W1 건반 액션에 들어가는 부품입니다. 강철 평철을 40밀리씩 잘라 무게 레버의 추 90개를 만들고, 레버 캐리어에 MS 폴리머 접착제로 붙입니다. 지름 4밀리 스테인리스 봉을 잘라 건반 봉과 레버 봉으로 쓰고, 캡스턴 나사로 레버를 들어 올리며 높이를 맞춥니다. 레버를 되돌리는 보조 스프링은 직접 감지 않고 미스미 기성품 토션 스프링 100개를 사서 다리를 22.3밀리와 8밀리로 잘라 씁니다. 업스톱 패드에는 포론 폼, 앞 펠트 밑에는 저반발 완충재를 깝니다.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제어, 소리, 전원 쪽 주요 부품입니다. 라즈베리파이 5가 피아노 음원과 리듬게임을 함께 돌리고, USB 허브로 모듈 7개와 페달을 연결합니다. 소리는 애플 USB-C 동글이 DAC 역할을 하고, TPA3110 앰프 보드가 4인치 스피커 2개를 구동합니다. 전원은 PD 트리거로 USB-C에서 20볼트를 받고 강압 모듈로 5.1볼트를 만듭니다. 페달은 스위치형 서스테인 페달을 홀센서로 개조합니다. 게임 화면용으로는 Micro HDMI 케이블 하나만 더 사면 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비용입니다. 재료 목록에서 이미 가진 부품 39가지를 빼고 예비 없이 필요한 수량만 남기니, 실제로 살 부품은 68가지 약 60만원입니다. 건반 액션의 강철 추·스프링·봉·펠트가 약 16만원, 홀센서 100개와 RP2040-Zero가 있는 센서·MCU가 약 15만원, 라즈베리파이 5가 있는 제어·전원이 약 13만원입니다. 판매처 17곳의 배송비 약 5만 4천원을 더해 전체 구매비는 약 65만 4천원이고, 판매처는 배송비가 가장 적게 나오도록 골랐습니다. 3D 프린터는 별도이며, 지원비와 사비로 제작할 예정입니다.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제작 계획입니다. 이번 학기 안에 끝내야 해서 9월부터 12월까지 16주로 짰습니다. 9월에는 건반과 본체 설계, 회로도, 게임 기획을 마쳤고, 이번 주에 단계 0 시편 34개의 출력 파일과 실제로 살 부품 68가지 목록까지 확정했습니다. 이번 주에 프린터를 정하고, 부품은 10월 5일 대체공휴일과 9일 한글날로 택배가 멈추기 전인 9월 30일에 주문합니다. 라즈베리파이 5는 판매처에 납기가 8주 이상으로 적혀 있어 주문할 때 납기를 확인합니다. 이어서 10월 18일까지 건반, 레버, 프레임 같은 본 부품의 출력 파일을 만듭니다. 10월 중순부터 시편으로 단계 0 재료 시험을 해서 패드 반발, 스냅 노치, 스프링, 강철 접착 등 21가지를 확인하고, 옥타브 모듈 하나를 먼저 만들어 11월 첫 주에 PC로 첫 소리를 냅니다. 21가지 중 9가지는 이 첫 모듈로 확인합니다. 출력은 시험 결과와 상관없는 본체와 스피커 부품을 10월 말에 먼저 뽑고, 건반 모듈은 시험 결과를 반영해 11월부터 뽑습니다. 합계 약 380시간이라 프린터 한 대를 하루 11~13시간 돌리는 기준입니다. 12월 둘째 주까지 모듈 조립과 제어부, 오디오, 88건반 통합을 마칩니다. 리듬게임은 하드웨어를 기다리지 않고 10월부터 PC에서 입력과 판정을 먼저 만들고, 곡과 화면 같은 콘텐츠도 10월 말부터 PC에서 준비합니다. 첫 모듈이 나오면 실제 건반으로 연동합니다. 이번 학기 목표는 서장과 1장, 곡 3~4개의 발표용 버전이고, 88레인 전체와 채보 도구는 다음 단계입니다. 12월 셋째 주에 88건반 연주와 게임을 함께 시연합니다. 출력이나 부품이 늦어지면 예비 건반 출력은 발표 뒤로 미루고, 게임은 1옥타브 모듈로 먼저 시연합니다. 라즈베리파이 5가 늦게 오면 게임은 PC에서 시연합니다.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정리하면, Toccata는 시소 건반과 무게 레버, 홀센서, 라즈베리파이 음원으로 만드는 휴대용 88건반 디지털 피아노이고, 그 피아노를 그대로 컨트롤러로 쓰는 리듬게임까지 만드는 프로젝트입니다. 다음 단계는 단계 0 재료 시험이고, 시편 34개의 출력 파일은 준비됐습니다. 1옥타브 시제품과 88건반 완성으로 이어지고, 리듬게임은 PC에서 함께 만들어 1옥타브 시제품부터 연결합니다. 뒤에 실제로 살 부품 목록을 붙였습니다. 들어 주셔서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마지막으로 실제로 살 부품 목록입니다. 재료 목록에서 이미 가진 것과 설계에서 쓰지 않는 것을 빼고, 예비 없이 필요한 수량으로 맞춘 최종 구매 목록입니다. 핵심인 라즈베리파이 5가 있는 제어·전원을 맨 앞에 두었고, RP2040-Zero와 홀센서, MUX가 있는 센서·MCU, 건반 액션, 오디오, 본체 순서입니다. 부품은 68가지 약 60만원이고, 판매처별 배송비 약 5만 4천원을 더해 전체 약 65만 4천원입니다. 판매처는 배송비가 가장 적게 나오도록 골랐습니다.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BAQskCuPaeY"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17.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8.jpg"/><Relationship Id="rId7" Type="http://schemas.openxmlformats.org/officeDocument/2006/relationships/image" Target="../media/image22.jp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jpg"/></Relationships>
</file>

<file path=ppt/slides/_rels/slide18.xml.rels><?xml version="1.0" encoding="UTF-8" standalone="yes"?>
<Relationships xmlns="http://schemas.openxmlformats.org/package/2006/relationships"><Relationship Id="rId8" Type="http://schemas.openxmlformats.org/officeDocument/2006/relationships/image" Target="../media/image29.jpg"/><Relationship Id="rId3" Type="http://schemas.openxmlformats.org/officeDocument/2006/relationships/image" Target="../media/image24.jpg"/><Relationship Id="rId7" Type="http://schemas.openxmlformats.org/officeDocument/2006/relationships/image" Target="../media/image28.jp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7.jpg"/><Relationship Id="rId5" Type="http://schemas.openxmlformats.org/officeDocument/2006/relationships/image" Target="../media/image26.jpg"/><Relationship Id="rId10" Type="http://schemas.openxmlformats.org/officeDocument/2006/relationships/image" Target="../media/image31.jpg"/><Relationship Id="rId4" Type="http://schemas.openxmlformats.org/officeDocument/2006/relationships/image" Target="../media/image25.jpg"/><Relationship Id="rId9" Type="http://schemas.openxmlformats.org/officeDocument/2006/relationships/image" Target="../media/image30.jpg"/></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 Id="rIdH2_0" Type="http://schemas.openxmlformats.org/officeDocument/2006/relationships/hyperlink" Target="https://www.icbanq.com/P016286897" TargetMode="External"/><Relationship Id="rIdH2_1" Type="http://schemas.openxmlformats.org/officeDocument/2006/relationships/hyperlink" Target="https://www.icbanq.com/P017179277" TargetMode="External"/><Relationship Id="rIdH2_2" Type="http://schemas.openxmlformats.org/officeDocument/2006/relationships/hyperlink" Target="https://www.eleparts.co.kr/goods/view?no=32569" TargetMode="External"/><Relationship Id="rIdH2_3" Type="http://schemas.openxmlformats.org/officeDocument/2006/relationships/hyperlink" Target="https://www.eleparts.co.kr/goods/view?no=3237821" TargetMode="External"/><Relationship Id="rIdH2_4" Type="http://schemas.openxmlformats.org/officeDocument/2006/relationships/hyperlink" Target="https://www.eleparts.co.kr/goods/view?no=12766820" TargetMode="External"/><Relationship Id="rIdH2_5" Type="http://schemas.openxmlformats.org/officeDocument/2006/relationships/hyperlink" Target="https://www.eleparts.co.kr/goods/view?no=17806172" TargetMode="External"/><Relationship Id="rIdH2_6" Type="http://schemas.openxmlformats.org/officeDocument/2006/relationships/hyperlink" Target="https://parts-parts.co.kr/product/detail.html?product_no=2383" TargetMode="External"/><Relationship Id="rIdH2_7" Type="http://schemas.openxmlformats.org/officeDocument/2006/relationships/hyperlink" Target="https://www.icbanq.com/P018076669" TargetMode="External"/><Relationship Id="rIdH2_8" Type="http://schemas.openxmlformats.org/officeDocument/2006/relationships/hyperlink" Target="https://dgmagnet.com/product/%EC%B4%88%EA%B0%95%EB%A0%A5-%EB%84%A4%EC%98%A4%EB%94%94%EC%9B%80-%EC%9B%90%ED%98%95%EC%9E%90%EC%84%9D-5mm/13/" TargetMode="External"/><Relationship Id="rIdH2_9" Type="http://schemas.openxmlformats.org/officeDocument/2006/relationships/hyperlink" Target="https://parts-parts.co.kr/product/detail.html?product_no=303" TargetMode="External"/><Relationship Id="rIdH2_10" Type="http://schemas.openxmlformats.org/officeDocument/2006/relationships/hyperlink" Target="https://www.mechasolution.com/goods/goods_view.php?goodsNo=329798" TargetMode="External"/><Relationship Id="rIdH2_11" Type="http://schemas.openxmlformats.org/officeDocument/2006/relationships/hyperlink" Target="https://www.eleparts.co.kr/goods/view?no=425" TargetMode="External"/><Relationship Id="rIdH2_12" Type="http://schemas.openxmlformats.org/officeDocument/2006/relationships/hyperlink" Target="https://www.eleparts.co.kr/goods/view?no=425" TargetMode="External"/><Relationship Id="rIdH2_13" Type="http://schemas.openxmlformats.org/officeDocument/2006/relationships/hyperlink" Target="https://www.icbanq.com/P005666127" TargetMode="External"/><Relationship Id="rIdH2_14" Type="http://schemas.openxmlformats.org/officeDocument/2006/relationships/hyperlink" Target="https://www.icbanq.com/P014968846" TargetMode="External"/><Relationship Id="rIdH2_15" Type="http://schemas.openxmlformats.org/officeDocument/2006/relationships/hyperlink" Target="https://www.icbanq.com/P001248090" TargetMode="External"/><Relationship Id="rIdH2_16" Type="http://schemas.openxmlformats.org/officeDocument/2006/relationships/hyperlink" Target="https://www.icbanq.com/P011433924" TargetMode="External"/><Relationship Id="rIdH2_17" Type="http://schemas.openxmlformats.org/officeDocument/2006/relationships/hyperlink" Target="https://www.eleparts.co.kr/goods/view?no=10911" TargetMode="External"/><Relationship Id="rIdH2_18" Type="http://schemas.openxmlformats.org/officeDocument/2006/relationships/hyperlink" Target="https://www.eleparts.co.kr/goods/view?no=10993"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 Id="rIdH3_0" Type="http://schemas.openxmlformats.org/officeDocument/2006/relationships/hyperlink" Target="https://www.eleparts.co.kr/goods/view?no=10873" TargetMode="External"/><Relationship Id="rIdH3_1" Type="http://schemas.openxmlformats.org/officeDocument/2006/relationships/hyperlink" Target="https://www.rcbank.co.kr/shop/goods/goods_view.php?goodsno=29812" TargetMode="External"/><Relationship Id="rIdH3_2" Type="http://schemas.openxmlformats.org/officeDocument/2006/relationships/hyperlink" Target="https://www.allsteelshop.com/product/squareplate/9t" TargetMode="External"/><Relationship Id="rIdH3_3" Type="http://schemas.openxmlformats.org/officeDocument/2006/relationships/hyperlink" Target="https://kr.misumi-ec.com/vona2/detail/110310556289/?HissuCode=C-UA90R5-3-0.5" TargetMode="External"/><Relationship Id="rIdH3_4" Type="http://schemas.openxmlformats.org/officeDocument/2006/relationships/hyperlink" Target="https://www.11st.co.kr/products/1304631510" TargetMode="External"/><Relationship Id="rIdH3_5" Type="http://schemas.openxmlformats.org/officeDocument/2006/relationships/hyperlink" Target="https://www.11st.co.kr/products/1304631510" TargetMode="External"/><Relationship Id="rIdH3_6" Type="http://schemas.openxmlformats.org/officeDocument/2006/relationships/hyperlink" Target="https://www.icbanq.com/P015973844" TargetMode="External"/><Relationship Id="rIdH3_7" Type="http://schemas.openxmlformats.org/officeDocument/2006/relationships/hyperlink" Target="https://www.icbanq.com/P015976209" TargetMode="External"/><Relationship Id="rIdH3_8" Type="http://schemas.openxmlformats.org/officeDocument/2006/relationships/hyperlink" Target="https://www.nasakorea.com/goods/goods_view.php?goodsNo=6009" TargetMode="External"/><Relationship Id="rIdH3_9" Type="http://schemas.openxmlformats.org/officeDocument/2006/relationships/hyperlink" Target="https://www.11st.co.kr/products/7459325704" TargetMode="External"/><Relationship Id="rIdH3_10" Type="http://schemas.openxmlformats.org/officeDocument/2006/relationships/hyperlink" Target="https://studiobunt.com/product/detail.html?product_no=4117" TargetMode="External"/><Relationship Id="rIdH3_11" Type="http://schemas.openxmlformats.org/officeDocument/2006/relationships/hyperlink" Target="https://studiobunt.com/product/detail.html?product_no=1157" TargetMode="External"/><Relationship Id="rIdH3_12" Type="http://schemas.openxmlformats.org/officeDocument/2006/relationships/hyperlink" Target="https://www.navimro.com/g/1028764/" TargetMode="External"/><Relationship Id="rIdH3_13" Type="http://schemas.openxmlformats.org/officeDocument/2006/relationships/hyperlink" Target="https://www.navimro.com/g/1029233/" TargetMode="External"/><Relationship Id="rIdH3_14" Type="http://schemas.openxmlformats.org/officeDocument/2006/relationships/hyperlink" Target="https://www.11st.co.kr/products/8517880969" TargetMode="External"/><Relationship Id="rIdH3_15" Type="http://schemas.openxmlformats.org/officeDocument/2006/relationships/hyperlink" Target="https://www.11st.co.kr/products/9579455646" TargetMode="External"/><Relationship Id="rIdH3_16" Type="http://schemas.openxmlformats.org/officeDocument/2006/relationships/hyperlink" Target="https://www.navimro.com/g/37021/" TargetMode="External"/><Relationship Id="rIdH3_17" Type="http://schemas.openxmlformats.org/officeDocument/2006/relationships/hyperlink" Target="https://www.11st.co.kr/products/1333385437"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 Id="rIdH4_0" Type="http://schemas.openxmlformats.org/officeDocument/2006/relationships/hyperlink" Target="https://www.11st.co.kr/products/1565354988" TargetMode="External"/><Relationship Id="rIdH4_1" Type="http://schemas.openxmlformats.org/officeDocument/2006/relationships/hyperlink" Target="https://www.apple.com/kr/shop/product/mw2q3kh/a" TargetMode="External"/><Relationship Id="rIdH4_2" Type="http://schemas.openxmlformats.org/officeDocument/2006/relationships/hyperlink" Target="https://www.eleparts.co.kr/goods/view?no=67811" TargetMode="External"/><Relationship Id="rIdH4_3" Type="http://schemas.openxmlformats.org/officeDocument/2006/relationships/hyperlink" Target="https://www.icbanq.com/P014159115" TargetMode="External"/><Relationship Id="rIdH4_4" Type="http://schemas.openxmlformats.org/officeDocument/2006/relationships/hyperlink" Target="https://www.eleparts.co.kr/goods/view?no=12779720" TargetMode="External"/><Relationship Id="rIdH4_5" Type="http://schemas.openxmlformats.org/officeDocument/2006/relationships/hyperlink" Target="https://www.eleparts.co.kr/goods/view?no=12779721" TargetMode="External"/><Relationship Id="rIdH4_6" Type="http://schemas.openxmlformats.org/officeDocument/2006/relationships/hyperlink" Target="https://www.eleparts.co.kr/goods/view?no=18388615" TargetMode="External"/><Relationship Id="rIdH4_7" Type="http://schemas.openxmlformats.org/officeDocument/2006/relationships/hyperlink" Target="https://www.eleparts.co.kr/goods/view?no=2925673" TargetMode="External"/><Relationship Id="rIdH4_8" Type="http://schemas.openxmlformats.org/officeDocument/2006/relationships/hyperlink" Target="https://www.11st.co.kr/products/2325598213" TargetMode="External"/><Relationship Id="rIdH4_9" Type="http://schemas.openxmlformats.org/officeDocument/2006/relationships/hyperlink" Target="https://namugongjang.com/product/detail.html?product_no=1378" TargetMode="External"/><Relationship Id="rIdH4_10" Type="http://schemas.openxmlformats.org/officeDocument/2006/relationships/hyperlink" Target="https://namugongjang.com/product/detail.html?product_no=1378" TargetMode="External"/><Relationship Id="rIdH4_11" Type="http://schemas.openxmlformats.org/officeDocument/2006/relationships/hyperlink" Target="https://www.metaldiy.com/item/itemView.do?itemId=8806379117286" TargetMode="External"/><Relationship Id="rIdH4_12" Type="http://schemas.openxmlformats.org/officeDocument/2006/relationships/hyperlink" Target="https://dgmagnet.com/product/detail.html?product_no=17" TargetMode="External"/><Relationship Id="rIdH4_13" Type="http://schemas.openxmlformats.org/officeDocument/2006/relationships/hyperlink" Target="https://www.rcbank.co.kr/shop/goods/goods_view.php?goodsno=67110" TargetMode="External"/><Relationship Id="rIdH4_14" Type="http://schemas.openxmlformats.org/officeDocument/2006/relationships/hyperlink" Target="https://www.eleparts.co.kr/goods/view?no=16628292" TargetMode="External"/><Relationship Id="rIdH4_15" Type="http://schemas.openxmlformats.org/officeDocument/2006/relationships/hyperlink" Target="https://www.11st.co.kr/products/7591566666" TargetMode="External"/><Relationship Id="rIdH4_16" Type="http://schemas.openxmlformats.org/officeDocument/2006/relationships/hyperlink" Target="https://www.navimro.com/g/395062/" TargetMode="External"/><Relationship Id="rIdH4_17" Type="http://schemas.openxmlformats.org/officeDocument/2006/relationships/hyperlink" Target="https://www.icbanq.com/P015309984" TargetMode="External"/><Relationship Id="rIdH4_18" Type="http://schemas.openxmlformats.org/officeDocument/2006/relationships/hyperlink" Target="https://www.11st.co.kr/products/4236198413"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 Id="rIdH5_0" Type="http://schemas.openxmlformats.org/officeDocument/2006/relationships/hyperlink" Target="https://www.11st.co.kr/products/4236198413" TargetMode="External"/><Relationship Id="rIdH5_1" Type="http://schemas.openxmlformats.org/officeDocument/2006/relationships/hyperlink" Target="https://www.11st.co.kr/products/4236198413" TargetMode="External"/><Relationship Id="rIdH5_2" Type="http://schemas.openxmlformats.org/officeDocument/2006/relationships/hyperlink" Target="https://www.11st.co.kr/products/4236198413" TargetMode="External"/><Relationship Id="rIdH5_3" Type="http://schemas.openxmlformats.org/officeDocument/2006/relationships/hyperlink" Target="https://www.11st.co.kr/products/4353471537" TargetMode="External"/><Relationship Id="rIdH5_4" Type="http://schemas.openxmlformats.org/officeDocument/2006/relationships/hyperlink" Target="https://www.11st.co.kr/products/4353471537" TargetMode="External"/><Relationship Id="rIdH5_5" Type="http://schemas.openxmlformats.org/officeDocument/2006/relationships/hyperlink" Target="https://www.11st.co.kr/products/4353471537" TargetMode="External"/><Relationship Id="rIdH5_6" Type="http://schemas.openxmlformats.org/officeDocument/2006/relationships/hyperlink" Target="https://www.11st.co.kr/products/4353471537" TargetMode="External"/><Relationship Id="rIdH5_7" Type="http://schemas.openxmlformats.org/officeDocument/2006/relationships/hyperlink" Target="https://www.eleparts.co.kr/goods/view?no=8170311" TargetMode="External"/><Relationship Id="rIdH5_8" Type="http://schemas.openxmlformats.org/officeDocument/2006/relationships/hyperlink" Target="https://www.icbanq.com/P004711396" TargetMode="External"/><Relationship Id="rIdH5_9" Type="http://schemas.openxmlformats.org/officeDocument/2006/relationships/hyperlink" Target="https://www.navimro.com/g/171100/" TargetMode="External"/><Relationship Id="rIdH5_10" Type="http://schemas.openxmlformats.org/officeDocument/2006/relationships/hyperlink" Target="https://www.fluidsynth.org/" TargetMode="External"/><Relationship Id="rIdH5_11" Type="http://schemas.openxmlformats.org/officeDocument/2006/relationships/hyperlink" Target="https://freepats.zenvoid.org/Piano/acoustic-grand-piano.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317"/>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5486400" cy="274320"/>
          </a:xfrm>
          <a:prstGeom prst="rect">
            <a:avLst/>
          </a:prstGeom>
          <a:noFill/>
          <a:ln/>
        </p:spPr>
        <p:txBody>
          <a:bodyPr wrap="square" lIns="0" tIns="0" rIns="0" bIns="0" rtlCol="0" anchor="t"/>
          <a:lstStyle/>
          <a:p>
            <a:pPr marL="0" indent="0">
              <a:buNone/>
            </a:pPr>
            <a:r>
              <a:rPr lang="en-US" sz="1200" dirty="0">
                <a:solidFill>
                  <a:srgbClr val="B9BEC7"/>
                </a:solidFill>
                <a:latin typeface="Apple SD Gothic Neo" pitchFamily="34" charset="0"/>
                <a:ea typeface="Apple SD Gothic Neo" pitchFamily="34" charset="-122"/>
                <a:cs typeface="Apple SD Gothic Neo" pitchFamily="34" charset="-120"/>
              </a:rPr>
              <a:t>20265010  고원규</a:t>
            </a:r>
            <a:endParaRPr lang="en-US" sz="1200" dirty="0"/>
          </a:p>
        </p:txBody>
      </p:sp>
      <p:sp>
        <p:nvSpPr>
          <p:cNvPr id="3" name="Text 1"/>
          <p:cNvSpPr txBox="1"/>
          <p:nvPr/>
        </p:nvSpPr>
        <p:spPr>
          <a:xfrm>
            <a:off x="548640" y="1051560"/>
            <a:ext cx="9144000" cy="1188720"/>
          </a:xfrm>
          <a:prstGeom prst="rect">
            <a:avLst/>
          </a:prstGeom>
          <a:noFill/>
          <a:ln/>
        </p:spPr>
        <p:txBody>
          <a:bodyPr wrap="square" lIns="0" tIns="0" rIns="0" bIns="0" rtlCol="0" anchor="ctr"/>
          <a:lstStyle/>
          <a:p>
            <a:pPr marL="0" indent="0">
              <a:buNone/>
            </a:pPr>
            <a:r>
              <a:rPr lang="en-US" sz="7200" b="1" dirty="0">
                <a:solidFill>
                  <a:srgbClr val="FFFFFF"/>
                </a:solidFill>
                <a:latin typeface="Apple SD Gothic Neo" pitchFamily="34" charset="0"/>
                <a:ea typeface="Apple SD Gothic Neo" pitchFamily="34" charset="-122"/>
                <a:cs typeface="Apple SD Gothic Neo" pitchFamily="34" charset="-120"/>
              </a:rPr>
              <a:t>Toccata</a:t>
            </a:r>
            <a:endParaRPr lang="en-US" sz="7200" dirty="0"/>
          </a:p>
        </p:txBody>
      </p:sp>
      <p:sp>
        <p:nvSpPr>
          <p:cNvPr id="4" name="Text 2"/>
          <p:cNvSpPr txBox="1"/>
          <p:nvPr/>
        </p:nvSpPr>
        <p:spPr>
          <a:xfrm>
            <a:off x="548640" y="2331720"/>
            <a:ext cx="10972800" cy="548640"/>
          </a:xfrm>
          <a:prstGeom prst="rect">
            <a:avLst/>
          </a:prstGeom>
          <a:noFill/>
          <a:ln/>
        </p:spPr>
        <p:txBody>
          <a:bodyPr wrap="square" lIns="0" tIns="0" rIns="0" bIns="0" rtlCol="0" anchor="t"/>
          <a:lstStyle/>
          <a:p>
            <a:pPr marL="0" indent="0">
              <a:buNone/>
            </a:pPr>
            <a:r>
              <a:rPr lang="en-US" sz="2000" dirty="0">
                <a:solidFill>
                  <a:srgbClr val="B9BEC7"/>
                </a:solidFill>
                <a:latin typeface="Apple SD Gothic Neo" pitchFamily="34" charset="0"/>
                <a:ea typeface="Apple SD Gothic Neo" pitchFamily="34" charset="-122"/>
                <a:cs typeface="Apple SD Gothic Neo" pitchFamily="34" charset="-120"/>
              </a:rPr>
              <a:t>휴대용 88건반 디지털 피아노</a:t>
            </a:r>
            <a:endParaRPr lang="en-US" sz="2000" dirty="0"/>
          </a:p>
        </p:txBody>
      </p:sp>
      <p:sp>
        <p:nvSpPr>
          <p:cNvPr id="5" name="Shape 3"/>
          <p:cNvSpPr/>
          <p:nvPr/>
        </p:nvSpPr>
        <p:spPr>
          <a:xfrm>
            <a:off x="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6" name="Shape 4"/>
          <p:cNvSpPr/>
          <p:nvPr/>
        </p:nvSpPr>
        <p:spPr>
          <a:xfrm>
            <a:off x="4354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7" name="Shape 5"/>
          <p:cNvSpPr/>
          <p:nvPr/>
        </p:nvSpPr>
        <p:spPr>
          <a:xfrm>
            <a:off x="87083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8" name="Shape 6"/>
          <p:cNvSpPr/>
          <p:nvPr/>
        </p:nvSpPr>
        <p:spPr>
          <a:xfrm>
            <a:off x="130625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9" name="Shape 7"/>
          <p:cNvSpPr/>
          <p:nvPr/>
        </p:nvSpPr>
        <p:spPr>
          <a:xfrm>
            <a:off x="17416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0" name="Shape 8"/>
          <p:cNvSpPr/>
          <p:nvPr/>
        </p:nvSpPr>
        <p:spPr>
          <a:xfrm>
            <a:off x="217708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1" name="Shape 9"/>
          <p:cNvSpPr/>
          <p:nvPr/>
        </p:nvSpPr>
        <p:spPr>
          <a:xfrm>
            <a:off x="261250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2" name="Shape 10"/>
          <p:cNvSpPr/>
          <p:nvPr/>
        </p:nvSpPr>
        <p:spPr>
          <a:xfrm>
            <a:off x="30479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3" name="Shape 11"/>
          <p:cNvSpPr/>
          <p:nvPr/>
        </p:nvSpPr>
        <p:spPr>
          <a:xfrm>
            <a:off x="348334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4" name="Shape 12"/>
          <p:cNvSpPr/>
          <p:nvPr/>
        </p:nvSpPr>
        <p:spPr>
          <a:xfrm>
            <a:off x="3918759"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15" name="Shape 13"/>
          <p:cNvSpPr/>
          <p:nvPr/>
        </p:nvSpPr>
        <p:spPr>
          <a:xfrm>
            <a:off x="435417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6" name="Shape 14"/>
          <p:cNvSpPr/>
          <p:nvPr/>
        </p:nvSpPr>
        <p:spPr>
          <a:xfrm>
            <a:off x="478959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7" name="Shape 15"/>
          <p:cNvSpPr/>
          <p:nvPr/>
        </p:nvSpPr>
        <p:spPr>
          <a:xfrm>
            <a:off x="522501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8" name="Shape 16"/>
          <p:cNvSpPr/>
          <p:nvPr/>
        </p:nvSpPr>
        <p:spPr>
          <a:xfrm>
            <a:off x="566043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9" name="Shape 17"/>
          <p:cNvSpPr/>
          <p:nvPr/>
        </p:nvSpPr>
        <p:spPr>
          <a:xfrm>
            <a:off x="609584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0" name="Shape 18"/>
          <p:cNvSpPr/>
          <p:nvPr/>
        </p:nvSpPr>
        <p:spPr>
          <a:xfrm>
            <a:off x="653126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1" name="Shape 19"/>
          <p:cNvSpPr/>
          <p:nvPr/>
        </p:nvSpPr>
        <p:spPr>
          <a:xfrm>
            <a:off x="696668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2" name="Shape 20"/>
          <p:cNvSpPr/>
          <p:nvPr/>
        </p:nvSpPr>
        <p:spPr>
          <a:xfrm>
            <a:off x="740210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3" name="Shape 21"/>
          <p:cNvSpPr/>
          <p:nvPr/>
        </p:nvSpPr>
        <p:spPr>
          <a:xfrm>
            <a:off x="78375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4" name="Shape 22"/>
          <p:cNvSpPr/>
          <p:nvPr/>
        </p:nvSpPr>
        <p:spPr>
          <a:xfrm>
            <a:off x="827293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5" name="Shape 23"/>
          <p:cNvSpPr/>
          <p:nvPr/>
        </p:nvSpPr>
        <p:spPr>
          <a:xfrm>
            <a:off x="870835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6" name="Shape 24"/>
          <p:cNvSpPr/>
          <p:nvPr/>
        </p:nvSpPr>
        <p:spPr>
          <a:xfrm>
            <a:off x="91437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7" name="Shape 25"/>
          <p:cNvSpPr/>
          <p:nvPr/>
        </p:nvSpPr>
        <p:spPr>
          <a:xfrm>
            <a:off x="9579189"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8" name="Shape 26"/>
          <p:cNvSpPr/>
          <p:nvPr/>
        </p:nvSpPr>
        <p:spPr>
          <a:xfrm>
            <a:off x="1001460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9" name="Shape 27"/>
          <p:cNvSpPr/>
          <p:nvPr/>
        </p:nvSpPr>
        <p:spPr>
          <a:xfrm>
            <a:off x="104500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0" name="Shape 28"/>
          <p:cNvSpPr/>
          <p:nvPr/>
        </p:nvSpPr>
        <p:spPr>
          <a:xfrm>
            <a:off x="1088544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1" name="Shape 29"/>
          <p:cNvSpPr/>
          <p:nvPr/>
        </p:nvSpPr>
        <p:spPr>
          <a:xfrm>
            <a:off x="1132086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2" name="Shape 30"/>
          <p:cNvSpPr/>
          <p:nvPr/>
        </p:nvSpPr>
        <p:spPr>
          <a:xfrm>
            <a:off x="1175627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3" name="Shape 31"/>
          <p:cNvSpPr/>
          <p:nvPr/>
        </p:nvSpPr>
        <p:spPr>
          <a:xfrm>
            <a:off x="304792"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4" name="Shape 32"/>
          <p:cNvSpPr/>
          <p:nvPr/>
        </p:nvSpPr>
        <p:spPr>
          <a:xfrm>
            <a:off x="74021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5" name="Shape 33"/>
          <p:cNvSpPr/>
          <p:nvPr/>
        </p:nvSpPr>
        <p:spPr>
          <a:xfrm>
            <a:off x="161104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6" name="Shape 34"/>
          <p:cNvSpPr/>
          <p:nvPr/>
        </p:nvSpPr>
        <p:spPr>
          <a:xfrm>
            <a:off x="204646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7" name="Shape 35"/>
          <p:cNvSpPr/>
          <p:nvPr/>
        </p:nvSpPr>
        <p:spPr>
          <a:xfrm>
            <a:off x="24818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8" name="Shape 36"/>
          <p:cNvSpPr/>
          <p:nvPr/>
        </p:nvSpPr>
        <p:spPr>
          <a:xfrm>
            <a:off x="3352716"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9" name="Shape 37"/>
          <p:cNvSpPr/>
          <p:nvPr/>
        </p:nvSpPr>
        <p:spPr>
          <a:xfrm>
            <a:off x="378813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0" name="Shape 38"/>
          <p:cNvSpPr/>
          <p:nvPr/>
        </p:nvSpPr>
        <p:spPr>
          <a:xfrm>
            <a:off x="4658969"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1" name="Shape 39"/>
          <p:cNvSpPr/>
          <p:nvPr/>
        </p:nvSpPr>
        <p:spPr>
          <a:xfrm>
            <a:off x="509438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2" name="Shape 40"/>
          <p:cNvSpPr/>
          <p:nvPr/>
        </p:nvSpPr>
        <p:spPr>
          <a:xfrm>
            <a:off x="552980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3" name="Shape 41"/>
          <p:cNvSpPr/>
          <p:nvPr/>
        </p:nvSpPr>
        <p:spPr>
          <a:xfrm>
            <a:off x="640064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4" name="Shape 42"/>
          <p:cNvSpPr/>
          <p:nvPr/>
        </p:nvSpPr>
        <p:spPr>
          <a:xfrm>
            <a:off x="683605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5" name="Shape 43"/>
          <p:cNvSpPr/>
          <p:nvPr/>
        </p:nvSpPr>
        <p:spPr>
          <a:xfrm>
            <a:off x="770689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6" name="Shape 44"/>
          <p:cNvSpPr/>
          <p:nvPr/>
        </p:nvSpPr>
        <p:spPr>
          <a:xfrm>
            <a:off x="814231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7" name="Shape 45"/>
          <p:cNvSpPr/>
          <p:nvPr/>
        </p:nvSpPr>
        <p:spPr>
          <a:xfrm>
            <a:off x="857772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8" name="Shape 46"/>
          <p:cNvSpPr/>
          <p:nvPr/>
        </p:nvSpPr>
        <p:spPr>
          <a:xfrm>
            <a:off x="944856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9" name="Shape 47"/>
          <p:cNvSpPr/>
          <p:nvPr/>
        </p:nvSpPr>
        <p:spPr>
          <a:xfrm>
            <a:off x="98839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0" name="Shape 48"/>
          <p:cNvSpPr/>
          <p:nvPr/>
        </p:nvSpPr>
        <p:spPr>
          <a:xfrm>
            <a:off x="1075481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1" name="Shape 49"/>
          <p:cNvSpPr/>
          <p:nvPr/>
        </p:nvSpPr>
        <p:spPr>
          <a:xfrm>
            <a:off x="1119023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2" name="Shape 50"/>
          <p:cNvSpPr/>
          <p:nvPr/>
        </p:nvSpPr>
        <p:spPr>
          <a:xfrm>
            <a:off x="11625652" y="4343400"/>
            <a:ext cx="261251" cy="1508760"/>
          </a:xfrm>
          <a:prstGeom prst="rect">
            <a:avLst/>
          </a:prstGeom>
          <a:solidFill>
            <a:srgbClr val="121317"/>
          </a:solidFill>
          <a:ln w="6350">
            <a:solidFill>
              <a:srgbClr val="121317"/>
            </a:solidFill>
            <a:prstDash val="solid"/>
          </a:ln>
        </p:spPr>
        <p:txBody>
          <a:bodyPr/>
          <a:lstStyle/>
          <a:p>
            <a:endParaRPr lang="en-K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01</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01  프로젝트 제목</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Toccata (토카타)</a:t>
            </a:r>
            <a:endParaRPr lang="en-US" sz="2800" dirty="0"/>
          </a:p>
        </p:txBody>
      </p:sp>
      <p:sp>
        <p:nvSpPr>
          <p:cNvPr id="7" name="Text 5"/>
          <p:cNvSpPr txBox="1"/>
          <p:nvPr/>
        </p:nvSpPr>
        <p:spPr>
          <a:xfrm>
            <a:off x="548640" y="2295144"/>
            <a:ext cx="5120640" cy="32004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이름의 뜻</a:t>
            </a:r>
            <a:endParaRPr lang="en-US" sz="1600" dirty="0"/>
          </a:p>
        </p:txBody>
      </p:sp>
      <p:sp>
        <p:nvSpPr>
          <p:cNvPr id="8" name="Text 6"/>
          <p:cNvSpPr txBox="1"/>
          <p:nvPr/>
        </p:nvSpPr>
        <p:spPr>
          <a:xfrm>
            <a:off x="548640" y="2660904"/>
            <a:ext cx="1600200" cy="292608"/>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토카타(toccata) :</a:t>
            </a:r>
            <a:endParaRPr lang="en-US" sz="1500" dirty="0"/>
          </a:p>
        </p:txBody>
      </p:sp>
      <p:sp>
        <p:nvSpPr>
          <p:cNvPr id="9" name="Text 7"/>
          <p:cNvSpPr txBox="1"/>
          <p:nvPr/>
        </p:nvSpPr>
        <p:spPr>
          <a:xfrm>
            <a:off x="2194560" y="2660904"/>
            <a:ext cx="3749040" cy="292608"/>
          </a:xfrm>
          <a:prstGeom prst="rect">
            <a:avLst/>
          </a:prstGeom>
          <a:noFill/>
          <a:ln/>
        </p:spPr>
        <p:txBody>
          <a:bodyPr wrap="square" lIns="0" tIns="0" rIns="0" bIns="0" rtlCol="0" anchor="t"/>
          <a:lstStyle/>
          <a:p>
            <a:pPr marL="0" indent="0">
              <a:buNone/>
            </a:pPr>
            <a:r>
              <a:rPr lang="en-US" sz="1450" dirty="0">
                <a:solidFill>
                  <a:srgbClr val="444A54"/>
                </a:solidFill>
                <a:latin typeface="Apple SD Gothic Neo" pitchFamily="34" charset="0"/>
                <a:ea typeface="Apple SD Gothic Neo" pitchFamily="34" charset="-122"/>
                <a:cs typeface="Apple SD Gothic Neo" pitchFamily="34" charset="-120"/>
              </a:rPr>
              <a:t>건반 악기를 위한 빠르고 화려한 곡 형식</a:t>
            </a:r>
            <a:endParaRPr lang="en-US" sz="1450" dirty="0"/>
          </a:p>
        </p:txBody>
      </p:sp>
      <p:sp>
        <p:nvSpPr>
          <p:cNvPr id="10" name="Text 8"/>
          <p:cNvSpPr txBox="1"/>
          <p:nvPr/>
        </p:nvSpPr>
        <p:spPr>
          <a:xfrm>
            <a:off x="2194560" y="2990088"/>
            <a:ext cx="3749040" cy="292608"/>
          </a:xfrm>
          <a:prstGeom prst="rect">
            <a:avLst/>
          </a:prstGeom>
          <a:noFill/>
          <a:ln/>
        </p:spPr>
        <p:txBody>
          <a:bodyPr wrap="square" lIns="0" tIns="0" rIns="0" bIns="0" rtlCol="0" anchor="t"/>
          <a:lstStyle/>
          <a:p>
            <a:pPr marL="0" indent="0">
              <a:buNone/>
            </a:pPr>
            <a:r>
              <a:rPr lang="en-US" sz="1450" dirty="0">
                <a:solidFill>
                  <a:srgbClr val="444A54"/>
                </a:solidFill>
                <a:latin typeface="Apple SD Gothic Neo" pitchFamily="34" charset="0"/>
                <a:ea typeface="Apple SD Gothic Neo" pitchFamily="34" charset="-122"/>
                <a:cs typeface="Apple SD Gothic Neo" pitchFamily="34" charset="-120"/>
              </a:rPr>
              <a:t>이탈리아어 </a:t>
            </a:r>
            <a:r>
              <a:rPr lang="en-US" sz="1450" i="1" dirty="0">
                <a:solidFill>
                  <a:srgbClr val="444A54"/>
                </a:solidFill>
                <a:latin typeface="Apple SD Gothic Neo" pitchFamily="34" charset="0"/>
                <a:ea typeface="Apple SD Gothic Neo" pitchFamily="34" charset="-122"/>
                <a:cs typeface="Apple SD Gothic Neo" pitchFamily="34" charset="-120"/>
              </a:rPr>
              <a:t>toccare</a:t>
            </a:r>
            <a:r>
              <a:rPr lang="en-US" sz="1450" dirty="0">
                <a:solidFill>
                  <a:srgbClr val="444A54"/>
                </a:solidFill>
                <a:latin typeface="Apple SD Gothic Neo" pitchFamily="34" charset="0"/>
                <a:ea typeface="Apple SD Gothic Neo" pitchFamily="34" charset="-122"/>
                <a:cs typeface="Apple SD Gothic Neo" pitchFamily="34" charset="-120"/>
              </a:rPr>
              <a:t> (손대다, 건드리다)에서 유래</a:t>
            </a:r>
            <a:endParaRPr lang="en-US" sz="1450" dirty="0"/>
          </a:p>
        </p:txBody>
      </p:sp>
      <p:sp>
        <p:nvSpPr>
          <p:cNvPr id="11" name="Shape 9"/>
          <p:cNvSpPr/>
          <p:nvPr/>
        </p:nvSpPr>
        <p:spPr>
          <a:xfrm>
            <a:off x="512064" y="3813048"/>
            <a:ext cx="5157216" cy="1298448"/>
          </a:xfrm>
          <a:prstGeom prst="roundRect">
            <a:avLst>
              <a:gd name="adj" fmla="val 6504"/>
            </a:avLst>
          </a:prstGeom>
          <a:solidFill>
            <a:srgbClr val="F3F4F6"/>
          </a:solidFill>
          <a:ln w="12700">
            <a:solidFill>
              <a:srgbClr val="F3F4F6"/>
            </a:solidFill>
            <a:prstDash val="solid"/>
          </a:ln>
        </p:spPr>
        <p:txBody>
          <a:bodyPr/>
          <a:lstStyle/>
          <a:p>
            <a:endParaRPr lang="en-KR"/>
          </a:p>
        </p:txBody>
      </p:sp>
      <p:sp>
        <p:nvSpPr>
          <p:cNvPr id="12" name="Text 10"/>
          <p:cNvSpPr txBox="1"/>
          <p:nvPr/>
        </p:nvSpPr>
        <p:spPr>
          <a:xfrm>
            <a:off x="694944" y="3959352"/>
            <a:ext cx="2926080" cy="27432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한 줄 소개</a:t>
            </a:r>
            <a:endParaRPr lang="en-US" sz="1400" dirty="0"/>
          </a:p>
        </p:txBody>
      </p:sp>
      <p:sp>
        <p:nvSpPr>
          <p:cNvPr id="13" name="Text 11"/>
          <p:cNvSpPr txBox="1"/>
          <p:nvPr/>
        </p:nvSpPr>
        <p:spPr>
          <a:xfrm>
            <a:off x="694944" y="4279392"/>
            <a:ext cx="2743200" cy="566928"/>
          </a:xfrm>
          <a:prstGeom prst="rect">
            <a:avLst/>
          </a:prstGeom>
          <a:noFill/>
          <a:ln/>
        </p:spPr>
        <p:txBody>
          <a:bodyPr wrap="square" lIns="0" tIns="0" rIns="0" bIns="0" rtlCol="0" anchor="t"/>
          <a:lstStyle/>
          <a:p>
            <a:pPr marL="0" indent="0">
              <a:lnSpc>
                <a:spcPct val="115000"/>
              </a:lnSpc>
              <a:buNone/>
            </a:pPr>
            <a:r>
              <a:rPr lang="en-US" sz="1500" dirty="0">
                <a:solidFill>
                  <a:srgbClr val="16181D"/>
                </a:solidFill>
                <a:latin typeface="Apple SD Gothic Neo" pitchFamily="34" charset="0"/>
                <a:ea typeface="Apple SD Gothic Neo" pitchFamily="34" charset="-122"/>
                <a:cs typeface="Apple SD Gothic Neo" pitchFamily="34" charset="-120"/>
              </a:rPr>
              <a:t>휴대용 88건반 디지털 피아노이면서 리듬게임용 장비</a:t>
            </a:r>
            <a:endParaRPr lang="en-US" sz="1500" dirty="0"/>
          </a:p>
        </p:txBody>
      </p:sp>
      <p:sp>
        <p:nvSpPr>
          <p:cNvPr id="14" name="Shape 12"/>
          <p:cNvSpPr/>
          <p:nvPr/>
        </p:nvSpPr>
        <p:spPr>
          <a:xfrm>
            <a:off x="6089904" y="2267712"/>
            <a:ext cx="5239512" cy="1298448"/>
          </a:xfrm>
          <a:prstGeom prst="roundRect">
            <a:avLst>
              <a:gd name="adj" fmla="val 5634"/>
            </a:avLst>
          </a:prstGeom>
          <a:solidFill>
            <a:srgbClr val="FFFFFF"/>
          </a:solidFill>
          <a:ln w="12700">
            <a:solidFill>
              <a:srgbClr val="DDE0E5"/>
            </a:solidFill>
            <a:prstDash val="solid"/>
          </a:ln>
        </p:spPr>
        <p:txBody>
          <a:bodyPr/>
          <a:lstStyle/>
          <a:p>
            <a:endParaRPr lang="en-KR"/>
          </a:p>
        </p:txBody>
      </p:sp>
      <p:sp>
        <p:nvSpPr>
          <p:cNvPr id="15" name="Text 13"/>
          <p:cNvSpPr txBox="1"/>
          <p:nvPr/>
        </p:nvSpPr>
        <p:spPr>
          <a:xfrm>
            <a:off x="6364224" y="2450592"/>
            <a:ext cx="1371600" cy="914400"/>
          </a:xfrm>
          <a:prstGeom prst="rect">
            <a:avLst/>
          </a:prstGeom>
          <a:noFill/>
          <a:ln/>
        </p:spPr>
        <p:txBody>
          <a:bodyPr wrap="square" lIns="0" tIns="0" rIns="0" bIns="0" rtlCol="0" anchor="ctr"/>
          <a:lstStyle/>
          <a:p>
            <a:pPr marL="0" indent="0">
              <a:buNone/>
            </a:pPr>
            <a:r>
              <a:rPr lang="en-US" sz="5400" b="1" dirty="0">
                <a:solidFill>
                  <a:srgbClr val="D9482B"/>
                </a:solidFill>
                <a:latin typeface="Apple SD Gothic Neo" pitchFamily="34" charset="0"/>
                <a:ea typeface="Apple SD Gothic Neo" pitchFamily="34" charset="-122"/>
                <a:cs typeface="Apple SD Gothic Neo" pitchFamily="34" charset="-120"/>
              </a:rPr>
              <a:t>88</a:t>
            </a:r>
            <a:endParaRPr lang="en-US" sz="5400" dirty="0"/>
          </a:p>
        </p:txBody>
      </p:sp>
      <p:sp>
        <p:nvSpPr>
          <p:cNvPr id="16" name="Text 14"/>
          <p:cNvSpPr txBox="1"/>
          <p:nvPr/>
        </p:nvSpPr>
        <p:spPr>
          <a:xfrm>
            <a:off x="7781544" y="2523744"/>
            <a:ext cx="3383280" cy="365760"/>
          </a:xfrm>
          <a:prstGeom prst="rect">
            <a:avLst/>
          </a:prstGeom>
          <a:noFill/>
          <a:ln/>
        </p:spPr>
        <p:txBody>
          <a:bodyPr wrap="square" lIns="0" tIns="0" rIns="0" bIns="0" rtlCol="0" anchor="t"/>
          <a:lstStyle/>
          <a:p>
            <a:pPr marL="0" indent="0">
              <a:buNone/>
            </a:pPr>
            <a:r>
              <a:rPr lang="en-US" sz="1800" b="1" dirty="0">
                <a:solidFill>
                  <a:srgbClr val="16181D"/>
                </a:solidFill>
                <a:latin typeface="Apple SD Gothic Neo" pitchFamily="34" charset="0"/>
                <a:ea typeface="Apple SD Gothic Neo" pitchFamily="34" charset="-122"/>
                <a:cs typeface="Apple SD Gothic Neo" pitchFamily="34" charset="-120"/>
              </a:rPr>
              <a:t>건반</a:t>
            </a:r>
            <a:endParaRPr lang="en-US" sz="1800" dirty="0"/>
          </a:p>
        </p:txBody>
      </p:sp>
      <p:sp>
        <p:nvSpPr>
          <p:cNvPr id="17" name="Text 15"/>
          <p:cNvSpPr txBox="1"/>
          <p:nvPr/>
        </p:nvSpPr>
        <p:spPr>
          <a:xfrm>
            <a:off x="7781544" y="2926080"/>
            <a:ext cx="3383280" cy="457200"/>
          </a:xfrm>
          <a:prstGeom prst="rect">
            <a:avLst/>
          </a:prstGeom>
          <a:noFill/>
          <a:ln/>
        </p:spPr>
        <p:txBody>
          <a:bodyPr wrap="square" lIns="0" tIns="0" rIns="0" bIns="0" rtlCol="0" anchor="t"/>
          <a:lstStyle/>
          <a:p>
            <a:pPr marL="0" indent="0">
              <a:buNone/>
            </a:pPr>
            <a:r>
              <a:rPr lang="en-US" sz="1300" dirty="0">
                <a:solidFill>
                  <a:srgbClr val="767D88"/>
                </a:solidFill>
                <a:latin typeface="Apple SD Gothic Neo" pitchFamily="34" charset="0"/>
                <a:ea typeface="Apple SD Gothic Neo" pitchFamily="34" charset="-122"/>
                <a:cs typeface="Apple SD Gothic Neo" pitchFamily="34" charset="-120"/>
              </a:rPr>
              <a:t>A0 ~ C8, 실제 피아노와 같은 건반 폭 23.5 mm</a:t>
            </a:r>
            <a:endParaRPr lang="en-US" sz="1300" dirty="0"/>
          </a:p>
        </p:txBody>
      </p:sp>
      <p:sp>
        <p:nvSpPr>
          <p:cNvPr id="18" name="Shape 16"/>
          <p:cNvSpPr/>
          <p:nvPr/>
        </p:nvSpPr>
        <p:spPr>
          <a:xfrm>
            <a:off x="6089904" y="3813048"/>
            <a:ext cx="5239512" cy="1298448"/>
          </a:xfrm>
          <a:prstGeom prst="roundRect">
            <a:avLst>
              <a:gd name="adj" fmla="val 5634"/>
            </a:avLst>
          </a:prstGeom>
          <a:solidFill>
            <a:srgbClr val="FFFFFF"/>
          </a:solidFill>
          <a:ln w="12700">
            <a:solidFill>
              <a:srgbClr val="DDE0E5"/>
            </a:solidFill>
            <a:prstDash val="solid"/>
          </a:ln>
        </p:spPr>
        <p:txBody>
          <a:bodyPr/>
          <a:lstStyle/>
          <a:p>
            <a:endParaRPr lang="en-KR"/>
          </a:p>
        </p:txBody>
      </p:sp>
      <p:sp>
        <p:nvSpPr>
          <p:cNvPr id="19" name="Text 17"/>
          <p:cNvSpPr txBox="1"/>
          <p:nvPr/>
        </p:nvSpPr>
        <p:spPr>
          <a:xfrm>
            <a:off x="6364224" y="3995928"/>
            <a:ext cx="1371600" cy="914400"/>
          </a:xfrm>
          <a:prstGeom prst="rect">
            <a:avLst/>
          </a:prstGeom>
          <a:noFill/>
          <a:ln/>
        </p:spPr>
        <p:txBody>
          <a:bodyPr wrap="square" lIns="0" tIns="0" rIns="0" bIns="0" rtlCol="0" anchor="ctr"/>
          <a:lstStyle/>
          <a:p>
            <a:pPr marL="0" indent="0">
              <a:buNone/>
            </a:pPr>
            <a:r>
              <a:rPr lang="en-US" sz="5400" b="1" dirty="0">
                <a:solidFill>
                  <a:srgbClr val="D9482B"/>
                </a:solidFill>
                <a:latin typeface="Apple SD Gothic Neo" pitchFamily="34" charset="0"/>
                <a:ea typeface="Apple SD Gothic Neo" pitchFamily="34" charset="-122"/>
                <a:cs typeface="Apple SD Gothic Neo" pitchFamily="34" charset="-120"/>
              </a:rPr>
              <a:t>7</a:t>
            </a:r>
            <a:endParaRPr lang="en-US" sz="5400" dirty="0"/>
          </a:p>
        </p:txBody>
      </p:sp>
      <p:sp>
        <p:nvSpPr>
          <p:cNvPr id="20" name="Text 18"/>
          <p:cNvSpPr txBox="1"/>
          <p:nvPr/>
        </p:nvSpPr>
        <p:spPr>
          <a:xfrm>
            <a:off x="7781544" y="4069080"/>
            <a:ext cx="3383280" cy="365760"/>
          </a:xfrm>
          <a:prstGeom prst="rect">
            <a:avLst/>
          </a:prstGeom>
          <a:noFill/>
          <a:ln/>
        </p:spPr>
        <p:txBody>
          <a:bodyPr wrap="square" lIns="0" tIns="0" rIns="0" bIns="0" rtlCol="0" anchor="t"/>
          <a:lstStyle/>
          <a:p>
            <a:pPr marL="0" indent="0">
              <a:buNone/>
            </a:pPr>
            <a:r>
              <a:rPr lang="en-US" sz="1800" b="1" dirty="0">
                <a:solidFill>
                  <a:srgbClr val="16181D"/>
                </a:solidFill>
                <a:latin typeface="Apple SD Gothic Neo" pitchFamily="34" charset="0"/>
                <a:ea typeface="Apple SD Gothic Neo" pitchFamily="34" charset="-122"/>
                <a:cs typeface="Apple SD Gothic Neo" pitchFamily="34" charset="-120"/>
              </a:rPr>
              <a:t>옥타브 모듈</a:t>
            </a:r>
            <a:endParaRPr lang="en-US" sz="1800" dirty="0"/>
          </a:p>
        </p:txBody>
      </p:sp>
      <p:sp>
        <p:nvSpPr>
          <p:cNvPr id="21" name="Text 19"/>
          <p:cNvSpPr txBox="1"/>
          <p:nvPr/>
        </p:nvSpPr>
        <p:spPr>
          <a:xfrm>
            <a:off x="7781544" y="4471416"/>
            <a:ext cx="3383280" cy="457200"/>
          </a:xfrm>
          <a:prstGeom prst="rect">
            <a:avLst/>
          </a:prstGeom>
          <a:noFill/>
          <a:ln/>
        </p:spPr>
        <p:txBody>
          <a:bodyPr wrap="square" lIns="0" tIns="0" rIns="0" bIns="0" rtlCol="0" anchor="t"/>
          <a:lstStyle/>
          <a:p>
            <a:pPr marL="0" indent="0">
              <a:buNone/>
            </a:pPr>
            <a:r>
              <a:rPr lang="en-US" sz="1300" dirty="0">
                <a:solidFill>
                  <a:srgbClr val="767D88"/>
                </a:solidFill>
                <a:latin typeface="Apple SD Gothic Neo" pitchFamily="34" charset="0"/>
                <a:ea typeface="Apple SD Gothic Neo" pitchFamily="34" charset="-122"/>
                <a:cs typeface="Apple SD Gothic Neo" pitchFamily="34" charset="-120"/>
              </a:rPr>
              <a:t>도~시 12건반 모듈이 모두 같은 구조</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직접 만드는, 실제 피아노처럼 동작하는 피아노</a:t>
            </a:r>
            <a:endParaRPr lang="en-US" sz="2800" dirty="0"/>
          </a:p>
        </p:txBody>
      </p:sp>
      <p:sp>
        <p:nvSpPr>
          <p:cNvPr id="7" name="Shape 5"/>
          <p:cNvSpPr/>
          <p:nvPr/>
        </p:nvSpPr>
        <p:spPr>
          <a:xfrm>
            <a:off x="548640" y="1508760"/>
            <a:ext cx="11094415" cy="960120"/>
          </a:xfrm>
          <a:prstGeom prst="roundRect">
            <a:avLst>
              <a:gd name="adj" fmla="val 7619"/>
            </a:avLst>
          </a:prstGeom>
          <a:solidFill>
            <a:srgbClr val="121317"/>
          </a:solidFill>
          <a:ln w="12700">
            <a:solidFill>
              <a:srgbClr val="121317"/>
            </a:solidFill>
            <a:prstDash val="solid"/>
          </a:ln>
        </p:spPr>
        <p:txBody>
          <a:bodyPr/>
          <a:lstStyle/>
          <a:p>
            <a:endParaRPr lang="en-KR"/>
          </a:p>
        </p:txBody>
      </p:sp>
      <p:sp>
        <p:nvSpPr>
          <p:cNvPr id="8" name="Text 6"/>
          <p:cNvSpPr txBox="1"/>
          <p:nvPr/>
        </p:nvSpPr>
        <p:spPr>
          <a:xfrm>
            <a:off x="868680" y="1508760"/>
            <a:ext cx="822960" cy="960120"/>
          </a:xfrm>
          <a:prstGeom prst="rect">
            <a:avLst/>
          </a:prstGeom>
          <a:noFill/>
          <a:ln/>
        </p:spPr>
        <p:txBody>
          <a:bodyPr wrap="square" lIns="0" tIns="0" rIns="0" bIns="0" rtlCol="0" anchor="ctr"/>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주제</a:t>
            </a:r>
            <a:endParaRPr lang="en-US" sz="1400" dirty="0"/>
          </a:p>
        </p:txBody>
      </p:sp>
      <p:sp>
        <p:nvSpPr>
          <p:cNvPr id="9" name="Text 7"/>
          <p:cNvSpPr txBox="1"/>
          <p:nvPr/>
        </p:nvSpPr>
        <p:spPr>
          <a:xfrm>
            <a:off x="1691640" y="1508760"/>
            <a:ext cx="9631375" cy="960120"/>
          </a:xfrm>
          <a:prstGeom prst="rect">
            <a:avLst/>
          </a:prstGeom>
          <a:noFill/>
          <a:ln/>
        </p:spPr>
        <p:txBody>
          <a:bodyPr wrap="square" lIns="0" tIns="0" rIns="0" bIns="0" rtlCol="0" anchor="ctr"/>
          <a:lstStyle/>
          <a:p>
            <a:pPr>
              <a:lnSpc>
                <a:spcPct val="115000"/>
              </a:lnSpc>
            </a:pPr>
            <a:r>
              <a:rPr lang="en-US" sz="1600" b="1" dirty="0" err="1">
                <a:solidFill>
                  <a:srgbClr val="FFFFFF"/>
                </a:solidFill>
                <a:latin typeface="Apple SD Gothic Neo" pitchFamily="34" charset="0"/>
                <a:ea typeface="Apple SD Gothic Neo" pitchFamily="34" charset="-122"/>
                <a:cs typeface="Apple SD Gothic Neo" pitchFamily="34" charset="-120"/>
              </a:rPr>
              <a:t>누르는</a:t>
            </a:r>
            <a:r>
              <a:rPr lang="en-US" sz="1600" b="1" dirty="0">
                <a:solidFill>
                  <a:srgbClr val="FFFFFF"/>
                </a:solidFill>
                <a:latin typeface="Apple SD Gothic Neo" pitchFamily="34" charset="0"/>
                <a:ea typeface="Apple SD Gothic Neo" pitchFamily="34" charset="-122"/>
                <a:cs typeface="Apple SD Gothic Neo" pitchFamily="34" charset="-120"/>
              </a:rPr>
              <a:t> 세기와 페달까지 표현하는 88건반 </a:t>
            </a:r>
            <a:r>
              <a:rPr lang="en-US" sz="1600" b="1" dirty="0" err="1">
                <a:solidFill>
                  <a:srgbClr val="FFFFFF"/>
                </a:solidFill>
                <a:latin typeface="Apple SD Gothic Neo" pitchFamily="34" charset="0"/>
                <a:ea typeface="Apple SD Gothic Neo" pitchFamily="34" charset="-122"/>
                <a:cs typeface="Apple SD Gothic Neo" pitchFamily="34" charset="-120"/>
              </a:rPr>
              <a:t>디지털</a:t>
            </a:r>
            <a:r>
              <a:rPr 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피아노</a:t>
            </a:r>
            <a:r>
              <a:rPr lang="ko-KR" altLang="en-US" sz="1600" b="1" dirty="0">
                <a:solidFill>
                  <a:srgbClr val="FFFFFF"/>
                </a:solidFill>
                <a:latin typeface="Apple SD Gothic Neo" pitchFamily="34" charset="0"/>
                <a:ea typeface="Apple SD Gothic Neo" pitchFamily="34" charset="-122"/>
                <a:cs typeface="Apple SD Gothic Neo" pitchFamily="34" charset="-120"/>
              </a:rPr>
              <a:t> 설계 및 제작 </a:t>
            </a:r>
            <a:r>
              <a:rPr lang="en-US" sz="1600" b="1" dirty="0">
                <a:solidFill>
                  <a:srgbClr val="FFFFFF"/>
                </a:solidFill>
                <a:latin typeface="Apple SD Gothic Neo" pitchFamily="34" charset="0"/>
                <a:ea typeface="Apple SD Gothic Neo" pitchFamily="34" charset="-122"/>
                <a:cs typeface="Apple SD Gothic Neo" pitchFamily="34" charset="-120"/>
              </a:rPr>
              <a:t>+</a:t>
            </a:r>
            <a:r>
              <a:rPr lang="ko-KR" alt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피아노를</a:t>
            </a:r>
            <a:r>
              <a:rPr 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컨트롤러로</a:t>
            </a:r>
            <a:r>
              <a:rPr 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쓰는</a:t>
            </a:r>
            <a:r>
              <a:rPr lang="ko-KR" alt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리듬게임</a:t>
            </a:r>
            <a:r>
              <a:rPr lang="en-US" sz="1600" b="1" dirty="0">
                <a:solidFill>
                  <a:srgbClr val="FFFFFF"/>
                </a:solidFill>
                <a:latin typeface="Apple SD Gothic Neo" pitchFamily="34" charset="0"/>
                <a:ea typeface="Apple SD Gothic Neo" pitchFamily="34" charset="-122"/>
                <a:cs typeface="Apple SD Gothic Neo" pitchFamily="34" charset="-120"/>
              </a:rPr>
              <a:t> ‘Toccata’</a:t>
            </a:r>
            <a:endParaRPr lang="en-US" sz="1600" b="1" dirty="0"/>
          </a:p>
        </p:txBody>
      </p:sp>
      <p:sp>
        <p:nvSpPr>
          <p:cNvPr id="10" name="Shape 8"/>
          <p:cNvSpPr/>
          <p:nvPr/>
        </p:nvSpPr>
        <p:spPr>
          <a:xfrm>
            <a:off x="548640"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11" name="Shape 9"/>
          <p:cNvSpPr/>
          <p:nvPr/>
        </p:nvSpPr>
        <p:spPr>
          <a:xfrm>
            <a:off x="822960" y="3017520"/>
            <a:ext cx="658368" cy="658368"/>
          </a:xfrm>
          <a:prstGeom prst="ellipse">
            <a:avLst/>
          </a:prstGeom>
          <a:solidFill>
            <a:srgbClr val="FBE9E4"/>
          </a:solidFill>
          <a:ln w="12700">
            <a:solidFill>
              <a:srgbClr val="FFFFFF"/>
            </a:solidFill>
            <a:prstDash val="solid"/>
          </a:ln>
        </p:spPr>
        <p:txBody>
          <a:bodyPr/>
          <a:lstStyle/>
          <a:p>
            <a:endParaRPr lang="en-KR"/>
          </a:p>
        </p:txBody>
      </p:sp>
      <p:pic>
        <p:nvPicPr>
          <p:cNvPr id="12" name="Image 0" descr="preencoded.png"/>
          <p:cNvPicPr>
            <a:picLocks noChangeAspect="1"/>
          </p:cNvPicPr>
          <p:nvPr/>
        </p:nvPicPr>
        <p:blipFill>
          <a:blip r:embed="rId3"/>
          <a:stretch>
            <a:fillRect/>
          </a:stretch>
        </p:blipFill>
        <p:spPr>
          <a:xfrm>
            <a:off x="950976" y="3145536"/>
            <a:ext cx="402336" cy="402336"/>
          </a:xfrm>
          <a:prstGeom prst="rect">
            <a:avLst/>
          </a:prstGeom>
        </p:spPr>
      </p:pic>
      <p:sp>
        <p:nvSpPr>
          <p:cNvPr id="13" name="Text 10"/>
          <p:cNvSpPr txBox="1"/>
          <p:nvPr/>
        </p:nvSpPr>
        <p:spPr>
          <a:xfrm>
            <a:off x="822960"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실제 피아노처럼</a:t>
            </a:r>
            <a:endParaRPr lang="en-US" sz="1600" dirty="0"/>
          </a:p>
        </p:txBody>
      </p:sp>
      <p:sp>
        <p:nvSpPr>
          <p:cNvPr id="14" name="Text 11"/>
          <p:cNvSpPr txBox="1"/>
          <p:nvPr/>
        </p:nvSpPr>
        <p:spPr>
          <a:xfrm>
            <a:off x="777240"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누르는 세기·속도에 따라 소리 크기와 음색이 달라지고, </a:t>
            </a:r>
            <a:r>
              <a:rPr lang="en-US" sz="1250" dirty="0" err="1">
                <a:solidFill>
                  <a:srgbClr val="444A54"/>
                </a:solidFill>
                <a:latin typeface="Apple SD Gothic Neo" pitchFamily="34" charset="0"/>
                <a:ea typeface="Apple SD Gothic Neo" pitchFamily="34" charset="-122"/>
                <a:cs typeface="Apple SD Gothic Neo" pitchFamily="34" charset="-120"/>
              </a:rPr>
              <a:t>댐퍼</a:t>
            </a:r>
            <a:r>
              <a:rPr lang="en-US" sz="1250" dirty="0">
                <a:solidFill>
                  <a:srgbClr val="444A54"/>
                </a:solidFill>
                <a:latin typeface="Apple SD Gothic Neo" pitchFamily="34" charset="0"/>
                <a:ea typeface="Apple SD Gothic Neo" pitchFamily="34" charset="-122"/>
                <a:cs typeface="Apple SD Gothic Neo" pitchFamily="34" charset="-120"/>
              </a:rPr>
              <a:t> </a:t>
            </a:r>
            <a:r>
              <a:rPr lang="en-US" sz="1250" dirty="0" err="1">
                <a:solidFill>
                  <a:srgbClr val="444A54"/>
                </a:solidFill>
                <a:latin typeface="Apple SD Gothic Neo" pitchFamily="34" charset="0"/>
                <a:ea typeface="Apple SD Gothic Neo" pitchFamily="34" charset="-122"/>
                <a:cs typeface="Apple SD Gothic Neo" pitchFamily="34" charset="-120"/>
              </a:rPr>
              <a:t>페달</a:t>
            </a:r>
            <a:r>
              <a:rPr lang="ko-KR" altLang="en-US" sz="1250" dirty="0">
                <a:solidFill>
                  <a:srgbClr val="444A54"/>
                </a:solidFill>
                <a:latin typeface="Apple SD Gothic Neo" pitchFamily="34" charset="0"/>
                <a:ea typeface="Apple SD Gothic Neo" pitchFamily="34" charset="-122"/>
                <a:cs typeface="Apple SD Gothic Neo" pitchFamily="34" charset="-120"/>
              </a:rPr>
              <a:t>도 지원</a:t>
            </a:r>
            <a:r>
              <a:rPr lang="en-US" altLang="ko-KR" sz="1250" dirty="0">
                <a:solidFill>
                  <a:srgbClr val="444A54"/>
                </a:solidFill>
                <a:latin typeface="Apple SD Gothic Neo" pitchFamily="34" charset="0"/>
                <a:ea typeface="Apple SD Gothic Neo" pitchFamily="34" charset="-122"/>
                <a:cs typeface="Apple SD Gothic Neo" pitchFamily="34" charset="-120"/>
              </a:rPr>
              <a:t>,</a:t>
            </a:r>
            <a:r>
              <a:rPr lang="ko-KR" altLang="en-US" sz="1250" dirty="0">
                <a:solidFill>
                  <a:srgbClr val="444A54"/>
                </a:solidFill>
                <a:latin typeface="Apple SD Gothic Neo" pitchFamily="34" charset="0"/>
                <a:ea typeface="Apple SD Gothic Neo" pitchFamily="34" charset="-122"/>
                <a:cs typeface="Apple SD Gothic Neo" pitchFamily="34" charset="-120"/>
              </a:rPr>
              <a:t> 실제 구조에서 착안해 실제와 비슷한 느낌 제공</a:t>
            </a:r>
            <a:endParaRPr lang="en-US" sz="1250" dirty="0"/>
          </a:p>
        </p:txBody>
      </p:sp>
      <p:sp>
        <p:nvSpPr>
          <p:cNvPr id="15" name="Shape 12"/>
          <p:cNvSpPr/>
          <p:nvPr/>
        </p:nvSpPr>
        <p:spPr>
          <a:xfrm>
            <a:off x="3390824"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16" name="Shape 13"/>
          <p:cNvSpPr/>
          <p:nvPr/>
        </p:nvSpPr>
        <p:spPr>
          <a:xfrm>
            <a:off x="3665144" y="3017520"/>
            <a:ext cx="658368" cy="658368"/>
          </a:xfrm>
          <a:prstGeom prst="ellipse">
            <a:avLst/>
          </a:prstGeom>
          <a:solidFill>
            <a:srgbClr val="FBE9E4"/>
          </a:solidFill>
          <a:ln w="12700">
            <a:solidFill>
              <a:srgbClr val="FFFFFF"/>
            </a:solidFill>
            <a:prstDash val="solid"/>
          </a:ln>
        </p:spPr>
        <p:txBody>
          <a:bodyPr/>
          <a:lstStyle/>
          <a:p>
            <a:endParaRPr lang="en-KR"/>
          </a:p>
        </p:txBody>
      </p:sp>
      <p:pic>
        <p:nvPicPr>
          <p:cNvPr id="17" name="Image 1" descr="preencoded.png"/>
          <p:cNvPicPr>
            <a:picLocks noChangeAspect="1"/>
          </p:cNvPicPr>
          <p:nvPr/>
        </p:nvPicPr>
        <p:blipFill>
          <a:blip r:embed="rId4"/>
          <a:stretch>
            <a:fillRect/>
          </a:stretch>
        </p:blipFill>
        <p:spPr>
          <a:xfrm>
            <a:off x="3793160" y="3145536"/>
            <a:ext cx="402336" cy="402336"/>
          </a:xfrm>
          <a:prstGeom prst="rect">
            <a:avLst/>
          </a:prstGeom>
        </p:spPr>
      </p:pic>
      <p:sp>
        <p:nvSpPr>
          <p:cNvPr id="18" name="Text 14"/>
          <p:cNvSpPr txBox="1"/>
          <p:nvPr/>
        </p:nvSpPr>
        <p:spPr>
          <a:xfrm>
            <a:off x="3665144"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나눠 들고 다니는 피아노</a:t>
            </a:r>
            <a:endParaRPr lang="en-US" sz="1600" dirty="0"/>
          </a:p>
        </p:txBody>
      </p:sp>
      <p:sp>
        <p:nvSpPr>
          <p:cNvPr id="19" name="Text 15"/>
          <p:cNvSpPr txBox="1"/>
          <p:nvPr/>
        </p:nvSpPr>
        <p:spPr>
          <a:xfrm>
            <a:off x="3619424"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옥타브 모듈 7개와 스피커·제어부를 모두 따로 </a:t>
            </a:r>
            <a:r>
              <a:rPr lang="en-US" sz="1250" dirty="0" err="1">
                <a:solidFill>
                  <a:srgbClr val="444A54"/>
                </a:solidFill>
                <a:latin typeface="Apple SD Gothic Neo" pitchFamily="34" charset="0"/>
                <a:ea typeface="Apple SD Gothic Neo" pitchFamily="34" charset="-122"/>
                <a:cs typeface="Apple SD Gothic Neo" pitchFamily="34" charset="-120"/>
              </a:rPr>
              <a:t>떼어</a:t>
            </a:r>
            <a:r>
              <a:rPr lang="en-US" sz="1250" dirty="0">
                <a:solidFill>
                  <a:srgbClr val="444A54"/>
                </a:solidFill>
                <a:latin typeface="Apple SD Gothic Neo" pitchFamily="34" charset="0"/>
                <a:ea typeface="Apple SD Gothic Neo" pitchFamily="34" charset="-122"/>
                <a:cs typeface="Apple SD Gothic Neo" pitchFamily="34" charset="-120"/>
              </a:rPr>
              <a:t> </a:t>
            </a:r>
            <a:r>
              <a:rPr lang="en-US" sz="1250" dirty="0" err="1">
                <a:solidFill>
                  <a:srgbClr val="444A54"/>
                </a:solidFill>
                <a:latin typeface="Apple SD Gothic Neo" pitchFamily="34" charset="0"/>
                <a:ea typeface="Apple SD Gothic Neo" pitchFamily="34" charset="-122"/>
                <a:cs typeface="Apple SD Gothic Neo" pitchFamily="34" charset="-120"/>
              </a:rPr>
              <a:t>보관</a:t>
            </a:r>
            <a:r>
              <a:rPr lang="en-US" altLang="ko-KR" sz="1250" dirty="0">
                <a:solidFill>
                  <a:srgbClr val="444A54"/>
                </a:solidFill>
                <a:latin typeface="Apple SD Gothic Neo" pitchFamily="34" charset="0"/>
                <a:ea typeface="Apple SD Gothic Neo" pitchFamily="34" charset="-122"/>
                <a:cs typeface="Apple SD Gothic Neo" pitchFamily="34" charset="-120"/>
              </a:rPr>
              <a:t>,</a:t>
            </a:r>
            <a:r>
              <a:rPr lang="en-US" sz="1250" dirty="0">
                <a:solidFill>
                  <a:srgbClr val="444A54"/>
                </a:solidFill>
                <a:latin typeface="Apple SD Gothic Neo" pitchFamily="34" charset="0"/>
                <a:ea typeface="Apple SD Gothic Neo" pitchFamily="34" charset="-122"/>
                <a:cs typeface="Apple SD Gothic Neo" pitchFamily="34" charset="-120"/>
              </a:rPr>
              <a:t> 보조배터리로 콘센트 </a:t>
            </a:r>
            <a:r>
              <a:rPr lang="en-US" sz="1250" dirty="0" err="1">
                <a:solidFill>
                  <a:srgbClr val="444A54"/>
                </a:solidFill>
                <a:latin typeface="Apple SD Gothic Neo" pitchFamily="34" charset="0"/>
                <a:ea typeface="Apple SD Gothic Neo" pitchFamily="34" charset="-122"/>
                <a:cs typeface="Apple SD Gothic Neo" pitchFamily="34" charset="-120"/>
              </a:rPr>
              <a:t>없이</a:t>
            </a:r>
            <a:r>
              <a:rPr lang="en-US" sz="1250" dirty="0">
                <a:solidFill>
                  <a:srgbClr val="444A54"/>
                </a:solidFill>
                <a:latin typeface="Apple SD Gothic Neo" pitchFamily="34" charset="0"/>
                <a:ea typeface="Apple SD Gothic Neo" pitchFamily="34" charset="-122"/>
                <a:cs typeface="Apple SD Gothic Neo" pitchFamily="34" charset="-120"/>
              </a:rPr>
              <a:t> </a:t>
            </a:r>
            <a:r>
              <a:rPr lang="ko-KR" altLang="en-US" sz="1250" dirty="0">
                <a:solidFill>
                  <a:srgbClr val="444A54"/>
                </a:solidFill>
                <a:latin typeface="Apple SD Gothic Neo" pitchFamily="34" charset="0"/>
                <a:ea typeface="Apple SD Gothic Neo" pitchFamily="34" charset="-122"/>
                <a:cs typeface="Apple SD Gothic Neo" pitchFamily="34" charset="-120"/>
              </a:rPr>
              <a:t>연주 가능</a:t>
            </a:r>
            <a:endParaRPr lang="en-US" sz="1250" dirty="0"/>
          </a:p>
        </p:txBody>
      </p:sp>
      <p:sp>
        <p:nvSpPr>
          <p:cNvPr id="20" name="Shape 16"/>
          <p:cNvSpPr/>
          <p:nvPr/>
        </p:nvSpPr>
        <p:spPr>
          <a:xfrm>
            <a:off x="6233008"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21" name="Shape 17"/>
          <p:cNvSpPr/>
          <p:nvPr/>
        </p:nvSpPr>
        <p:spPr>
          <a:xfrm>
            <a:off x="6507328" y="3017520"/>
            <a:ext cx="658368" cy="658368"/>
          </a:xfrm>
          <a:prstGeom prst="ellipse">
            <a:avLst/>
          </a:prstGeom>
          <a:solidFill>
            <a:srgbClr val="FBE9E4"/>
          </a:solidFill>
          <a:ln w="12700">
            <a:solidFill>
              <a:srgbClr val="FFFFFF"/>
            </a:solidFill>
            <a:prstDash val="solid"/>
          </a:ln>
        </p:spPr>
        <p:txBody>
          <a:bodyPr/>
          <a:lstStyle/>
          <a:p>
            <a:endParaRPr lang="en-KR"/>
          </a:p>
        </p:txBody>
      </p:sp>
      <p:pic>
        <p:nvPicPr>
          <p:cNvPr id="22" name="Image 2" descr="preencoded.png"/>
          <p:cNvPicPr>
            <a:picLocks noChangeAspect="1"/>
          </p:cNvPicPr>
          <p:nvPr/>
        </p:nvPicPr>
        <p:blipFill>
          <a:blip r:embed="rId5"/>
          <a:stretch>
            <a:fillRect/>
          </a:stretch>
        </p:blipFill>
        <p:spPr>
          <a:xfrm>
            <a:off x="6635344" y="3145536"/>
            <a:ext cx="402336" cy="402336"/>
          </a:xfrm>
          <a:prstGeom prst="rect">
            <a:avLst/>
          </a:prstGeom>
        </p:spPr>
      </p:pic>
      <p:sp>
        <p:nvSpPr>
          <p:cNvPr id="23" name="Text 18"/>
          <p:cNvSpPr txBox="1"/>
          <p:nvPr/>
        </p:nvSpPr>
        <p:spPr>
          <a:xfrm>
            <a:off x="6507328"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3D 프린터로 직접 제작</a:t>
            </a:r>
            <a:endParaRPr lang="en-US" sz="1600" dirty="0"/>
          </a:p>
        </p:txBody>
      </p:sp>
      <p:sp>
        <p:nvSpPr>
          <p:cNvPr id="24" name="Text 19"/>
          <p:cNvSpPr txBox="1"/>
          <p:nvPr/>
        </p:nvSpPr>
        <p:spPr>
          <a:xfrm>
            <a:off x="6461608"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건반·레버·틀은 PETG로 출력하고 금속 부품만 사서 조립, 부러진 건반은 그 한 개만 예비 건반으로 교체 가능</a:t>
            </a:r>
            <a:endParaRPr lang="en-US" sz="1250" dirty="0"/>
          </a:p>
        </p:txBody>
      </p:sp>
      <p:sp>
        <p:nvSpPr>
          <p:cNvPr id="25" name="Shape 20"/>
          <p:cNvSpPr/>
          <p:nvPr/>
        </p:nvSpPr>
        <p:spPr>
          <a:xfrm>
            <a:off x="9075191" y="2743200"/>
            <a:ext cx="2567864" cy="3154680"/>
          </a:xfrm>
          <a:prstGeom prst="roundRect">
            <a:avLst>
              <a:gd name="adj" fmla="val 2849"/>
            </a:avLst>
          </a:prstGeom>
          <a:solidFill>
            <a:srgbClr val="FBE9E4"/>
          </a:solidFill>
          <a:ln w="12700">
            <a:solidFill>
              <a:srgbClr val="FBE9E4"/>
            </a:solidFill>
            <a:prstDash val="solid"/>
          </a:ln>
        </p:spPr>
        <p:txBody>
          <a:bodyPr/>
          <a:lstStyle/>
          <a:p>
            <a:endParaRPr lang="en-KR"/>
          </a:p>
        </p:txBody>
      </p:sp>
      <p:sp>
        <p:nvSpPr>
          <p:cNvPr id="26" name="Shape 21"/>
          <p:cNvSpPr/>
          <p:nvPr/>
        </p:nvSpPr>
        <p:spPr>
          <a:xfrm>
            <a:off x="9349511" y="3017520"/>
            <a:ext cx="658368" cy="658368"/>
          </a:xfrm>
          <a:prstGeom prst="ellipse">
            <a:avLst/>
          </a:prstGeom>
          <a:solidFill>
            <a:srgbClr val="FFFFFF"/>
          </a:solidFill>
          <a:ln w="12700">
            <a:solidFill>
              <a:srgbClr val="FFFFFF"/>
            </a:solidFill>
            <a:prstDash val="solid"/>
          </a:ln>
        </p:spPr>
        <p:txBody>
          <a:bodyPr/>
          <a:lstStyle/>
          <a:p>
            <a:endParaRPr lang="en-KR"/>
          </a:p>
        </p:txBody>
      </p:sp>
      <p:pic>
        <p:nvPicPr>
          <p:cNvPr id="27" name="Image 3" descr="preencoded.png"/>
          <p:cNvPicPr>
            <a:picLocks noChangeAspect="1"/>
          </p:cNvPicPr>
          <p:nvPr/>
        </p:nvPicPr>
        <p:blipFill>
          <a:blip r:embed="rId6"/>
          <a:stretch>
            <a:fillRect/>
          </a:stretch>
        </p:blipFill>
        <p:spPr>
          <a:xfrm>
            <a:off x="9477527" y="3145536"/>
            <a:ext cx="402336" cy="402336"/>
          </a:xfrm>
          <a:prstGeom prst="rect">
            <a:avLst/>
          </a:prstGeom>
        </p:spPr>
      </p:pic>
      <p:sp>
        <p:nvSpPr>
          <p:cNvPr id="28" name="Text 22"/>
          <p:cNvSpPr txBox="1"/>
          <p:nvPr/>
        </p:nvSpPr>
        <p:spPr>
          <a:xfrm>
            <a:off x="9349511"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피아노로 하는 리듬게임</a:t>
            </a:r>
            <a:endParaRPr lang="en-US" sz="1600" dirty="0"/>
          </a:p>
        </p:txBody>
      </p:sp>
      <p:sp>
        <p:nvSpPr>
          <p:cNvPr id="29" name="Text 23"/>
          <p:cNvSpPr txBox="1"/>
          <p:nvPr/>
        </p:nvSpPr>
        <p:spPr>
          <a:xfrm>
            <a:off x="9303791"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완성한 88건반을 그대로 </a:t>
            </a:r>
            <a:r>
              <a:rPr lang="en-US" sz="1250" dirty="0" err="1">
                <a:solidFill>
                  <a:srgbClr val="444A54"/>
                </a:solidFill>
                <a:latin typeface="Apple SD Gothic Neo" pitchFamily="34" charset="0"/>
                <a:ea typeface="Apple SD Gothic Neo" pitchFamily="34" charset="-122"/>
                <a:cs typeface="Apple SD Gothic Neo" pitchFamily="34" charset="-120"/>
              </a:rPr>
              <a:t>컨트롤러로</a:t>
            </a:r>
            <a:r>
              <a:rPr lang="en-US" sz="1250" dirty="0">
                <a:solidFill>
                  <a:srgbClr val="444A54"/>
                </a:solidFill>
                <a:latin typeface="Apple SD Gothic Neo" pitchFamily="34" charset="0"/>
                <a:ea typeface="Apple SD Gothic Neo" pitchFamily="34" charset="-122"/>
                <a:cs typeface="Apple SD Gothic Neo" pitchFamily="34" charset="-120"/>
              </a:rPr>
              <a:t> </a:t>
            </a:r>
            <a:r>
              <a:rPr lang="ko-KR" altLang="en-US" sz="1250" dirty="0">
                <a:solidFill>
                  <a:srgbClr val="444A54"/>
                </a:solidFill>
                <a:latin typeface="Apple SD Gothic Neo" pitchFamily="34" charset="0"/>
                <a:ea typeface="Apple SD Gothic Neo" pitchFamily="34" charset="-122"/>
                <a:cs typeface="Apple SD Gothic Neo" pitchFamily="34" charset="-120"/>
              </a:rPr>
              <a:t>사용</a:t>
            </a:r>
            <a:r>
              <a:rPr lang="en-US" altLang="ko-KR" sz="1250" dirty="0">
                <a:solidFill>
                  <a:srgbClr val="444A54"/>
                </a:solidFill>
                <a:latin typeface="Apple SD Gothic Neo" pitchFamily="34" charset="0"/>
                <a:ea typeface="Apple SD Gothic Neo" pitchFamily="34" charset="-122"/>
                <a:cs typeface="Apple SD Gothic Neo" pitchFamily="34" charset="-120"/>
              </a:rPr>
              <a:t>.</a:t>
            </a:r>
            <a:r>
              <a:rPr lang="en-US" sz="1250" dirty="0">
                <a:solidFill>
                  <a:srgbClr val="444A54"/>
                </a:solidFill>
                <a:latin typeface="Apple SD Gothic Neo" pitchFamily="34" charset="0"/>
                <a:ea typeface="Apple SD Gothic Neo" pitchFamily="34" charset="-122"/>
                <a:cs typeface="Apple SD Gothic Neo" pitchFamily="34" charset="-120"/>
              </a:rPr>
              <a:t> 내려오는 노트를 치고, 흑건 레인, 홀드, </a:t>
            </a:r>
            <a:r>
              <a:rPr lang="en-US" sz="1250" dirty="0" err="1">
                <a:solidFill>
                  <a:srgbClr val="444A54"/>
                </a:solidFill>
                <a:latin typeface="Apple SD Gothic Neo" pitchFamily="34" charset="0"/>
                <a:ea typeface="Apple SD Gothic Neo" pitchFamily="34" charset="-122"/>
                <a:cs typeface="Apple SD Gothic Neo" pitchFamily="34" charset="-120"/>
              </a:rPr>
              <a:t>세기</a:t>
            </a:r>
            <a:r>
              <a:rPr lang="en-US" sz="1250" dirty="0">
                <a:solidFill>
                  <a:srgbClr val="444A54"/>
                </a:solidFill>
                <a:latin typeface="Apple SD Gothic Neo" pitchFamily="34" charset="0"/>
                <a:ea typeface="Apple SD Gothic Neo" pitchFamily="34" charset="-122"/>
                <a:cs typeface="Apple SD Gothic Neo" pitchFamily="34" charset="-120"/>
              </a:rPr>
              <a:t> </a:t>
            </a:r>
            <a:r>
              <a:rPr lang="en-US" sz="1250" dirty="0" err="1">
                <a:solidFill>
                  <a:srgbClr val="444A54"/>
                </a:solidFill>
                <a:latin typeface="Apple SD Gothic Neo" pitchFamily="34" charset="0"/>
                <a:ea typeface="Apple SD Gothic Neo" pitchFamily="34" charset="-122"/>
                <a:cs typeface="Apple SD Gothic Neo" pitchFamily="34" charset="-120"/>
              </a:rPr>
              <a:t>기믹</a:t>
            </a:r>
            <a:r>
              <a:rPr lang="ko-KR" altLang="en-US" sz="1250" dirty="0">
                <a:solidFill>
                  <a:srgbClr val="444A54"/>
                </a:solidFill>
                <a:latin typeface="Apple SD Gothic Neo" pitchFamily="34" charset="0"/>
                <a:ea typeface="Apple SD Gothic Neo" pitchFamily="34" charset="-122"/>
                <a:cs typeface="Apple SD Gothic Neo" pitchFamily="34" charset="-120"/>
              </a:rPr>
              <a:t> 존재</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1단계 피아노 → 2단계 리듬게임</a:t>
            </a:r>
            <a:endParaRPr lang="en-US" sz="2800" dirty="0"/>
          </a:p>
        </p:txBody>
      </p:sp>
      <p:sp>
        <p:nvSpPr>
          <p:cNvPr id="7" name="Shape 5"/>
          <p:cNvSpPr/>
          <p:nvPr/>
        </p:nvSpPr>
        <p:spPr>
          <a:xfrm>
            <a:off x="548640" y="2011680"/>
            <a:ext cx="4892040" cy="3520440"/>
          </a:xfrm>
          <a:prstGeom prst="roundRect">
            <a:avLst>
              <a:gd name="adj" fmla="val 2078"/>
            </a:avLst>
          </a:prstGeom>
          <a:solidFill>
            <a:srgbClr val="121317"/>
          </a:solidFill>
          <a:ln w="12700">
            <a:solidFill>
              <a:srgbClr val="121317"/>
            </a:solidFill>
            <a:prstDash val="solid"/>
          </a:ln>
        </p:spPr>
        <p:txBody>
          <a:bodyPr/>
          <a:lstStyle/>
          <a:p>
            <a:endParaRPr lang="en-KR"/>
          </a:p>
        </p:txBody>
      </p:sp>
      <p:sp>
        <p:nvSpPr>
          <p:cNvPr id="8" name="Text 6"/>
          <p:cNvSpPr txBox="1"/>
          <p:nvPr/>
        </p:nvSpPr>
        <p:spPr>
          <a:xfrm>
            <a:off x="868680" y="2286000"/>
            <a:ext cx="1371600"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1단계</a:t>
            </a:r>
            <a:endParaRPr lang="en-US" sz="1400" dirty="0"/>
          </a:p>
        </p:txBody>
      </p:sp>
      <p:sp>
        <p:nvSpPr>
          <p:cNvPr id="9" name="Text 7"/>
          <p:cNvSpPr txBox="1"/>
          <p:nvPr/>
        </p:nvSpPr>
        <p:spPr>
          <a:xfrm>
            <a:off x="868680" y="2606040"/>
            <a:ext cx="4251960" cy="457200"/>
          </a:xfrm>
          <a:prstGeom prst="rect">
            <a:avLst/>
          </a:prstGeom>
          <a:noFill/>
          <a:ln/>
        </p:spPr>
        <p:txBody>
          <a:bodyPr wrap="square" lIns="0" tIns="0" rIns="0" bIns="0" rtlCol="0" anchor="t"/>
          <a:lstStyle/>
          <a:p>
            <a:pPr marL="0" indent="0">
              <a:buNone/>
            </a:pPr>
            <a:r>
              <a:rPr lang="en-US" sz="2100" b="1" dirty="0">
                <a:solidFill>
                  <a:srgbClr val="FFFFFF"/>
                </a:solidFill>
                <a:latin typeface="Apple SD Gothic Neo" pitchFamily="34" charset="0"/>
                <a:ea typeface="Apple SD Gothic Neo" pitchFamily="34" charset="-122"/>
                <a:cs typeface="Apple SD Gothic Neo" pitchFamily="34" charset="-120"/>
              </a:rPr>
              <a:t>피아노 만들기 (하드웨어)</a:t>
            </a:r>
            <a:endParaRPr lang="en-US" sz="2100" dirty="0"/>
          </a:p>
        </p:txBody>
      </p:sp>
      <p:sp>
        <p:nvSpPr>
          <p:cNvPr id="10" name="Shape 8"/>
          <p:cNvSpPr/>
          <p:nvPr/>
        </p:nvSpPr>
        <p:spPr>
          <a:xfrm>
            <a:off x="868680" y="3337560"/>
            <a:ext cx="457200" cy="457200"/>
          </a:xfrm>
          <a:prstGeom prst="ellipse">
            <a:avLst/>
          </a:prstGeom>
          <a:solidFill>
            <a:srgbClr val="FFFFFF"/>
          </a:solidFill>
          <a:ln w="12700">
            <a:solidFill>
              <a:srgbClr val="FFFFFF"/>
            </a:solidFill>
            <a:prstDash val="solid"/>
          </a:ln>
        </p:spPr>
        <p:txBody>
          <a:bodyPr/>
          <a:lstStyle/>
          <a:p>
            <a:endParaRPr lang="en-KR"/>
          </a:p>
        </p:txBody>
      </p:sp>
      <p:sp>
        <p:nvSpPr>
          <p:cNvPr id="11" name="Text 9"/>
          <p:cNvSpPr txBox="1"/>
          <p:nvPr/>
        </p:nvSpPr>
        <p:spPr>
          <a:xfrm>
            <a:off x="868680" y="3337560"/>
            <a:ext cx="457200" cy="457200"/>
          </a:xfrm>
          <a:prstGeom prst="rect">
            <a:avLst/>
          </a:prstGeom>
          <a:noFill/>
          <a:ln/>
        </p:spPr>
        <p:txBody>
          <a:bodyPr wrap="square" lIns="0" tIns="0" rIns="0" bIns="0" rtlCol="0" anchor="ctr"/>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1</a:t>
            </a:r>
            <a:endParaRPr lang="en-US" sz="1400" dirty="0"/>
          </a:p>
        </p:txBody>
      </p:sp>
      <p:sp>
        <p:nvSpPr>
          <p:cNvPr id="12" name="Text 10"/>
          <p:cNvSpPr txBox="1"/>
          <p:nvPr/>
        </p:nvSpPr>
        <p:spPr>
          <a:xfrm>
            <a:off x="1508760" y="3319272"/>
            <a:ext cx="3611880" cy="310896"/>
          </a:xfrm>
          <a:prstGeom prst="rect">
            <a:avLst/>
          </a:prstGeom>
          <a:noFill/>
          <a:ln/>
        </p:spPr>
        <p:txBody>
          <a:bodyPr wrap="square" lIns="0" tIns="0" rIns="0" bIns="0" rtlCol="0" anchor="t"/>
          <a:lstStyle/>
          <a:p>
            <a:pPr marL="0" indent="0">
              <a:buNone/>
            </a:pPr>
            <a:r>
              <a:rPr lang="en-US" sz="1500" b="1" dirty="0">
                <a:solidFill>
                  <a:srgbClr val="FFFFFF"/>
                </a:solidFill>
                <a:latin typeface="Apple SD Gothic Neo" pitchFamily="34" charset="0"/>
                <a:ea typeface="Apple SD Gothic Neo" pitchFamily="34" charset="-122"/>
                <a:cs typeface="Apple SD Gothic Neo" pitchFamily="34" charset="-120"/>
              </a:rPr>
              <a:t>하드웨어 설계 · 제작</a:t>
            </a:r>
            <a:endParaRPr lang="en-US" sz="1500" dirty="0"/>
          </a:p>
        </p:txBody>
      </p:sp>
      <p:sp>
        <p:nvSpPr>
          <p:cNvPr id="13" name="Text 11"/>
          <p:cNvSpPr txBox="1"/>
          <p:nvPr/>
        </p:nvSpPr>
        <p:spPr>
          <a:xfrm>
            <a:off x="1508760" y="3639312"/>
            <a:ext cx="3611880" cy="457200"/>
          </a:xfrm>
          <a:prstGeom prst="rect">
            <a:avLst/>
          </a:prstGeom>
          <a:noFill/>
          <a:ln/>
        </p:spPr>
        <p:txBody>
          <a:bodyPr wrap="square" lIns="0" tIns="0" rIns="0" bIns="0" rtlCol="0" anchor="t"/>
          <a:lstStyle/>
          <a:p>
            <a:pPr marL="0" indent="0">
              <a:buNone/>
            </a:pPr>
            <a:r>
              <a:rPr lang="en-US" sz="1200" dirty="0" err="1">
                <a:solidFill>
                  <a:srgbClr val="B9BEC7"/>
                </a:solidFill>
                <a:latin typeface="Apple SD Gothic Neo" pitchFamily="34" charset="0"/>
                <a:ea typeface="Apple SD Gothic Neo" pitchFamily="34" charset="-122"/>
                <a:cs typeface="Apple SD Gothic Neo" pitchFamily="34" charset="-120"/>
              </a:rPr>
              <a:t>건반</a:t>
            </a:r>
            <a:r>
              <a:rPr lang="ko-KR" altLang="en-US" sz="1200" dirty="0">
                <a:solidFill>
                  <a:srgbClr val="B9BEC7"/>
                </a:solidFill>
                <a:latin typeface="Apple SD Gothic Neo" pitchFamily="34" charset="0"/>
                <a:ea typeface="Apple SD Gothic Neo" pitchFamily="34" charset="-122"/>
                <a:cs typeface="Apple SD Gothic Neo" pitchFamily="34" charset="-120"/>
              </a:rPr>
              <a:t> 디자인</a:t>
            </a:r>
            <a:r>
              <a:rPr lang="en-US" altLang="ko-KR" sz="1200" dirty="0">
                <a:solidFill>
                  <a:srgbClr val="B9BEC7"/>
                </a:solidFill>
                <a:latin typeface="Apple SD Gothic Neo" pitchFamily="34" charset="0"/>
                <a:ea typeface="Apple SD Gothic Neo" pitchFamily="34" charset="-122"/>
                <a:cs typeface="Apple SD Gothic Neo" pitchFamily="34" charset="-120"/>
              </a:rPr>
              <a:t>/</a:t>
            </a:r>
            <a:r>
              <a:rPr lang="ko-KR" altLang="en-US" sz="1200" dirty="0">
                <a:solidFill>
                  <a:srgbClr val="B9BEC7"/>
                </a:solidFill>
                <a:latin typeface="Apple SD Gothic Neo" pitchFamily="34" charset="0"/>
                <a:ea typeface="Apple SD Gothic Neo" pitchFamily="34" charset="-122"/>
                <a:cs typeface="Apple SD Gothic Neo" pitchFamily="34" charset="-120"/>
              </a:rPr>
              <a:t>설계</a:t>
            </a:r>
            <a:r>
              <a:rPr lang="en-US" sz="1200" dirty="0">
                <a:solidFill>
                  <a:srgbClr val="B9BEC7"/>
                </a:solidFill>
                <a:latin typeface="Apple SD Gothic Neo" pitchFamily="34" charset="0"/>
                <a:ea typeface="Apple SD Gothic Neo" pitchFamily="34" charset="-122"/>
                <a:cs typeface="Apple SD Gothic Neo" pitchFamily="34" charset="-120"/>
              </a:rPr>
              <a:t> · 홀센서 · 본체 · 스피커</a:t>
            </a:r>
            <a:endParaRPr lang="en-US" sz="1200" dirty="0"/>
          </a:p>
        </p:txBody>
      </p:sp>
      <p:sp>
        <p:nvSpPr>
          <p:cNvPr id="14" name="Shape 12"/>
          <p:cNvSpPr/>
          <p:nvPr/>
        </p:nvSpPr>
        <p:spPr>
          <a:xfrm>
            <a:off x="868680" y="4251960"/>
            <a:ext cx="457200" cy="457200"/>
          </a:xfrm>
          <a:prstGeom prst="ellipse">
            <a:avLst/>
          </a:prstGeom>
          <a:solidFill>
            <a:srgbClr val="FFFFFF"/>
          </a:solidFill>
          <a:ln w="12700">
            <a:solidFill>
              <a:srgbClr val="FFFFFF"/>
            </a:solidFill>
            <a:prstDash val="solid"/>
          </a:ln>
        </p:spPr>
        <p:txBody>
          <a:bodyPr/>
          <a:lstStyle/>
          <a:p>
            <a:endParaRPr lang="en-KR"/>
          </a:p>
        </p:txBody>
      </p:sp>
      <p:sp>
        <p:nvSpPr>
          <p:cNvPr id="15" name="Text 13"/>
          <p:cNvSpPr txBox="1"/>
          <p:nvPr/>
        </p:nvSpPr>
        <p:spPr>
          <a:xfrm>
            <a:off x="868680" y="4251960"/>
            <a:ext cx="457200" cy="457200"/>
          </a:xfrm>
          <a:prstGeom prst="rect">
            <a:avLst/>
          </a:prstGeom>
          <a:noFill/>
          <a:ln/>
        </p:spPr>
        <p:txBody>
          <a:bodyPr wrap="square" lIns="0" tIns="0" rIns="0" bIns="0" rtlCol="0" anchor="ctr"/>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2</a:t>
            </a:r>
            <a:endParaRPr lang="en-US" sz="1400" dirty="0"/>
          </a:p>
        </p:txBody>
      </p:sp>
      <p:sp>
        <p:nvSpPr>
          <p:cNvPr id="16" name="Text 14"/>
          <p:cNvSpPr txBox="1"/>
          <p:nvPr/>
        </p:nvSpPr>
        <p:spPr>
          <a:xfrm>
            <a:off x="1508760" y="4233672"/>
            <a:ext cx="3611880" cy="310896"/>
          </a:xfrm>
          <a:prstGeom prst="rect">
            <a:avLst/>
          </a:prstGeom>
          <a:noFill/>
          <a:ln/>
        </p:spPr>
        <p:txBody>
          <a:bodyPr wrap="square" lIns="0" tIns="0" rIns="0" bIns="0" rtlCol="0" anchor="t"/>
          <a:lstStyle/>
          <a:p>
            <a:pPr marL="0" indent="0">
              <a:buNone/>
            </a:pPr>
            <a:r>
              <a:rPr lang="en-US" sz="1500" b="1" dirty="0">
                <a:solidFill>
                  <a:srgbClr val="FFFFFF"/>
                </a:solidFill>
                <a:latin typeface="Apple SD Gothic Neo" pitchFamily="34" charset="0"/>
                <a:ea typeface="Apple SD Gothic Neo" pitchFamily="34" charset="-122"/>
                <a:cs typeface="Apple SD Gothic Neo" pitchFamily="34" charset="-120"/>
              </a:rPr>
              <a:t>피아노 소리 테스트</a:t>
            </a:r>
            <a:endParaRPr lang="en-US" sz="1500" dirty="0"/>
          </a:p>
        </p:txBody>
      </p:sp>
      <p:sp>
        <p:nvSpPr>
          <p:cNvPr id="17" name="Text 15"/>
          <p:cNvSpPr txBox="1"/>
          <p:nvPr/>
        </p:nvSpPr>
        <p:spPr>
          <a:xfrm>
            <a:off x="1508760" y="4553712"/>
            <a:ext cx="3611880" cy="457200"/>
          </a:xfrm>
          <a:prstGeom prst="rect">
            <a:avLst/>
          </a:prstGeom>
          <a:noFill/>
          <a:ln/>
        </p:spPr>
        <p:txBody>
          <a:bodyPr wrap="square" lIns="0" tIns="0" rIns="0" bIns="0" rtlCol="0" anchor="t"/>
          <a:lstStyle/>
          <a:p>
            <a:pPr marL="0" indent="0">
              <a:buNone/>
            </a:pPr>
            <a:r>
              <a:rPr lang="en-US" sz="1200" dirty="0">
                <a:solidFill>
                  <a:srgbClr val="B9BEC7"/>
                </a:solidFill>
                <a:latin typeface="Apple SD Gothic Neo" pitchFamily="34" charset="0"/>
                <a:ea typeface="Apple SD Gothic Neo" pitchFamily="34" charset="-122"/>
                <a:cs typeface="Apple SD Gothic Neo" pitchFamily="34" charset="-120"/>
              </a:rPr>
              <a:t>건반 신호(MIDI) → Pi 5 음원 → 스피커 · 헤드폰</a:t>
            </a:r>
            <a:endParaRPr lang="en-US" sz="1200" dirty="0"/>
          </a:p>
        </p:txBody>
      </p:sp>
      <p:sp>
        <p:nvSpPr>
          <p:cNvPr id="18" name="Text 16"/>
          <p:cNvSpPr txBox="1"/>
          <p:nvPr/>
        </p:nvSpPr>
        <p:spPr>
          <a:xfrm>
            <a:off x="868680" y="4965192"/>
            <a:ext cx="4251960" cy="320040"/>
          </a:xfrm>
          <a:prstGeom prst="rect">
            <a:avLst/>
          </a:prstGeom>
          <a:noFill/>
          <a:ln/>
        </p:spPr>
        <p:txBody>
          <a:bodyPr wrap="square" lIns="0" tIns="0" rIns="0" bIns="0" rtlCol="0" anchor="t"/>
          <a:lstStyle/>
          <a:p>
            <a:pPr marL="0" indent="0">
              <a:buNone/>
            </a:pPr>
            <a:r>
              <a:rPr lang="en-US" sz="1300" b="1" dirty="0">
                <a:solidFill>
                  <a:srgbClr val="FFFFFF"/>
                </a:solidFill>
                <a:latin typeface="Apple SD Gothic Neo" pitchFamily="34" charset="0"/>
                <a:ea typeface="Apple SD Gothic Neo" pitchFamily="34" charset="-122"/>
                <a:cs typeface="Apple SD Gothic Neo" pitchFamily="34" charset="-120"/>
              </a:rPr>
              <a:t>결과: 88건반 디지털 피아노 = USB-MIDI 컨트롤러</a:t>
            </a:r>
            <a:endParaRPr lang="en-US" sz="1300" dirty="0"/>
          </a:p>
        </p:txBody>
      </p:sp>
      <p:sp>
        <p:nvSpPr>
          <p:cNvPr id="19" name="Shape 17"/>
          <p:cNvSpPr/>
          <p:nvPr/>
        </p:nvSpPr>
        <p:spPr>
          <a:xfrm>
            <a:off x="6751015" y="2011680"/>
            <a:ext cx="4892040" cy="3520440"/>
          </a:xfrm>
          <a:prstGeom prst="roundRect">
            <a:avLst>
              <a:gd name="adj" fmla="val 2078"/>
            </a:avLst>
          </a:prstGeom>
          <a:solidFill>
            <a:srgbClr val="FBE9E4"/>
          </a:solidFill>
          <a:ln w="12700">
            <a:solidFill>
              <a:srgbClr val="FBE9E4"/>
            </a:solidFill>
            <a:prstDash val="solid"/>
          </a:ln>
        </p:spPr>
        <p:txBody>
          <a:bodyPr/>
          <a:lstStyle/>
          <a:p>
            <a:endParaRPr lang="en-KR"/>
          </a:p>
        </p:txBody>
      </p:sp>
      <p:sp>
        <p:nvSpPr>
          <p:cNvPr id="20" name="Text 18"/>
          <p:cNvSpPr txBox="1"/>
          <p:nvPr/>
        </p:nvSpPr>
        <p:spPr>
          <a:xfrm>
            <a:off x="7071055" y="2286000"/>
            <a:ext cx="1371600"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2단계</a:t>
            </a:r>
            <a:endParaRPr lang="en-US" sz="1400" dirty="0"/>
          </a:p>
        </p:txBody>
      </p:sp>
      <p:sp>
        <p:nvSpPr>
          <p:cNvPr id="21" name="Text 19"/>
          <p:cNvSpPr txBox="1"/>
          <p:nvPr/>
        </p:nvSpPr>
        <p:spPr>
          <a:xfrm>
            <a:off x="7071055" y="2606040"/>
            <a:ext cx="4251960" cy="457200"/>
          </a:xfrm>
          <a:prstGeom prst="rect">
            <a:avLst/>
          </a:prstGeom>
          <a:noFill/>
          <a:ln/>
        </p:spPr>
        <p:txBody>
          <a:bodyPr wrap="square" lIns="0" tIns="0" rIns="0" bIns="0" rtlCol="0" anchor="t"/>
          <a:lstStyle/>
          <a:p>
            <a:pPr marL="0" indent="0">
              <a:buNone/>
            </a:pPr>
            <a:r>
              <a:rPr lang="en-US" sz="2100" b="1" dirty="0">
                <a:solidFill>
                  <a:srgbClr val="16181D"/>
                </a:solidFill>
                <a:latin typeface="Apple SD Gothic Neo" pitchFamily="34" charset="0"/>
                <a:ea typeface="Apple SD Gothic Neo" pitchFamily="34" charset="-122"/>
                <a:cs typeface="Apple SD Gothic Neo" pitchFamily="34" charset="-120"/>
              </a:rPr>
              <a:t>리듬게임 ‘Toccata’ 만들기</a:t>
            </a:r>
            <a:endParaRPr lang="en-US" sz="2100" dirty="0"/>
          </a:p>
        </p:txBody>
      </p:sp>
      <p:sp>
        <p:nvSpPr>
          <p:cNvPr id="22" name="Shape 20"/>
          <p:cNvSpPr/>
          <p:nvPr/>
        </p:nvSpPr>
        <p:spPr>
          <a:xfrm>
            <a:off x="7071055" y="3337560"/>
            <a:ext cx="457200" cy="457200"/>
          </a:xfrm>
          <a:prstGeom prst="ellipse">
            <a:avLst/>
          </a:prstGeom>
          <a:solidFill>
            <a:srgbClr val="16181D"/>
          </a:solidFill>
          <a:ln w="12700">
            <a:solidFill>
              <a:srgbClr val="FFFFFF"/>
            </a:solidFill>
            <a:prstDash val="solid"/>
          </a:ln>
        </p:spPr>
        <p:txBody>
          <a:bodyPr/>
          <a:lstStyle/>
          <a:p>
            <a:endParaRPr lang="en-KR"/>
          </a:p>
        </p:txBody>
      </p:sp>
      <p:sp>
        <p:nvSpPr>
          <p:cNvPr id="23" name="Text 21"/>
          <p:cNvSpPr txBox="1"/>
          <p:nvPr/>
        </p:nvSpPr>
        <p:spPr>
          <a:xfrm>
            <a:off x="7071055" y="33375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pple SD Gothic Neo" pitchFamily="34" charset="0"/>
                <a:ea typeface="Apple SD Gothic Neo" pitchFamily="34" charset="-122"/>
                <a:cs typeface="Apple SD Gothic Neo" pitchFamily="34" charset="-120"/>
              </a:rPr>
              <a:t>3</a:t>
            </a:r>
            <a:endParaRPr lang="en-US" sz="1400" dirty="0"/>
          </a:p>
        </p:txBody>
      </p:sp>
      <p:sp>
        <p:nvSpPr>
          <p:cNvPr id="24" name="Text 22"/>
          <p:cNvSpPr txBox="1"/>
          <p:nvPr/>
        </p:nvSpPr>
        <p:spPr>
          <a:xfrm>
            <a:off x="7711135" y="3319272"/>
            <a:ext cx="3611880" cy="310896"/>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연동</a:t>
            </a:r>
            <a:endParaRPr lang="en-US" sz="1500" dirty="0"/>
          </a:p>
        </p:txBody>
      </p:sp>
      <p:sp>
        <p:nvSpPr>
          <p:cNvPr id="25" name="Text 23"/>
          <p:cNvSpPr txBox="1"/>
          <p:nvPr/>
        </p:nvSpPr>
        <p:spPr>
          <a:xfrm>
            <a:off x="7711135" y="3639312"/>
            <a:ext cx="3611880" cy="457200"/>
          </a:xfrm>
          <a:prstGeom prst="rect">
            <a:avLst/>
          </a:prstGeom>
          <a:noFill/>
          <a:ln/>
        </p:spPr>
        <p:txBody>
          <a:bodyPr wrap="square" lIns="0" tIns="0" rIns="0" bIns="0" rtlCol="0" anchor="t"/>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건반 · 세기 · 페달 입력, 지연 보정, 레인 배치</a:t>
            </a:r>
            <a:endParaRPr lang="en-US" sz="1200" dirty="0"/>
          </a:p>
        </p:txBody>
      </p:sp>
      <p:sp>
        <p:nvSpPr>
          <p:cNvPr id="26" name="Shape 24"/>
          <p:cNvSpPr/>
          <p:nvPr/>
        </p:nvSpPr>
        <p:spPr>
          <a:xfrm>
            <a:off x="7071055" y="4251960"/>
            <a:ext cx="457200" cy="457200"/>
          </a:xfrm>
          <a:prstGeom prst="ellipse">
            <a:avLst/>
          </a:prstGeom>
          <a:solidFill>
            <a:srgbClr val="16181D"/>
          </a:solidFill>
          <a:ln w="12700">
            <a:solidFill>
              <a:srgbClr val="FFFFFF"/>
            </a:solidFill>
            <a:prstDash val="solid"/>
          </a:ln>
        </p:spPr>
        <p:txBody>
          <a:bodyPr/>
          <a:lstStyle/>
          <a:p>
            <a:endParaRPr lang="en-KR"/>
          </a:p>
        </p:txBody>
      </p:sp>
      <p:sp>
        <p:nvSpPr>
          <p:cNvPr id="27" name="Text 25"/>
          <p:cNvSpPr txBox="1"/>
          <p:nvPr/>
        </p:nvSpPr>
        <p:spPr>
          <a:xfrm>
            <a:off x="7071055" y="42519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pple SD Gothic Neo" pitchFamily="34" charset="0"/>
                <a:ea typeface="Apple SD Gothic Neo" pitchFamily="34" charset="-122"/>
                <a:cs typeface="Apple SD Gothic Neo" pitchFamily="34" charset="-120"/>
              </a:rPr>
              <a:t>4</a:t>
            </a:r>
            <a:endParaRPr lang="en-US" sz="1400" dirty="0"/>
          </a:p>
        </p:txBody>
      </p:sp>
      <p:sp>
        <p:nvSpPr>
          <p:cNvPr id="28" name="Text 26"/>
          <p:cNvSpPr txBox="1"/>
          <p:nvPr/>
        </p:nvSpPr>
        <p:spPr>
          <a:xfrm>
            <a:off x="7711135" y="4233672"/>
            <a:ext cx="3611880" cy="310896"/>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제작</a:t>
            </a:r>
            <a:endParaRPr lang="en-US" sz="1500" dirty="0"/>
          </a:p>
        </p:txBody>
      </p:sp>
      <p:sp>
        <p:nvSpPr>
          <p:cNvPr id="29" name="Text 27"/>
          <p:cNvSpPr txBox="1"/>
          <p:nvPr/>
        </p:nvSpPr>
        <p:spPr>
          <a:xfrm>
            <a:off x="7711135" y="4553712"/>
            <a:ext cx="3611880" cy="457200"/>
          </a:xfrm>
          <a:prstGeom prst="rect">
            <a:avLst/>
          </a:prstGeom>
          <a:noFill/>
          <a:ln/>
        </p:spPr>
        <p:txBody>
          <a:bodyPr wrap="square" lIns="0" tIns="0" rIns="0" bIns="0" rtlCol="0" anchor="t"/>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노트 · 판정 · 곡과 채보 · 스토리 · 아트</a:t>
            </a:r>
            <a:endParaRPr lang="en-US" sz="1200" dirty="0"/>
          </a:p>
        </p:txBody>
      </p:sp>
      <p:sp>
        <p:nvSpPr>
          <p:cNvPr id="30" name="Text 28"/>
          <p:cNvSpPr txBox="1"/>
          <p:nvPr/>
        </p:nvSpPr>
        <p:spPr>
          <a:xfrm>
            <a:off x="7071055" y="4965192"/>
            <a:ext cx="4251960" cy="320040"/>
          </a:xfrm>
          <a:prstGeom prst="rect">
            <a:avLst/>
          </a:prstGeom>
          <a:noFill/>
          <a:ln/>
        </p:spPr>
        <p:txBody>
          <a:bodyPr wrap="square" lIns="0" tIns="0" rIns="0" bIns="0" rtlCol="0" anchor="t"/>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결과: 피아노로 하는 리듬게임</a:t>
            </a:r>
            <a:endParaRPr lang="en-US" sz="1300" dirty="0"/>
          </a:p>
        </p:txBody>
      </p:sp>
      <p:sp>
        <p:nvSpPr>
          <p:cNvPr id="31" name="Shape 29"/>
          <p:cNvSpPr/>
          <p:nvPr/>
        </p:nvSpPr>
        <p:spPr>
          <a:xfrm>
            <a:off x="5641848" y="3771900"/>
            <a:ext cx="907999" cy="0"/>
          </a:xfrm>
          <a:prstGeom prst="line">
            <a:avLst/>
          </a:prstGeom>
          <a:noFill/>
          <a:ln w="38100">
            <a:solidFill>
              <a:srgbClr val="D9482B"/>
            </a:solidFill>
            <a:prstDash val="solid"/>
            <a:tailEnd type="triangle"/>
          </a:ln>
        </p:spPr>
        <p:txBody>
          <a:bodyPr/>
          <a:lstStyle/>
          <a:p>
            <a:endParaRPr lang="en-KR"/>
          </a:p>
        </p:txBody>
      </p:sp>
      <p:sp>
        <p:nvSpPr>
          <p:cNvPr id="32" name="Text 30"/>
          <p:cNvSpPr txBox="1"/>
          <p:nvPr/>
        </p:nvSpPr>
        <p:spPr>
          <a:xfrm>
            <a:off x="5486400" y="2994660"/>
            <a:ext cx="1218895" cy="640080"/>
          </a:xfrm>
          <a:prstGeom prst="rect">
            <a:avLst/>
          </a:prstGeom>
          <a:noFill/>
          <a:ln/>
        </p:spPr>
        <p:txBody>
          <a:bodyPr wrap="square" lIns="0" tIns="0" rIns="0" bIns="0" rtlCol="0" anchor="t"/>
          <a:lstStyle/>
          <a:p>
            <a:pPr marL="0" indent="0" algn="ctr">
              <a:buNone/>
            </a:pPr>
            <a:r>
              <a:rPr lang="en-US" sz="1150" b="1" dirty="0">
                <a:solidFill>
                  <a:srgbClr val="D9482B"/>
                </a:solidFill>
                <a:latin typeface="Apple SD Gothic Neo" pitchFamily="34" charset="0"/>
                <a:ea typeface="Apple SD Gothic Neo" pitchFamily="34" charset="-122"/>
                <a:cs typeface="Apple SD Gothic Neo" pitchFamily="34" charset="-120"/>
              </a:rPr>
              <a:t>건반 신호</a:t>
            </a:r>
            <a:endParaRPr lang="en-US" sz="1150" dirty="0"/>
          </a:p>
          <a:p>
            <a:pPr marL="0" indent="0" algn="ctr">
              <a:buNone/>
            </a:pPr>
            <a:r>
              <a:rPr lang="en-US" sz="1150" b="1" dirty="0">
                <a:solidFill>
                  <a:srgbClr val="D9482B"/>
                </a:solidFill>
                <a:latin typeface="Apple SD Gothic Neo" pitchFamily="34" charset="0"/>
                <a:ea typeface="Apple SD Gothic Neo" pitchFamily="34" charset="-122"/>
                <a:cs typeface="Apple SD Gothic Neo" pitchFamily="34" charset="-120"/>
              </a:rPr>
              <a:t>그대로</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5</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무엇을 참고했고, 무엇을 다르게 하나</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2820708373"/>
              </p:ext>
            </p:extLst>
          </p:nvPr>
        </p:nvGraphicFramePr>
        <p:xfrm>
          <a:off x="548640" y="1508760"/>
          <a:ext cx="11094415" cy="3803904"/>
        </p:xfrm>
        <a:graphic>
          <a:graphicData uri="http://schemas.openxmlformats.org/drawingml/2006/table">
            <a:tbl>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475488">
                <a:tc>
                  <a:txBody>
                    <a:bodyPr/>
                    <a:lstStyle/>
                    <a:p>
                      <a:pPr marL="0" indent="0">
                        <a:buNone/>
                      </a:pP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50" b="1" dirty="0">
                          <a:solidFill>
                            <a:srgbClr val="FFFFFF"/>
                          </a:solidFill>
                          <a:latin typeface="Apple SD Gothic Neo" pitchFamily="34" charset="0"/>
                          <a:ea typeface="Apple SD Gothic Neo" pitchFamily="34" charset="-122"/>
                          <a:cs typeface="Apple SD Gothic Neo" pitchFamily="34" charset="-120"/>
                        </a:rPr>
                        <a:t>입문형 디지털 피아노 (Yamaha P-145)</a:t>
                      </a: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50" b="1" dirty="0">
                          <a:solidFill>
                            <a:srgbClr val="FFFFFF"/>
                          </a:solidFill>
                          <a:latin typeface="Apple SD Gothic Neo" pitchFamily="34" charset="0"/>
                          <a:ea typeface="Apple SD Gothic Neo" pitchFamily="34" charset="-122"/>
                          <a:cs typeface="Apple SD Gothic Neo" pitchFamily="34" charset="-120"/>
                        </a:rPr>
                        <a:t>참고 영상 (dovetail studio)</a:t>
                      </a: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50" b="1" dirty="0">
                          <a:solidFill>
                            <a:srgbClr val="FFFFFF"/>
                          </a:solidFill>
                          <a:latin typeface="Apple SD Gothic Neo" pitchFamily="34" charset="0"/>
                          <a:ea typeface="Apple SD Gothic Neo" pitchFamily="34" charset="-122"/>
                          <a:cs typeface="Apple SD Gothic Neo" pitchFamily="34" charset="-120"/>
                        </a:rPr>
                        <a:t>Toccata</a:t>
                      </a: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D9482B"/>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 수</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88</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60 (5옥타브 시제품)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88 (A0 ~ C8)</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건반이 움직이는 방식</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해머 액션 (완제품)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휘는 4절 </a:t>
                      </a:r>
                      <a:r>
                        <a:rPr lang="en-US" sz="1200" dirty="0" err="1">
                          <a:solidFill>
                            <a:srgbClr val="444A54"/>
                          </a:solidFill>
                          <a:latin typeface="Apple SD Gothic Neo" pitchFamily="34" charset="0"/>
                          <a:ea typeface="Apple SD Gothic Neo" pitchFamily="34" charset="-122"/>
                          <a:cs typeface="Apple SD Gothic Neo" pitchFamily="34" charset="-120"/>
                        </a:rPr>
                        <a:t>링크</a:t>
                      </a:r>
                      <a:r>
                        <a:rPr lang="en-US" altLang="ko-KR" sz="1200" dirty="0">
                          <a:solidFill>
                            <a:srgbClr val="444A54"/>
                          </a:solidFill>
                          <a:latin typeface="Apple SD Gothic Neo" pitchFamily="34" charset="0"/>
                          <a:ea typeface="Apple SD Gothic Neo" pitchFamily="34" charset="-122"/>
                          <a:cs typeface="Apple SD Gothic Neo" pitchFamily="34" charset="-120"/>
                        </a:rPr>
                        <a:t>(</a:t>
                      </a:r>
                      <a:r>
                        <a:rPr lang="en-KR" sz="1200" dirty="0">
                          <a:solidFill>
                            <a:srgbClr val="444A54"/>
                          </a:solidFill>
                          <a:latin typeface="Apple SD Gothic Neo" pitchFamily="34" charset="0"/>
                          <a:ea typeface="Apple SD Gothic Neo" pitchFamily="34" charset="-122"/>
                          <a:cs typeface="Apple SD Gothic Neo" pitchFamily="34" charset="-120"/>
                        </a:rPr>
                        <a:t>Compliant Mechanism</a:t>
                      </a:r>
                      <a:r>
                        <a:rPr lang="en-US" altLang="ko-KR" sz="1200" dirty="0">
                          <a:solidFill>
                            <a:srgbClr val="444A54"/>
                          </a:solidFill>
                          <a:latin typeface="Apple SD Gothic Neo" pitchFamily="34" charset="0"/>
                          <a:ea typeface="Apple SD Gothic Neo" pitchFamily="34" charset="-122"/>
                          <a:cs typeface="Apple SD Gothic Neo" pitchFamily="34" charset="-120"/>
                        </a:rPr>
                        <a:t>)</a:t>
                      </a:r>
                      <a:r>
                        <a:rPr lang="en-US" sz="1200" dirty="0">
                          <a:solidFill>
                            <a:srgbClr val="444A54"/>
                          </a:solidFill>
                          <a:latin typeface="Apple SD Gothic Neo" pitchFamily="34" charset="0"/>
                          <a:ea typeface="Apple SD Gothic Neo" pitchFamily="34" charset="-122"/>
                          <a:cs typeface="Apple SD Gothic Neo" pitchFamily="34" charset="-120"/>
                        </a:rPr>
                        <a:t> + 무게 레버</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시소 건반 + 강철 </a:t>
                      </a:r>
                      <a:r>
                        <a:rPr lang="en-US" sz="1200" b="1" dirty="0" err="1">
                          <a:solidFill>
                            <a:srgbClr val="16181D"/>
                          </a:solidFill>
                          <a:latin typeface="Apple SD Gothic Neo" pitchFamily="34" charset="0"/>
                          <a:ea typeface="Apple SD Gothic Neo" pitchFamily="34" charset="-122"/>
                          <a:cs typeface="Apple SD Gothic Neo" pitchFamily="34" charset="-120"/>
                        </a:rPr>
                        <a:t>무게</a:t>
                      </a:r>
                      <a:r>
                        <a:rPr lang="en-US" sz="1200" b="1" dirty="0">
                          <a:solidFill>
                            <a:srgbClr val="16181D"/>
                          </a:solidFill>
                          <a:latin typeface="Apple SD Gothic Neo" pitchFamily="34" charset="0"/>
                          <a:ea typeface="Apple SD Gothic Neo" pitchFamily="34" charset="-122"/>
                          <a:cs typeface="Apple SD Gothic Neo" pitchFamily="34" charset="-120"/>
                        </a:rPr>
                        <a:t> </a:t>
                      </a:r>
                      <a:r>
                        <a:rPr lang="en-US" sz="1200" b="1" dirty="0" err="1">
                          <a:solidFill>
                            <a:srgbClr val="16181D"/>
                          </a:solidFill>
                          <a:latin typeface="Apple SD Gothic Neo" pitchFamily="34" charset="0"/>
                          <a:ea typeface="Apple SD Gothic Neo" pitchFamily="34" charset="-122"/>
                          <a:cs typeface="Apple SD Gothic Neo" pitchFamily="34" charset="-120"/>
                        </a:rPr>
                        <a:t>레</a:t>
                      </a:r>
                      <a:r>
                        <a:rPr lang="ko-KR" altLang="en-US" sz="1200" b="1" dirty="0" err="1">
                          <a:solidFill>
                            <a:srgbClr val="16181D"/>
                          </a:solidFill>
                          <a:latin typeface="Apple SD Gothic Neo" pitchFamily="34" charset="0"/>
                          <a:ea typeface="Apple SD Gothic Neo" pitchFamily="34" charset="-122"/>
                          <a:cs typeface="Apple SD Gothic Neo" pitchFamily="34" charset="-120"/>
                        </a:rPr>
                        <a:t>버</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누름 감지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세기 감지 (내장)</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적외선 </a:t>
                      </a:r>
                      <a:r>
                        <a:rPr lang="en-US" sz="1200" dirty="0" err="1">
                          <a:solidFill>
                            <a:srgbClr val="444A54"/>
                          </a:solidFill>
                          <a:latin typeface="Apple SD Gothic Neo" pitchFamily="34" charset="0"/>
                          <a:ea typeface="Apple SD Gothic Neo" pitchFamily="34" charset="-122"/>
                          <a:cs typeface="Apple SD Gothic Neo" pitchFamily="34" charset="-120"/>
                        </a:rPr>
                        <a:t>반사</a:t>
                      </a:r>
                      <a:r>
                        <a:rPr lang="en-US" sz="1200" dirty="0">
                          <a:solidFill>
                            <a:srgbClr val="444A54"/>
                          </a:solidFill>
                          <a:latin typeface="Apple SD Gothic Neo" pitchFamily="34" charset="0"/>
                          <a:ea typeface="Apple SD Gothic Neo" pitchFamily="34" charset="-122"/>
                          <a:cs typeface="Apple SD Gothic Neo" pitchFamily="34" charset="-120"/>
                        </a:rPr>
                        <a:t> </a:t>
                      </a:r>
                      <a:r>
                        <a:rPr lang="en-US" sz="1200" dirty="0" err="1">
                          <a:solidFill>
                            <a:srgbClr val="444A54"/>
                          </a:solidFill>
                          <a:latin typeface="Apple SD Gothic Neo" pitchFamily="34" charset="0"/>
                          <a:ea typeface="Apple SD Gothic Neo" pitchFamily="34" charset="-122"/>
                          <a:cs typeface="Apple SD Gothic Neo" pitchFamily="34" charset="-120"/>
                        </a:rPr>
                        <a:t>센서</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홀센서 + </a:t>
                      </a:r>
                      <a:r>
                        <a:rPr lang="en-US" sz="1200" b="1" dirty="0" err="1">
                          <a:solidFill>
                            <a:srgbClr val="16181D"/>
                          </a:solidFill>
                          <a:latin typeface="Apple SD Gothic Neo" pitchFamily="34" charset="0"/>
                          <a:ea typeface="Apple SD Gothic Neo" pitchFamily="34" charset="-122"/>
                          <a:cs typeface="Apple SD Gothic Neo" pitchFamily="34" charset="-120"/>
                        </a:rPr>
                        <a:t>자석</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전자부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완제품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직접 설계한 PCB + Pico 1개</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err="1">
                          <a:solidFill>
                            <a:srgbClr val="16181D"/>
                          </a:solidFill>
                          <a:latin typeface="Apple SD Gothic Neo" pitchFamily="34" charset="0"/>
                          <a:ea typeface="Apple SD Gothic Neo" pitchFamily="34" charset="-122"/>
                          <a:cs typeface="Apple SD Gothic Neo" pitchFamily="34" charset="-120"/>
                        </a:rPr>
                        <a:t>납땜</a:t>
                      </a:r>
                      <a:r>
                        <a:rPr lang="en-US" sz="1200" b="1" dirty="0">
                          <a:solidFill>
                            <a:srgbClr val="16181D"/>
                          </a:solidFill>
                          <a:latin typeface="Apple SD Gothic Neo" pitchFamily="34" charset="0"/>
                          <a:ea typeface="Apple SD Gothic Neo" pitchFamily="34" charset="-122"/>
                          <a:cs typeface="Apple SD Gothic Neo" pitchFamily="34" charset="-120"/>
                        </a:rPr>
                        <a:t> 만능기판, 모듈마다 USB-MIDI</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스피커</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7 W × 2</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약 21 W × 2 </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분리 · 휴대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한 덩어리</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파트 5종 분리 + 보조배터리</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리듬게임</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피아노 그대로 게임 컨트롤러 (Toccata)</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7"/>
                  </a:ext>
                </a:extLst>
              </a:tr>
            </a:tbl>
          </a:graphicData>
        </a:graphic>
      </p:graphicFrame>
      <p:sp>
        <p:nvSpPr>
          <p:cNvPr id="8" name="Text 5"/>
          <p:cNvSpPr txBox="1"/>
          <p:nvPr/>
        </p:nvSpPr>
        <p:spPr>
          <a:xfrm>
            <a:off x="548640" y="5870448"/>
            <a:ext cx="11094415" cy="411480"/>
          </a:xfrm>
          <a:prstGeom prst="rect">
            <a:avLst/>
          </a:prstGeom>
          <a:noFill/>
          <a:ln/>
        </p:spPr>
        <p:txBody>
          <a:bodyPr wrap="square" lIns="0" tIns="0" rIns="0" bIns="0" rtlCol="0" anchor="t"/>
          <a:lstStyle/>
          <a:p>
            <a:r>
              <a:rPr lang="ko-KR" altLang="en-US" sz="1300" b="1" dirty="0">
                <a:solidFill>
                  <a:srgbClr val="D9482B"/>
                </a:solidFill>
                <a:latin typeface="Apple SD Gothic Neo" pitchFamily="34" charset="0"/>
                <a:ea typeface="Apple SD Gothic Neo" pitchFamily="34" charset="-122"/>
                <a:cs typeface="Apple SD Gothic Neo" pitchFamily="34" charset="-120"/>
              </a:rPr>
              <a:t>참고 </a:t>
            </a:r>
            <a:r>
              <a:rPr lang="en-US" sz="1300" b="1" dirty="0" err="1">
                <a:solidFill>
                  <a:srgbClr val="D9482B"/>
                </a:solidFill>
                <a:latin typeface="Apple SD Gothic Neo" pitchFamily="34" charset="0"/>
                <a:ea typeface="Apple SD Gothic Neo" pitchFamily="34" charset="-122"/>
                <a:cs typeface="Apple SD Gothic Neo" pitchFamily="34" charset="-120"/>
              </a:rPr>
              <a:t>영상</a:t>
            </a:r>
            <a:r>
              <a:rPr lang="en-US" sz="1300" b="1" dirty="0">
                <a:solidFill>
                  <a:srgbClr val="D9482B"/>
                </a:solidFill>
                <a:latin typeface="Apple SD Gothic Neo" pitchFamily="34" charset="0"/>
                <a:ea typeface="Apple SD Gothic Neo" pitchFamily="34" charset="-122"/>
                <a:cs typeface="Apple SD Gothic Neo" pitchFamily="34" charset="-120"/>
              </a:rPr>
              <a:t> :  </a:t>
            </a:r>
            <a:r>
              <a:rPr lang="en-US" sz="1300" dirty="0">
                <a:solidFill>
                  <a:srgbClr val="444A54"/>
                </a:solidFill>
                <a:latin typeface="Apple SD Gothic Neo" pitchFamily="34" charset="0"/>
                <a:ea typeface="Apple SD Gothic Neo" pitchFamily="34" charset="-122"/>
                <a:cs typeface="Apple SD Gothic Neo" pitchFamily="34" charset="-120"/>
                <a:hlinkClick r:id="rId3"/>
              </a:rPr>
              <a:t>https://www.youtube.com/watch?v=BAQskCuPaeY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6</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시스템 구성 — 건반에서 소리와 게임 화면까지</a:t>
            </a:r>
            <a:endParaRPr lang="en-US" sz="2800" dirty="0"/>
          </a:p>
        </p:txBody>
      </p:sp>
      <p:sp>
        <p:nvSpPr>
          <p:cNvPr id="7" name="Shape 5"/>
          <p:cNvSpPr/>
          <p:nvPr/>
        </p:nvSpPr>
        <p:spPr>
          <a:xfrm>
            <a:off x="548640" y="1554480"/>
            <a:ext cx="2834640" cy="2331720"/>
          </a:xfrm>
          <a:prstGeom prst="roundRect">
            <a:avLst>
              <a:gd name="adj" fmla="val 3137"/>
            </a:avLst>
          </a:prstGeom>
          <a:solidFill>
            <a:srgbClr val="F3F4F6"/>
          </a:solidFill>
          <a:ln w="12700">
            <a:solidFill>
              <a:srgbClr val="F3F4F6"/>
            </a:solidFill>
            <a:prstDash val="solid"/>
          </a:ln>
        </p:spPr>
        <p:txBody>
          <a:bodyPr/>
          <a:lstStyle/>
          <a:p>
            <a:endParaRPr lang="en-KR"/>
          </a:p>
        </p:txBody>
      </p:sp>
      <p:sp>
        <p:nvSpPr>
          <p:cNvPr id="8" name="Text 6"/>
          <p:cNvSpPr txBox="1"/>
          <p:nvPr/>
        </p:nvSpPr>
        <p:spPr>
          <a:xfrm>
            <a:off x="731520" y="1664208"/>
            <a:ext cx="2560320"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  (O1 ~ O7)</a:t>
            </a:r>
            <a:endParaRPr lang="en-US" sz="1400" dirty="0"/>
          </a:p>
        </p:txBody>
      </p:sp>
      <p:sp>
        <p:nvSpPr>
          <p:cNvPr id="9" name="Text 7"/>
          <p:cNvSpPr txBox="1"/>
          <p:nvPr/>
        </p:nvSpPr>
        <p:spPr>
          <a:xfrm>
            <a:off x="731520" y="2057400"/>
            <a:ext cx="2560320" cy="17373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홀센서 12 + 자석 12</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16채널 </a:t>
            </a:r>
            <a:r>
              <a:rPr lang="en-US" altLang="ko-KR" sz="1250" dirty="0">
                <a:solidFill>
                  <a:srgbClr val="444A54"/>
                </a:solidFill>
                <a:latin typeface="Apple SD Gothic Neo" pitchFamily="34" charset="0"/>
                <a:ea typeface="Apple SD Gothic Neo" pitchFamily="34" charset="-122"/>
                <a:cs typeface="Apple SD Gothic Neo" pitchFamily="34" charset="-120"/>
              </a:rPr>
              <a:t>MUX</a:t>
            </a:r>
            <a:r>
              <a:rPr lang="en-US" sz="1250" dirty="0">
                <a:solidFill>
                  <a:srgbClr val="444A54"/>
                </a:solidFill>
                <a:latin typeface="Apple SD Gothic Neo" pitchFamily="34" charset="0"/>
                <a:ea typeface="Apple SD Gothic Neo" pitchFamily="34" charset="-122"/>
                <a:cs typeface="Apple SD Gothic Neo" pitchFamily="34" charset="-120"/>
              </a:rPr>
              <a:t> → RP2040-Zero</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USB-MIDI 장치 ‘Toccata O1~O7’</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끝 부속은 O1·O7에 연결</a:t>
            </a:r>
            <a:endParaRPr lang="en-US" sz="1250" dirty="0"/>
          </a:p>
        </p:txBody>
      </p:sp>
      <p:sp>
        <p:nvSpPr>
          <p:cNvPr id="10" name="Shape 8"/>
          <p:cNvSpPr/>
          <p:nvPr/>
        </p:nvSpPr>
        <p:spPr>
          <a:xfrm>
            <a:off x="548640" y="4160520"/>
            <a:ext cx="2834640" cy="914400"/>
          </a:xfrm>
          <a:prstGeom prst="roundRect">
            <a:avLst>
              <a:gd name="adj" fmla="val 8000"/>
            </a:avLst>
          </a:prstGeom>
          <a:solidFill>
            <a:srgbClr val="F3F4F6"/>
          </a:solidFill>
          <a:ln w="12700">
            <a:solidFill>
              <a:srgbClr val="F3F4F6"/>
            </a:solidFill>
            <a:prstDash val="solid"/>
          </a:ln>
        </p:spPr>
        <p:txBody>
          <a:bodyPr/>
          <a:lstStyle/>
          <a:p>
            <a:endParaRPr lang="en-KR"/>
          </a:p>
        </p:txBody>
      </p:sp>
      <p:sp>
        <p:nvSpPr>
          <p:cNvPr id="11" name="Text 9"/>
          <p:cNvSpPr txBox="1"/>
          <p:nvPr/>
        </p:nvSpPr>
        <p:spPr>
          <a:xfrm>
            <a:off x="731520" y="4251960"/>
            <a:ext cx="2560320" cy="301752"/>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12" name="Text 10"/>
          <p:cNvSpPr txBox="1"/>
          <p:nvPr/>
        </p:nvSpPr>
        <p:spPr>
          <a:xfrm>
            <a:off x="731520" y="4572000"/>
            <a:ext cx="2560320" cy="411480"/>
          </a:xfrm>
          <a:prstGeom prst="rect">
            <a:avLst/>
          </a:prstGeom>
          <a:noFill/>
          <a:ln/>
        </p:spPr>
        <p:txBody>
          <a:bodyPr wrap="square" lIns="0" tIns="0" rIns="0" bIns="0" rtlCol="0" anchor="t"/>
          <a:lstStyle/>
          <a:p>
            <a:pPr marL="0" indent="0">
              <a:buNone/>
            </a:pPr>
            <a:r>
              <a:rPr lang="en-US" sz="1250" dirty="0">
                <a:solidFill>
                  <a:srgbClr val="444A54"/>
                </a:solidFill>
                <a:latin typeface="Apple SD Gothic Neo" pitchFamily="34" charset="0"/>
                <a:ea typeface="Apple SD Gothic Neo" pitchFamily="34" charset="-122"/>
                <a:cs typeface="Apple SD Gothic Neo" pitchFamily="34" charset="-120"/>
              </a:rPr>
              <a:t>홀센서로 개조 → PED 보드</a:t>
            </a:r>
            <a:endParaRPr lang="en-US" sz="1250" dirty="0"/>
          </a:p>
        </p:txBody>
      </p:sp>
      <p:sp>
        <p:nvSpPr>
          <p:cNvPr id="13" name="Shape 11"/>
          <p:cNvSpPr/>
          <p:nvPr/>
        </p:nvSpPr>
        <p:spPr>
          <a:xfrm>
            <a:off x="4069080" y="2194560"/>
            <a:ext cx="1920240" cy="1051560"/>
          </a:xfrm>
          <a:prstGeom prst="roundRect">
            <a:avLst>
              <a:gd name="adj" fmla="val 6957"/>
            </a:avLst>
          </a:prstGeom>
          <a:solidFill>
            <a:srgbClr val="FFFFFF"/>
          </a:solidFill>
          <a:ln w="12700">
            <a:solidFill>
              <a:srgbClr val="16181D"/>
            </a:solidFill>
            <a:prstDash val="solid"/>
          </a:ln>
        </p:spPr>
        <p:txBody>
          <a:bodyPr/>
          <a:lstStyle/>
          <a:p>
            <a:endParaRPr lang="en-KR"/>
          </a:p>
        </p:txBody>
      </p:sp>
      <p:sp>
        <p:nvSpPr>
          <p:cNvPr id="14" name="Text 12"/>
          <p:cNvSpPr txBox="1"/>
          <p:nvPr/>
        </p:nvSpPr>
        <p:spPr>
          <a:xfrm>
            <a:off x="4069080" y="2304288"/>
            <a:ext cx="1920240" cy="320040"/>
          </a:xfrm>
          <a:prstGeom prst="rect">
            <a:avLst/>
          </a:prstGeom>
          <a:noFill/>
          <a:ln/>
        </p:spPr>
        <p:txBody>
          <a:bodyPr wrap="square" lIns="0" tIns="0" rIns="0" bIns="0" rtlCol="0" anchor="t"/>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USB 허브</a:t>
            </a:r>
            <a:endParaRPr lang="en-US" sz="1400" dirty="0"/>
          </a:p>
        </p:txBody>
      </p:sp>
      <p:sp>
        <p:nvSpPr>
          <p:cNvPr id="15" name="Text 13"/>
          <p:cNvSpPr txBox="1"/>
          <p:nvPr/>
        </p:nvSpPr>
        <p:spPr>
          <a:xfrm>
            <a:off x="4069080" y="2651760"/>
            <a:ext cx="1920240" cy="274320"/>
          </a:xfrm>
          <a:prstGeom prst="rect">
            <a:avLst/>
          </a:prstGeom>
          <a:noFill/>
          <a:ln/>
        </p:spPr>
        <p:txBody>
          <a:bodyPr wrap="square" lIns="0" tIns="0" rIns="0" bIns="0" rtlCol="0" anchor="t"/>
          <a:lstStyle/>
          <a:p>
            <a:pPr marL="0" indent="0" algn="ctr">
              <a:buNone/>
            </a:pPr>
            <a:r>
              <a:rPr lang="en-US" sz="1200" dirty="0">
                <a:solidFill>
                  <a:srgbClr val="767D88"/>
                </a:solidFill>
                <a:latin typeface="Apple SD Gothic Neo" pitchFamily="34" charset="0"/>
                <a:ea typeface="Apple SD Gothic Neo" pitchFamily="34" charset="-122"/>
                <a:cs typeface="Apple SD Gothic Neo" pitchFamily="34" charset="-120"/>
              </a:rPr>
              <a:t>10포트 · 전원형</a:t>
            </a:r>
            <a:endParaRPr lang="en-US" sz="1200" dirty="0"/>
          </a:p>
        </p:txBody>
      </p:sp>
      <p:sp>
        <p:nvSpPr>
          <p:cNvPr id="16" name="Shape 14"/>
          <p:cNvSpPr/>
          <p:nvPr/>
        </p:nvSpPr>
        <p:spPr>
          <a:xfrm>
            <a:off x="6629400" y="1783080"/>
            <a:ext cx="2331720" cy="1920240"/>
          </a:xfrm>
          <a:prstGeom prst="roundRect">
            <a:avLst>
              <a:gd name="adj" fmla="val 3810"/>
            </a:avLst>
          </a:prstGeom>
          <a:solidFill>
            <a:srgbClr val="121317"/>
          </a:solidFill>
          <a:ln w="12700">
            <a:solidFill>
              <a:srgbClr val="121317"/>
            </a:solidFill>
            <a:prstDash val="solid"/>
          </a:ln>
        </p:spPr>
        <p:txBody>
          <a:bodyPr/>
          <a:lstStyle/>
          <a:p>
            <a:endParaRPr lang="en-KR"/>
          </a:p>
        </p:txBody>
      </p:sp>
      <p:sp>
        <p:nvSpPr>
          <p:cNvPr id="17" name="Text 15"/>
          <p:cNvSpPr txBox="1"/>
          <p:nvPr/>
        </p:nvSpPr>
        <p:spPr>
          <a:xfrm>
            <a:off x="6629400" y="1920240"/>
            <a:ext cx="2331720" cy="365760"/>
          </a:xfrm>
          <a:prstGeom prst="rect">
            <a:avLst/>
          </a:prstGeom>
          <a:noFill/>
          <a:ln/>
        </p:spPr>
        <p:txBody>
          <a:bodyPr wrap="square" lIns="0" tIns="0" rIns="0" bIns="0" rtlCol="0" anchor="t"/>
          <a:lstStyle/>
          <a:p>
            <a:pPr marL="0" indent="0" algn="ctr">
              <a:buNone/>
            </a:pPr>
            <a:r>
              <a:rPr lang="en-US" sz="1600" b="1" dirty="0">
                <a:solidFill>
                  <a:srgbClr val="FFFFFF"/>
                </a:solidFill>
                <a:latin typeface="Apple SD Gothic Neo" pitchFamily="34" charset="0"/>
                <a:ea typeface="Apple SD Gothic Neo" pitchFamily="34" charset="-122"/>
                <a:cs typeface="Apple SD Gothic Neo" pitchFamily="34" charset="-120"/>
              </a:rPr>
              <a:t>Raspberry Pi 5</a:t>
            </a:r>
            <a:endParaRPr lang="en-US" sz="1600" dirty="0"/>
          </a:p>
        </p:txBody>
      </p:sp>
      <p:sp>
        <p:nvSpPr>
          <p:cNvPr id="18" name="Text 16"/>
          <p:cNvSpPr txBox="1"/>
          <p:nvPr/>
        </p:nvSpPr>
        <p:spPr>
          <a:xfrm>
            <a:off x="6720840" y="2359152"/>
            <a:ext cx="2148840" cy="1188720"/>
          </a:xfrm>
          <a:prstGeom prst="rect">
            <a:avLst/>
          </a:prstGeom>
          <a:noFill/>
          <a:ln/>
        </p:spPr>
        <p:txBody>
          <a:bodyPr wrap="square" lIns="0" tIns="0" rIns="0" bIns="0" rtlCol="0" anchor="t"/>
          <a:lstStyle/>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FluidSynth 피아노 음원</a:t>
            </a:r>
            <a:endParaRPr lang="en-US" sz="1250" dirty="0"/>
          </a:p>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 리듬게임 Toccata</a:t>
            </a:r>
            <a:endParaRPr lang="en-US" sz="1250" dirty="0"/>
          </a:p>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8개 MIDI 입력 병합</a:t>
            </a:r>
            <a:endParaRPr lang="en-US" sz="1250" dirty="0"/>
          </a:p>
        </p:txBody>
      </p:sp>
      <p:sp>
        <p:nvSpPr>
          <p:cNvPr id="19" name="Shape 17"/>
          <p:cNvSpPr/>
          <p:nvPr/>
        </p:nvSpPr>
        <p:spPr>
          <a:xfrm>
            <a:off x="6629400" y="4160520"/>
            <a:ext cx="2331720" cy="914400"/>
          </a:xfrm>
          <a:prstGeom prst="roundRect">
            <a:avLst>
              <a:gd name="adj" fmla="val 8000"/>
            </a:avLst>
          </a:prstGeom>
          <a:solidFill>
            <a:srgbClr val="FBE9E4"/>
          </a:solidFill>
          <a:ln w="12700">
            <a:solidFill>
              <a:srgbClr val="FBE9E4"/>
            </a:solidFill>
            <a:prstDash val="solid"/>
          </a:ln>
        </p:spPr>
        <p:txBody>
          <a:bodyPr/>
          <a:lstStyle/>
          <a:p>
            <a:endParaRPr lang="en-KR"/>
          </a:p>
        </p:txBody>
      </p:sp>
      <p:sp>
        <p:nvSpPr>
          <p:cNvPr id="20" name="Text 18"/>
          <p:cNvSpPr txBox="1"/>
          <p:nvPr/>
        </p:nvSpPr>
        <p:spPr>
          <a:xfrm>
            <a:off x="6766560" y="4233672"/>
            <a:ext cx="2103120" cy="301752"/>
          </a:xfrm>
          <a:prstGeom prst="rect">
            <a:avLst/>
          </a:prstGeom>
          <a:noFill/>
          <a:ln/>
        </p:spPr>
        <p:txBody>
          <a:bodyPr wrap="square" lIns="0" tIns="0" rIns="0" bIns="0" rtlCol="0" anchor="t"/>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모니터 · TV</a:t>
            </a:r>
            <a:endParaRPr lang="en-US" sz="1400" dirty="0"/>
          </a:p>
        </p:txBody>
      </p:sp>
      <p:sp>
        <p:nvSpPr>
          <p:cNvPr id="21" name="Text 19"/>
          <p:cNvSpPr txBox="1"/>
          <p:nvPr/>
        </p:nvSpPr>
        <p:spPr>
          <a:xfrm>
            <a:off x="6766560" y="4553712"/>
            <a:ext cx="2103120" cy="274320"/>
          </a:xfrm>
          <a:prstGeom prst="rect">
            <a:avLst/>
          </a:prstGeom>
          <a:noFill/>
          <a:ln/>
        </p:spPr>
        <p:txBody>
          <a:bodyPr wrap="square" lIns="0" tIns="0" rIns="0" bIns="0" rtlCol="0" anchor="t"/>
          <a:lstStyle/>
          <a:p>
            <a:pPr marL="0" indent="0" algn="ctr">
              <a:buNone/>
            </a:pPr>
            <a:r>
              <a:rPr lang="en-US" sz="1150" dirty="0">
                <a:solidFill>
                  <a:srgbClr val="444A54"/>
                </a:solidFill>
                <a:latin typeface="Apple SD Gothic Neo" pitchFamily="34" charset="0"/>
                <a:ea typeface="Apple SD Gothic Neo" pitchFamily="34" charset="-122"/>
                <a:cs typeface="Apple SD Gothic Neo" pitchFamily="34" charset="-120"/>
              </a:rPr>
              <a:t>리듬게임 화면 (2단계)</a:t>
            </a:r>
            <a:endParaRPr lang="en-US" sz="1150" dirty="0"/>
          </a:p>
        </p:txBody>
      </p:sp>
      <p:sp>
        <p:nvSpPr>
          <p:cNvPr id="22" name="Shape 20"/>
          <p:cNvSpPr/>
          <p:nvPr/>
        </p:nvSpPr>
        <p:spPr>
          <a:xfrm>
            <a:off x="7795260" y="3703320"/>
            <a:ext cx="0" cy="457200"/>
          </a:xfrm>
          <a:prstGeom prst="line">
            <a:avLst/>
          </a:prstGeom>
          <a:noFill/>
          <a:ln w="25400">
            <a:solidFill>
              <a:srgbClr val="D9482B"/>
            </a:solidFill>
            <a:prstDash val="solid"/>
            <a:tailEnd type="triangle"/>
          </a:ln>
        </p:spPr>
        <p:txBody>
          <a:bodyPr/>
          <a:lstStyle/>
          <a:p>
            <a:endParaRPr lang="en-KR"/>
          </a:p>
        </p:txBody>
      </p:sp>
      <p:sp>
        <p:nvSpPr>
          <p:cNvPr id="23" name="Text 21"/>
          <p:cNvSpPr txBox="1"/>
          <p:nvPr/>
        </p:nvSpPr>
        <p:spPr>
          <a:xfrm>
            <a:off x="7863840" y="3776472"/>
            <a:ext cx="731520" cy="274320"/>
          </a:xfrm>
          <a:prstGeom prst="rect">
            <a:avLst/>
          </a:prstGeom>
          <a:noFill/>
          <a:ln/>
        </p:spPr>
        <p:txBody>
          <a:bodyPr wrap="square" lIns="0" tIns="0" rIns="0" bIns="0" rtlCol="0" anchor="t"/>
          <a:lstStyle/>
          <a:p>
            <a:pPr marL="0" indent="0">
              <a:buNone/>
            </a:pPr>
            <a:r>
              <a:rPr lang="en-US" sz="1000" b="1" dirty="0">
                <a:solidFill>
                  <a:srgbClr val="D9482B"/>
                </a:solidFill>
                <a:latin typeface="Apple SD Gothic Neo" pitchFamily="34" charset="0"/>
                <a:ea typeface="Apple SD Gothic Neo" pitchFamily="34" charset="-122"/>
                <a:cs typeface="Apple SD Gothic Neo" pitchFamily="34" charset="-120"/>
              </a:rPr>
              <a:t>HDMI</a:t>
            </a:r>
            <a:endParaRPr lang="en-US" sz="1000" dirty="0"/>
          </a:p>
        </p:txBody>
      </p:sp>
      <p:sp>
        <p:nvSpPr>
          <p:cNvPr id="24" name="Shape 22"/>
          <p:cNvSpPr/>
          <p:nvPr/>
        </p:nvSpPr>
        <p:spPr>
          <a:xfrm>
            <a:off x="9601200" y="15544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25" name="Text 23"/>
          <p:cNvSpPr txBox="1"/>
          <p:nvPr/>
        </p:nvSpPr>
        <p:spPr>
          <a:xfrm>
            <a:off x="9710928" y="16276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USB-C DAC 동글</a:t>
            </a:r>
            <a:endParaRPr lang="en-US" sz="1300" dirty="0"/>
          </a:p>
        </p:txBody>
      </p:sp>
      <p:sp>
        <p:nvSpPr>
          <p:cNvPr id="26" name="Text 24"/>
          <p:cNvSpPr txBox="1"/>
          <p:nvPr/>
        </p:nvSpPr>
        <p:spPr>
          <a:xfrm>
            <a:off x="9710928" y="19385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디지털 → 아날로그</a:t>
            </a:r>
            <a:endParaRPr lang="en-US" sz="1100" dirty="0"/>
          </a:p>
        </p:txBody>
      </p:sp>
      <p:sp>
        <p:nvSpPr>
          <p:cNvPr id="27" name="Shape 25"/>
          <p:cNvSpPr/>
          <p:nvPr/>
        </p:nvSpPr>
        <p:spPr>
          <a:xfrm>
            <a:off x="10620756" y="2267712"/>
            <a:ext cx="0" cy="201168"/>
          </a:xfrm>
          <a:prstGeom prst="line">
            <a:avLst/>
          </a:prstGeom>
          <a:noFill/>
          <a:ln w="15875">
            <a:solidFill>
              <a:srgbClr val="767D88"/>
            </a:solidFill>
            <a:prstDash val="solid"/>
            <a:tailEnd type="triangle"/>
          </a:ln>
        </p:spPr>
        <p:txBody>
          <a:bodyPr/>
          <a:lstStyle/>
          <a:p>
            <a:endParaRPr lang="en-KR"/>
          </a:p>
        </p:txBody>
      </p:sp>
      <p:sp>
        <p:nvSpPr>
          <p:cNvPr id="28" name="Shape 26"/>
          <p:cNvSpPr/>
          <p:nvPr/>
        </p:nvSpPr>
        <p:spPr>
          <a:xfrm>
            <a:off x="9601200" y="24688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29" name="Text 27"/>
          <p:cNvSpPr txBox="1"/>
          <p:nvPr/>
        </p:nvSpPr>
        <p:spPr>
          <a:xfrm>
            <a:off x="9710928" y="25420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헤드폰 잭</a:t>
            </a:r>
            <a:endParaRPr lang="en-US" sz="1300" dirty="0"/>
          </a:p>
        </p:txBody>
      </p:sp>
      <p:sp>
        <p:nvSpPr>
          <p:cNvPr id="30" name="Text 28"/>
          <p:cNvSpPr txBox="1"/>
          <p:nvPr/>
        </p:nvSpPr>
        <p:spPr>
          <a:xfrm>
            <a:off x="9710928" y="28529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꽂으면 스피커 자동 차단</a:t>
            </a:r>
            <a:endParaRPr lang="en-US" sz="1100" dirty="0"/>
          </a:p>
        </p:txBody>
      </p:sp>
      <p:sp>
        <p:nvSpPr>
          <p:cNvPr id="31" name="Shape 29"/>
          <p:cNvSpPr/>
          <p:nvPr/>
        </p:nvSpPr>
        <p:spPr>
          <a:xfrm>
            <a:off x="10620756" y="3182112"/>
            <a:ext cx="0" cy="201168"/>
          </a:xfrm>
          <a:prstGeom prst="line">
            <a:avLst/>
          </a:prstGeom>
          <a:noFill/>
          <a:ln w="15875">
            <a:solidFill>
              <a:srgbClr val="767D88"/>
            </a:solidFill>
            <a:prstDash val="solid"/>
            <a:tailEnd type="triangle"/>
          </a:ln>
        </p:spPr>
        <p:txBody>
          <a:bodyPr/>
          <a:lstStyle/>
          <a:p>
            <a:endParaRPr lang="en-KR"/>
          </a:p>
        </p:txBody>
      </p:sp>
      <p:sp>
        <p:nvSpPr>
          <p:cNvPr id="32" name="Shape 30"/>
          <p:cNvSpPr/>
          <p:nvPr/>
        </p:nvSpPr>
        <p:spPr>
          <a:xfrm>
            <a:off x="9601200" y="33832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33" name="Text 31"/>
          <p:cNvSpPr txBox="1"/>
          <p:nvPr/>
        </p:nvSpPr>
        <p:spPr>
          <a:xfrm>
            <a:off x="9710928" y="34564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앰프 TPA3110</a:t>
            </a:r>
            <a:endParaRPr lang="en-US" sz="1300" dirty="0"/>
          </a:p>
        </p:txBody>
      </p:sp>
      <p:sp>
        <p:nvSpPr>
          <p:cNvPr id="34" name="Text 32"/>
          <p:cNvSpPr txBox="1"/>
          <p:nvPr/>
        </p:nvSpPr>
        <p:spPr>
          <a:xfrm>
            <a:off x="9710928" y="37673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 채널당 약 21 W</a:t>
            </a:r>
            <a:endParaRPr lang="en-US" sz="1100" dirty="0"/>
          </a:p>
        </p:txBody>
      </p:sp>
      <p:sp>
        <p:nvSpPr>
          <p:cNvPr id="35" name="Shape 33"/>
          <p:cNvSpPr/>
          <p:nvPr/>
        </p:nvSpPr>
        <p:spPr>
          <a:xfrm>
            <a:off x="10620756" y="4096512"/>
            <a:ext cx="0" cy="201168"/>
          </a:xfrm>
          <a:prstGeom prst="line">
            <a:avLst/>
          </a:prstGeom>
          <a:noFill/>
          <a:ln w="15875">
            <a:solidFill>
              <a:srgbClr val="767D88"/>
            </a:solidFill>
            <a:prstDash val="solid"/>
            <a:tailEnd type="triangle"/>
          </a:ln>
        </p:spPr>
        <p:txBody>
          <a:bodyPr/>
          <a:lstStyle/>
          <a:p>
            <a:endParaRPr lang="en-KR"/>
          </a:p>
        </p:txBody>
      </p:sp>
      <p:sp>
        <p:nvSpPr>
          <p:cNvPr id="36" name="Shape 34"/>
          <p:cNvSpPr/>
          <p:nvPr/>
        </p:nvSpPr>
        <p:spPr>
          <a:xfrm>
            <a:off x="9601200" y="4297680"/>
            <a:ext cx="2039112" cy="713232"/>
          </a:xfrm>
          <a:prstGeom prst="roundRect">
            <a:avLst>
              <a:gd name="adj" fmla="val 10256"/>
            </a:avLst>
          </a:prstGeom>
          <a:solidFill>
            <a:srgbClr val="FBE9E4"/>
          </a:solidFill>
          <a:ln w="12700">
            <a:solidFill>
              <a:srgbClr val="FBE9E4"/>
            </a:solidFill>
            <a:prstDash val="solid"/>
          </a:ln>
        </p:spPr>
        <p:txBody>
          <a:bodyPr/>
          <a:lstStyle/>
          <a:p>
            <a:endParaRPr lang="en-KR"/>
          </a:p>
        </p:txBody>
      </p:sp>
      <p:sp>
        <p:nvSpPr>
          <p:cNvPr id="37" name="Text 35"/>
          <p:cNvSpPr txBox="1"/>
          <p:nvPr/>
        </p:nvSpPr>
        <p:spPr>
          <a:xfrm>
            <a:off x="9710928" y="43708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스피커 × 2</a:t>
            </a:r>
            <a:endParaRPr lang="en-US" sz="1300" dirty="0"/>
          </a:p>
        </p:txBody>
      </p:sp>
      <p:sp>
        <p:nvSpPr>
          <p:cNvPr id="38" name="Text 36"/>
          <p:cNvSpPr txBox="1"/>
          <p:nvPr/>
        </p:nvSpPr>
        <p:spPr>
          <a:xfrm>
            <a:off x="9710928" y="46817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4인치 · 밀폐 상자</a:t>
            </a:r>
            <a:endParaRPr lang="en-US" sz="1100" dirty="0"/>
          </a:p>
        </p:txBody>
      </p:sp>
      <p:sp>
        <p:nvSpPr>
          <p:cNvPr id="39" name="Shape 37"/>
          <p:cNvSpPr/>
          <p:nvPr/>
        </p:nvSpPr>
        <p:spPr>
          <a:xfrm>
            <a:off x="3383280" y="2715768"/>
            <a:ext cx="685800" cy="0"/>
          </a:xfrm>
          <a:prstGeom prst="line">
            <a:avLst/>
          </a:prstGeom>
          <a:noFill/>
          <a:ln w="25400">
            <a:solidFill>
              <a:srgbClr val="D9482B"/>
            </a:solidFill>
            <a:prstDash val="solid"/>
            <a:tailEnd type="triangle"/>
          </a:ln>
        </p:spPr>
        <p:txBody>
          <a:bodyPr/>
          <a:lstStyle/>
          <a:p>
            <a:endParaRPr lang="en-KR"/>
          </a:p>
        </p:txBody>
      </p:sp>
      <p:sp>
        <p:nvSpPr>
          <p:cNvPr id="40" name="Text 38"/>
          <p:cNvSpPr txBox="1"/>
          <p:nvPr/>
        </p:nvSpPr>
        <p:spPr>
          <a:xfrm>
            <a:off x="3438144" y="2395728"/>
            <a:ext cx="64008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USB-C × 7</a:t>
            </a:r>
            <a:endParaRPr lang="en-US" sz="1000" dirty="0"/>
          </a:p>
        </p:txBody>
      </p:sp>
      <p:sp>
        <p:nvSpPr>
          <p:cNvPr id="41" name="Shape 39"/>
          <p:cNvSpPr/>
          <p:nvPr/>
        </p:nvSpPr>
        <p:spPr>
          <a:xfrm>
            <a:off x="3383280" y="4617720"/>
            <a:ext cx="1645920" cy="0"/>
          </a:xfrm>
          <a:prstGeom prst="line">
            <a:avLst/>
          </a:prstGeom>
          <a:noFill/>
          <a:ln w="25400">
            <a:solidFill>
              <a:srgbClr val="D9482B"/>
            </a:solidFill>
            <a:prstDash val="solid"/>
          </a:ln>
        </p:spPr>
        <p:txBody>
          <a:bodyPr/>
          <a:lstStyle/>
          <a:p>
            <a:endParaRPr lang="en-KR"/>
          </a:p>
        </p:txBody>
      </p:sp>
      <p:sp>
        <p:nvSpPr>
          <p:cNvPr id="42" name="Shape 40"/>
          <p:cNvSpPr/>
          <p:nvPr/>
        </p:nvSpPr>
        <p:spPr>
          <a:xfrm flipV="1">
            <a:off x="5029200" y="3246120"/>
            <a:ext cx="0" cy="1371600"/>
          </a:xfrm>
          <a:prstGeom prst="line">
            <a:avLst/>
          </a:prstGeom>
          <a:noFill/>
          <a:ln w="25400">
            <a:solidFill>
              <a:srgbClr val="D9482B"/>
            </a:solidFill>
            <a:prstDash val="solid"/>
            <a:tailEnd type="triangle"/>
          </a:ln>
        </p:spPr>
        <p:txBody>
          <a:bodyPr/>
          <a:lstStyle/>
          <a:p>
            <a:endParaRPr lang="en-KR"/>
          </a:p>
        </p:txBody>
      </p:sp>
      <p:sp>
        <p:nvSpPr>
          <p:cNvPr id="43" name="Text 41"/>
          <p:cNvSpPr txBox="1"/>
          <p:nvPr/>
        </p:nvSpPr>
        <p:spPr>
          <a:xfrm>
            <a:off x="5120640" y="3840480"/>
            <a:ext cx="548640" cy="274320"/>
          </a:xfrm>
          <a:prstGeom prst="rect">
            <a:avLst/>
          </a:prstGeom>
          <a:noFill/>
          <a:ln/>
        </p:spPr>
        <p:txBody>
          <a:bodyPr wrap="square" lIns="0" tIns="0" rIns="0" bIns="0" rtlCol="0" anchor="t"/>
          <a:lstStyle/>
          <a:p>
            <a:pPr marL="0" indent="0">
              <a:buNone/>
            </a:pPr>
            <a:r>
              <a:rPr lang="en-US" sz="1000" b="1" dirty="0">
                <a:solidFill>
                  <a:srgbClr val="D9482B"/>
                </a:solidFill>
                <a:latin typeface="Apple SD Gothic Neo" pitchFamily="34" charset="0"/>
                <a:ea typeface="Apple SD Gothic Neo" pitchFamily="34" charset="-122"/>
                <a:cs typeface="Apple SD Gothic Neo" pitchFamily="34" charset="-120"/>
              </a:rPr>
              <a:t>USB</a:t>
            </a:r>
            <a:endParaRPr lang="en-US" sz="1000" dirty="0"/>
          </a:p>
        </p:txBody>
      </p:sp>
      <p:sp>
        <p:nvSpPr>
          <p:cNvPr id="44" name="Shape 42"/>
          <p:cNvSpPr/>
          <p:nvPr/>
        </p:nvSpPr>
        <p:spPr>
          <a:xfrm>
            <a:off x="5989320" y="2715768"/>
            <a:ext cx="640080" cy="0"/>
          </a:xfrm>
          <a:prstGeom prst="line">
            <a:avLst/>
          </a:prstGeom>
          <a:noFill/>
          <a:ln w="25400">
            <a:solidFill>
              <a:srgbClr val="D9482B"/>
            </a:solidFill>
            <a:prstDash val="solid"/>
            <a:tailEnd type="triangle"/>
          </a:ln>
        </p:spPr>
        <p:txBody>
          <a:bodyPr/>
          <a:lstStyle/>
          <a:p>
            <a:endParaRPr lang="en-KR"/>
          </a:p>
        </p:txBody>
      </p:sp>
      <p:sp>
        <p:nvSpPr>
          <p:cNvPr id="45" name="Text 43"/>
          <p:cNvSpPr txBox="1"/>
          <p:nvPr/>
        </p:nvSpPr>
        <p:spPr>
          <a:xfrm>
            <a:off x="6035040" y="2395728"/>
            <a:ext cx="54864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MIDI</a:t>
            </a:r>
            <a:endParaRPr lang="en-US" sz="1000" dirty="0"/>
          </a:p>
        </p:txBody>
      </p:sp>
      <p:sp>
        <p:nvSpPr>
          <p:cNvPr id="46" name="Shape 44"/>
          <p:cNvSpPr/>
          <p:nvPr/>
        </p:nvSpPr>
        <p:spPr>
          <a:xfrm>
            <a:off x="8961120" y="1911096"/>
            <a:ext cx="640080" cy="0"/>
          </a:xfrm>
          <a:prstGeom prst="line">
            <a:avLst/>
          </a:prstGeom>
          <a:noFill/>
          <a:ln w="25400">
            <a:solidFill>
              <a:srgbClr val="D9482B"/>
            </a:solidFill>
            <a:prstDash val="solid"/>
            <a:tailEnd type="triangle"/>
          </a:ln>
        </p:spPr>
        <p:txBody>
          <a:bodyPr/>
          <a:lstStyle/>
          <a:p>
            <a:endParaRPr lang="en-KR"/>
          </a:p>
        </p:txBody>
      </p:sp>
      <p:sp>
        <p:nvSpPr>
          <p:cNvPr id="47" name="Text 45"/>
          <p:cNvSpPr txBox="1"/>
          <p:nvPr/>
        </p:nvSpPr>
        <p:spPr>
          <a:xfrm>
            <a:off x="8961120" y="1591056"/>
            <a:ext cx="64008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오디오</a:t>
            </a:r>
            <a:endParaRPr lang="en-US" sz="1000" dirty="0"/>
          </a:p>
        </p:txBody>
      </p:sp>
      <p:sp>
        <p:nvSpPr>
          <p:cNvPr id="48" name="Shape 46"/>
          <p:cNvSpPr/>
          <p:nvPr/>
        </p:nvSpPr>
        <p:spPr>
          <a:xfrm>
            <a:off x="548640" y="5440680"/>
            <a:ext cx="11094415" cy="822960"/>
          </a:xfrm>
          <a:prstGeom prst="roundRect">
            <a:avLst>
              <a:gd name="adj" fmla="val 8889"/>
            </a:avLst>
          </a:prstGeom>
          <a:solidFill>
            <a:srgbClr val="FFFFFF"/>
          </a:solidFill>
          <a:ln w="12700">
            <a:solidFill>
              <a:srgbClr val="DDE0E5"/>
            </a:solidFill>
            <a:prstDash val="solid"/>
          </a:ln>
        </p:spPr>
        <p:txBody>
          <a:bodyPr/>
          <a:lstStyle/>
          <a:p>
            <a:endParaRPr lang="en-KR"/>
          </a:p>
        </p:txBody>
      </p:sp>
      <p:sp>
        <p:nvSpPr>
          <p:cNvPr id="49" name="Text 47"/>
          <p:cNvSpPr txBox="1"/>
          <p:nvPr/>
        </p:nvSpPr>
        <p:spPr>
          <a:xfrm>
            <a:off x="777240" y="5440680"/>
            <a:ext cx="640080" cy="822960"/>
          </a:xfrm>
          <a:prstGeom prst="rect">
            <a:avLst/>
          </a:prstGeom>
          <a:noFill/>
          <a:ln/>
        </p:spPr>
        <p:txBody>
          <a:bodyPr wrap="square" lIns="0" tIns="0" rIns="0" bIns="0" rtlCol="0" anchor="ctr"/>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전원</a:t>
            </a:r>
            <a:endParaRPr lang="en-US" sz="1300" dirty="0"/>
          </a:p>
        </p:txBody>
      </p:sp>
      <p:sp>
        <p:nvSpPr>
          <p:cNvPr id="50" name="Text 48"/>
          <p:cNvSpPr txBox="1"/>
          <p:nvPr/>
        </p:nvSpPr>
        <p:spPr>
          <a:xfrm>
            <a:off x="1508760"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65 W 충전기 또는</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보조배터리 (PD 20 V 3.25 A 이상)</a:t>
            </a:r>
            <a:endParaRPr lang="en-US" sz="1250" dirty="0"/>
          </a:p>
        </p:txBody>
      </p:sp>
      <p:sp>
        <p:nvSpPr>
          <p:cNvPr id="51" name="Shape 49"/>
          <p:cNvSpPr/>
          <p:nvPr/>
        </p:nvSpPr>
        <p:spPr>
          <a:xfrm>
            <a:off x="3612566" y="5852160"/>
            <a:ext cx="402336" cy="0"/>
          </a:xfrm>
          <a:prstGeom prst="line">
            <a:avLst/>
          </a:prstGeom>
          <a:noFill/>
          <a:ln w="15875">
            <a:solidFill>
              <a:srgbClr val="767D88"/>
            </a:solidFill>
            <a:prstDash val="solid"/>
            <a:tailEnd type="triangle"/>
          </a:ln>
        </p:spPr>
        <p:txBody>
          <a:bodyPr/>
          <a:lstStyle/>
          <a:p>
            <a:endParaRPr lang="en-KR"/>
          </a:p>
        </p:txBody>
      </p:sp>
      <p:sp>
        <p:nvSpPr>
          <p:cNvPr id="52" name="Text 50"/>
          <p:cNvSpPr txBox="1"/>
          <p:nvPr/>
        </p:nvSpPr>
        <p:spPr>
          <a:xfrm>
            <a:off x="4088054"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PD 트리거</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USB-C → 20 V</a:t>
            </a:r>
            <a:endParaRPr lang="en-US" sz="1250" dirty="0"/>
          </a:p>
        </p:txBody>
      </p:sp>
      <p:sp>
        <p:nvSpPr>
          <p:cNvPr id="53" name="Shape 51"/>
          <p:cNvSpPr/>
          <p:nvPr/>
        </p:nvSpPr>
        <p:spPr>
          <a:xfrm>
            <a:off x="6191860" y="5852160"/>
            <a:ext cx="402336" cy="0"/>
          </a:xfrm>
          <a:prstGeom prst="line">
            <a:avLst/>
          </a:prstGeom>
          <a:noFill/>
          <a:ln w="15875">
            <a:solidFill>
              <a:srgbClr val="767D88"/>
            </a:solidFill>
            <a:prstDash val="solid"/>
            <a:tailEnd type="triangle"/>
          </a:ln>
        </p:spPr>
        <p:txBody>
          <a:bodyPr/>
          <a:lstStyle/>
          <a:p>
            <a:endParaRPr lang="en-KR"/>
          </a:p>
        </p:txBody>
      </p:sp>
      <p:sp>
        <p:nvSpPr>
          <p:cNvPr id="54" name="Text 52"/>
          <p:cNvSpPr txBox="1"/>
          <p:nvPr/>
        </p:nvSpPr>
        <p:spPr>
          <a:xfrm>
            <a:off x="6667348"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퓨즈 · 전원 스위치</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버스</a:t>
            </a:r>
            <a:endParaRPr lang="en-US" sz="1250" dirty="0"/>
          </a:p>
        </p:txBody>
      </p:sp>
      <p:sp>
        <p:nvSpPr>
          <p:cNvPr id="55" name="Shape 53"/>
          <p:cNvSpPr/>
          <p:nvPr/>
        </p:nvSpPr>
        <p:spPr>
          <a:xfrm>
            <a:off x="8771153" y="5852160"/>
            <a:ext cx="402336" cy="0"/>
          </a:xfrm>
          <a:prstGeom prst="line">
            <a:avLst/>
          </a:prstGeom>
          <a:noFill/>
          <a:ln w="15875">
            <a:solidFill>
              <a:srgbClr val="767D88"/>
            </a:solidFill>
            <a:prstDash val="solid"/>
            <a:tailEnd type="triangle"/>
          </a:ln>
        </p:spPr>
        <p:txBody>
          <a:bodyPr/>
          <a:lstStyle/>
          <a:p>
            <a:endParaRPr lang="en-KR"/>
          </a:p>
        </p:txBody>
      </p:sp>
      <p:sp>
        <p:nvSpPr>
          <p:cNvPr id="56" name="Text 54"/>
          <p:cNvSpPr txBox="1"/>
          <p:nvPr/>
        </p:nvSpPr>
        <p:spPr>
          <a:xfrm>
            <a:off x="9246641"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앰프는 20 V 그대로</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5.1 V 강압 → Pi 5 · USB 허브</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7</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err="1">
                <a:solidFill>
                  <a:srgbClr val="16181D"/>
                </a:solidFill>
                <a:latin typeface="Apple SD Gothic Neo" pitchFamily="34" charset="0"/>
                <a:ea typeface="Apple SD Gothic Neo" pitchFamily="34" charset="-122"/>
                <a:cs typeface="Apple SD Gothic Neo" pitchFamily="34" charset="-120"/>
              </a:rPr>
              <a:t>본체</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sz="2800" b="1" dirty="0" err="1">
                <a:solidFill>
                  <a:srgbClr val="16181D"/>
                </a:solidFill>
                <a:latin typeface="Apple SD Gothic Neo" pitchFamily="34" charset="0"/>
                <a:ea typeface="Apple SD Gothic Neo" pitchFamily="34" charset="-122"/>
                <a:cs typeface="Apple SD Gothic Neo" pitchFamily="34" charset="-120"/>
              </a:rPr>
              <a:t>구성</a:t>
            </a:r>
            <a:endParaRPr lang="en-US" sz="2800" dirty="0"/>
          </a:p>
        </p:txBody>
      </p:sp>
      <p:pic>
        <p:nvPicPr>
          <p:cNvPr id="7" name="Image 0" descr="/private/tmp/claude-501/-Users-kwg-Desktop-mydrive-project-Toccata/78323d34-2a2b-4f50-ae4c-82ce3905c7c6/scratchpad/ppt4/assets/w_plan.png"/>
          <p:cNvPicPr>
            <a:picLocks noChangeAspect="1"/>
          </p:cNvPicPr>
          <p:nvPr/>
        </p:nvPicPr>
        <p:blipFill>
          <a:blip r:embed="rId3"/>
          <a:stretch>
            <a:fillRect/>
          </a:stretch>
        </p:blipFill>
        <p:spPr>
          <a:xfrm>
            <a:off x="548640" y="1554480"/>
            <a:ext cx="7086600" cy="2680654"/>
          </a:xfrm>
          <a:prstGeom prst="rect">
            <a:avLst/>
          </a:prstGeom>
        </p:spPr>
      </p:pic>
      <p:sp>
        <p:nvSpPr>
          <p:cNvPr id="8" name="Text 5"/>
          <p:cNvSpPr txBox="1"/>
          <p:nvPr/>
        </p:nvSpPr>
        <p:spPr>
          <a:xfrm>
            <a:off x="548640" y="4308286"/>
            <a:ext cx="7086600" cy="256032"/>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전체 배치 평면도 (W1 r4.5 설계 도면 11에서 발췌, 단위 mm) — 구역 이름은 오른쪽 목록 참고</a:t>
            </a:r>
            <a:endParaRPr lang="en-US" sz="1000" dirty="0"/>
          </a:p>
        </p:txBody>
      </p:sp>
      <p:sp>
        <p:nvSpPr>
          <p:cNvPr id="9" name="Text 6"/>
          <p:cNvSpPr txBox="1"/>
          <p:nvPr/>
        </p:nvSpPr>
        <p:spPr>
          <a:xfrm>
            <a:off x="548640" y="5120640"/>
            <a:ext cx="2240280" cy="411480"/>
          </a:xfrm>
          <a:prstGeom prst="rect">
            <a:avLst/>
          </a:prstGeom>
          <a:noFill/>
          <a:ln/>
        </p:spPr>
        <p:txBody>
          <a:bodyPr wrap="square" lIns="0" tIns="0" rIns="0" bIns="0" rtlCol="0" anchor="t"/>
          <a:lstStyle/>
          <a:p>
            <a:pPr marL="0" indent="0">
              <a:buNone/>
            </a:pPr>
            <a:r>
              <a:rPr lang="en-US" sz="2000" b="1" dirty="0">
                <a:solidFill>
                  <a:srgbClr val="D9482B"/>
                </a:solidFill>
                <a:latin typeface="Apple SD Gothic Neo" pitchFamily="34" charset="0"/>
                <a:ea typeface="Apple SD Gothic Neo" pitchFamily="34" charset="-122"/>
                <a:cs typeface="Apple SD Gothic Neo" pitchFamily="34" charset="-120"/>
              </a:rPr>
              <a:t>1254 × 410 mm</a:t>
            </a:r>
            <a:endParaRPr lang="en-US" sz="2000" dirty="0"/>
          </a:p>
        </p:txBody>
      </p:sp>
      <p:sp>
        <p:nvSpPr>
          <p:cNvPr id="10" name="Text 7"/>
          <p:cNvSpPr txBox="1"/>
          <p:nvPr/>
        </p:nvSpPr>
        <p:spPr>
          <a:xfrm>
            <a:off x="548640" y="55321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전체 크기 (직사각형)</a:t>
            </a:r>
            <a:endParaRPr lang="en-US" sz="1200" dirty="0"/>
          </a:p>
        </p:txBody>
      </p:sp>
      <p:sp>
        <p:nvSpPr>
          <p:cNvPr id="11" name="Text 8"/>
          <p:cNvSpPr txBox="1"/>
          <p:nvPr/>
        </p:nvSpPr>
        <p:spPr>
          <a:xfrm>
            <a:off x="2926080" y="5120640"/>
            <a:ext cx="2240280" cy="411480"/>
          </a:xfrm>
          <a:prstGeom prst="rect">
            <a:avLst/>
          </a:prstGeom>
          <a:noFill/>
          <a:ln/>
        </p:spPr>
        <p:txBody>
          <a:bodyPr wrap="square" lIns="0" tIns="0" rIns="0" bIns="0" rtlCol="0" anchor="t"/>
          <a:lstStyle/>
          <a:p>
            <a:pPr marL="0" indent="0">
              <a:buNone/>
            </a:pPr>
            <a:r>
              <a:rPr lang="en-US" sz="2000" b="1" dirty="0">
                <a:solidFill>
                  <a:srgbClr val="D9482B"/>
                </a:solidFill>
                <a:latin typeface="Apple SD Gothic Neo" pitchFamily="34" charset="0"/>
                <a:ea typeface="Apple SD Gothic Neo" pitchFamily="34" charset="-122"/>
                <a:cs typeface="Apple SD Gothic Neo" pitchFamily="34" charset="-120"/>
              </a:rPr>
              <a:t>1.37 kg</a:t>
            </a:r>
            <a:endParaRPr lang="en-US" sz="2000" dirty="0"/>
          </a:p>
        </p:txBody>
      </p:sp>
      <p:sp>
        <p:nvSpPr>
          <p:cNvPr id="12" name="Text 9"/>
          <p:cNvSpPr txBox="1"/>
          <p:nvPr/>
        </p:nvSpPr>
        <p:spPr>
          <a:xfrm>
            <a:off x="2926080" y="55321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옥타브 모듈 하나</a:t>
            </a:r>
            <a:endParaRPr lang="en-US" sz="1200" dirty="0"/>
          </a:p>
        </p:txBody>
      </p:sp>
      <p:sp>
        <p:nvSpPr>
          <p:cNvPr id="13" name="Text 10"/>
          <p:cNvSpPr txBox="1"/>
          <p:nvPr/>
        </p:nvSpPr>
        <p:spPr>
          <a:xfrm>
            <a:off x="5303520" y="5120640"/>
            <a:ext cx="2240280" cy="411480"/>
          </a:xfrm>
          <a:prstGeom prst="rect">
            <a:avLst/>
          </a:prstGeom>
          <a:noFill/>
          <a:ln/>
        </p:spPr>
        <p:txBody>
          <a:bodyPr wrap="square" lIns="0" tIns="0" rIns="0" bIns="0" rtlCol="0" anchor="t"/>
          <a:lstStyle/>
          <a:p>
            <a:pPr marL="0" indent="0">
              <a:buNone/>
            </a:pPr>
            <a:r>
              <a:rPr lang="ko-KR" altLang="en-US" sz="2000" b="1" dirty="0">
                <a:solidFill>
                  <a:srgbClr val="D9482B"/>
                </a:solidFill>
                <a:latin typeface="Apple SD Gothic Neo" pitchFamily="34" charset="0"/>
                <a:ea typeface="Apple SD Gothic Neo" pitchFamily="34" charset="-122"/>
                <a:cs typeface="Apple SD Gothic Neo" pitchFamily="34" charset="-120"/>
              </a:rPr>
              <a:t>파트 간 납땜 없음</a:t>
            </a:r>
            <a:endParaRPr lang="en-US" sz="2000" dirty="0"/>
          </a:p>
        </p:txBody>
      </p:sp>
      <p:sp>
        <p:nvSpPr>
          <p:cNvPr id="14" name="Text 11"/>
          <p:cNvSpPr txBox="1"/>
          <p:nvPr/>
        </p:nvSpPr>
        <p:spPr>
          <a:xfrm>
            <a:off x="5303520" y="55321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파트 사이는 커넥터로만 연결</a:t>
            </a:r>
            <a:endParaRPr lang="en-US" sz="1200" dirty="0"/>
          </a:p>
        </p:txBody>
      </p:sp>
      <p:sp>
        <p:nvSpPr>
          <p:cNvPr id="15" name="Shape 12"/>
          <p:cNvSpPr/>
          <p:nvPr/>
        </p:nvSpPr>
        <p:spPr>
          <a:xfrm>
            <a:off x="8001000" y="1554480"/>
            <a:ext cx="365760" cy="365760"/>
          </a:xfrm>
          <a:prstGeom prst="ellipse">
            <a:avLst/>
          </a:prstGeom>
          <a:solidFill>
            <a:srgbClr val="16181D"/>
          </a:solidFill>
          <a:ln w="12700">
            <a:solidFill>
              <a:srgbClr val="16181D"/>
            </a:solidFill>
            <a:prstDash val="solid"/>
          </a:ln>
        </p:spPr>
        <p:txBody>
          <a:bodyPr/>
          <a:lstStyle/>
          <a:p>
            <a:endParaRPr lang="en-KR"/>
          </a:p>
        </p:txBody>
      </p:sp>
      <p:sp>
        <p:nvSpPr>
          <p:cNvPr id="16" name="Text 13"/>
          <p:cNvSpPr txBox="1"/>
          <p:nvPr/>
        </p:nvSpPr>
        <p:spPr>
          <a:xfrm>
            <a:off x="8001000" y="15544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1</a:t>
            </a:r>
            <a:endParaRPr lang="en-US" sz="1200" dirty="0"/>
          </a:p>
        </p:txBody>
      </p:sp>
      <p:sp>
        <p:nvSpPr>
          <p:cNvPr id="17" name="Text 14"/>
          <p:cNvSpPr txBox="1"/>
          <p:nvPr/>
        </p:nvSpPr>
        <p:spPr>
          <a:xfrm>
            <a:off x="8503920" y="15087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a:t>
            </a:r>
            <a:endParaRPr lang="en-US" sz="1400" dirty="0"/>
          </a:p>
        </p:txBody>
      </p:sp>
      <p:sp>
        <p:nvSpPr>
          <p:cNvPr id="18" name="Text 15"/>
          <p:cNvSpPr txBox="1"/>
          <p:nvPr/>
        </p:nvSpPr>
        <p:spPr>
          <a:xfrm>
            <a:off x="8503920" y="18288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도~시 12건반, 폭 164.5 mm. 도브테일로 위에서 끼우고 들어서 뺀다. 모듈끼리 전선 없음</a:t>
            </a:r>
            <a:endParaRPr lang="en-US" sz="1150" dirty="0"/>
          </a:p>
        </p:txBody>
      </p:sp>
      <p:sp>
        <p:nvSpPr>
          <p:cNvPr id="19" name="Shape 16"/>
          <p:cNvSpPr/>
          <p:nvPr/>
        </p:nvSpPr>
        <p:spPr>
          <a:xfrm>
            <a:off x="8001000" y="24688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0" name="Text 17"/>
          <p:cNvSpPr txBox="1"/>
          <p:nvPr/>
        </p:nvSpPr>
        <p:spPr>
          <a:xfrm>
            <a:off x="8001000" y="24688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2</a:t>
            </a:r>
            <a:endParaRPr lang="en-US" sz="1200" dirty="0"/>
          </a:p>
        </p:txBody>
      </p:sp>
      <p:sp>
        <p:nvSpPr>
          <p:cNvPr id="21" name="Text 18"/>
          <p:cNvSpPr txBox="1"/>
          <p:nvPr/>
        </p:nvSpPr>
        <p:spPr>
          <a:xfrm>
            <a:off x="8503920" y="24231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끝 부속 × 2</a:t>
            </a:r>
            <a:endParaRPr lang="en-US" sz="1400" dirty="0"/>
          </a:p>
        </p:txBody>
      </p:sp>
      <p:sp>
        <p:nvSpPr>
          <p:cNvPr id="22" name="Text 19"/>
          <p:cNvSpPr txBox="1"/>
          <p:nvPr/>
        </p:nvSpPr>
        <p:spPr>
          <a:xfrm>
            <a:off x="8503920" y="27432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왼쪽 A0~B0(3건반), 오른쪽 C8(1건반). 왼쪽에 헤드폰 잭</a:t>
            </a:r>
            <a:endParaRPr lang="en-US" sz="1150" dirty="0"/>
          </a:p>
        </p:txBody>
      </p:sp>
      <p:sp>
        <p:nvSpPr>
          <p:cNvPr id="23" name="Shape 20"/>
          <p:cNvSpPr/>
          <p:nvPr/>
        </p:nvSpPr>
        <p:spPr>
          <a:xfrm>
            <a:off x="8001000" y="33832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4" name="Text 21"/>
          <p:cNvSpPr txBox="1"/>
          <p:nvPr/>
        </p:nvSpPr>
        <p:spPr>
          <a:xfrm>
            <a:off x="8001000" y="33832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3</a:t>
            </a:r>
            <a:endParaRPr lang="en-US" sz="1200" dirty="0"/>
          </a:p>
        </p:txBody>
      </p:sp>
      <p:sp>
        <p:nvSpPr>
          <p:cNvPr id="25" name="Text 22"/>
          <p:cNvSpPr txBox="1"/>
          <p:nvPr/>
        </p:nvSpPr>
        <p:spPr>
          <a:xfrm>
            <a:off x="8503920" y="33375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스피커 파트 × 2</a:t>
            </a:r>
            <a:endParaRPr lang="en-US" sz="1400" dirty="0"/>
          </a:p>
        </p:txBody>
      </p:sp>
      <p:sp>
        <p:nvSpPr>
          <p:cNvPr id="26" name="Text 23"/>
          <p:cNvSpPr txBox="1"/>
          <p:nvPr/>
        </p:nvSpPr>
        <p:spPr>
          <a:xfrm>
            <a:off x="8503920" y="36576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4인치 유닛 + 합판 밀폐 상자(5 L). XT30 커넥터</a:t>
            </a:r>
            <a:endParaRPr lang="en-US" sz="1150" dirty="0"/>
          </a:p>
        </p:txBody>
      </p:sp>
      <p:sp>
        <p:nvSpPr>
          <p:cNvPr id="27" name="Shape 24"/>
          <p:cNvSpPr/>
          <p:nvPr/>
        </p:nvSpPr>
        <p:spPr>
          <a:xfrm>
            <a:off x="8001000" y="42976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8" name="Text 25"/>
          <p:cNvSpPr txBox="1"/>
          <p:nvPr/>
        </p:nvSpPr>
        <p:spPr>
          <a:xfrm>
            <a:off x="8001000" y="42976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4</a:t>
            </a:r>
            <a:endParaRPr lang="en-US" sz="1200" dirty="0"/>
          </a:p>
        </p:txBody>
      </p:sp>
      <p:sp>
        <p:nvSpPr>
          <p:cNvPr id="29" name="Text 26"/>
          <p:cNvSpPr txBox="1"/>
          <p:nvPr/>
        </p:nvSpPr>
        <p:spPr>
          <a:xfrm>
            <a:off x="8503920" y="42519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가운데 유닛</a:t>
            </a:r>
            <a:endParaRPr lang="en-US" sz="1400" dirty="0"/>
          </a:p>
        </p:txBody>
      </p:sp>
      <p:sp>
        <p:nvSpPr>
          <p:cNvPr id="30" name="Text 27"/>
          <p:cNvSpPr txBox="1"/>
          <p:nvPr/>
        </p:nvSpPr>
        <p:spPr>
          <a:xfrm>
            <a:off x="8503920" y="45720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보관함, 제어부(Pi 5·앰프·전원), 배터리 칸</a:t>
            </a:r>
            <a:endParaRPr lang="en-US" sz="1150" dirty="0"/>
          </a:p>
        </p:txBody>
      </p:sp>
      <p:sp>
        <p:nvSpPr>
          <p:cNvPr id="31" name="Shape 28"/>
          <p:cNvSpPr/>
          <p:nvPr/>
        </p:nvSpPr>
        <p:spPr>
          <a:xfrm>
            <a:off x="8001000" y="5212080"/>
            <a:ext cx="365760" cy="365760"/>
          </a:xfrm>
          <a:prstGeom prst="ellipse">
            <a:avLst/>
          </a:prstGeom>
          <a:solidFill>
            <a:srgbClr val="16181D"/>
          </a:solidFill>
          <a:ln w="12700">
            <a:solidFill>
              <a:srgbClr val="16181D"/>
            </a:solidFill>
            <a:prstDash val="solid"/>
          </a:ln>
        </p:spPr>
        <p:txBody>
          <a:bodyPr/>
          <a:lstStyle/>
          <a:p>
            <a:endParaRPr lang="en-KR"/>
          </a:p>
        </p:txBody>
      </p:sp>
      <p:sp>
        <p:nvSpPr>
          <p:cNvPr id="32" name="Text 29"/>
          <p:cNvSpPr txBox="1"/>
          <p:nvPr/>
        </p:nvSpPr>
        <p:spPr>
          <a:xfrm>
            <a:off x="8001000" y="52120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5</a:t>
            </a:r>
            <a:endParaRPr lang="en-US" sz="1200" dirty="0"/>
          </a:p>
        </p:txBody>
      </p:sp>
      <p:sp>
        <p:nvSpPr>
          <p:cNvPr id="33" name="Text 30"/>
          <p:cNvSpPr txBox="1"/>
          <p:nvPr/>
        </p:nvSpPr>
        <p:spPr>
          <a:xfrm>
            <a:off x="8503920" y="51663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34" name="Text 31"/>
          <p:cNvSpPr txBox="1"/>
          <p:nvPr/>
        </p:nvSpPr>
        <p:spPr>
          <a:xfrm>
            <a:off x="8503920" y="54864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3.5 mm 케이블로 연결</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8</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① — 시소 건반 + </a:t>
            </a:r>
            <a:r>
              <a:rPr lang="en-US" sz="2800" b="1" dirty="0" err="1">
                <a:solidFill>
                  <a:srgbClr val="16181D"/>
                </a:solidFill>
                <a:latin typeface="Apple SD Gothic Neo" pitchFamily="34" charset="0"/>
                <a:ea typeface="Apple SD Gothic Neo" pitchFamily="34" charset="-122"/>
                <a:cs typeface="Apple SD Gothic Neo" pitchFamily="34" charset="-120"/>
              </a:rPr>
              <a:t>무게</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sz="2800" b="1" dirty="0" err="1">
                <a:solidFill>
                  <a:srgbClr val="16181D"/>
                </a:solidFill>
                <a:latin typeface="Apple SD Gothic Neo" pitchFamily="34" charset="0"/>
                <a:ea typeface="Apple SD Gothic Neo" pitchFamily="34" charset="-122"/>
                <a:cs typeface="Apple SD Gothic Neo" pitchFamily="34" charset="-120"/>
              </a:rPr>
              <a:t>레</a:t>
            </a:r>
            <a:r>
              <a:rPr lang="ko-KR" altLang="en-US" sz="2800" b="1" dirty="0" err="1">
                <a:solidFill>
                  <a:srgbClr val="16181D"/>
                </a:solidFill>
                <a:latin typeface="Apple SD Gothic Neo" pitchFamily="34" charset="0"/>
                <a:ea typeface="Apple SD Gothic Neo" pitchFamily="34" charset="-122"/>
                <a:cs typeface="Apple SD Gothic Neo" pitchFamily="34" charset="-120"/>
              </a:rPr>
              <a:t>버</a:t>
            </a:r>
            <a:endParaRPr lang="en-US" sz="2800" dirty="0"/>
          </a:p>
        </p:txBody>
      </p:sp>
      <p:pic>
        <p:nvPicPr>
          <p:cNvPr id="7" name="Image 0" descr="/private/tmp/claude-501/-Users-kwg-Desktop-mydrive-project-Toccata/78323d34-2a2b-4f50-ae4c-82ce3905c7c6/scratchpad/ppt4/assets/w_side.png"/>
          <p:cNvPicPr>
            <a:picLocks noChangeAspect="1"/>
          </p:cNvPicPr>
          <p:nvPr/>
        </p:nvPicPr>
        <p:blipFill>
          <a:blip r:embed="rId3"/>
          <a:stretch>
            <a:fillRect/>
          </a:stretch>
        </p:blipFill>
        <p:spPr>
          <a:xfrm>
            <a:off x="548640" y="1371600"/>
            <a:ext cx="6903720" cy="3151022"/>
          </a:xfrm>
          <a:prstGeom prst="rect">
            <a:avLst/>
          </a:prstGeom>
        </p:spPr>
      </p:pic>
      <p:sp>
        <p:nvSpPr>
          <p:cNvPr id="8" name="Text 5"/>
          <p:cNvSpPr txBox="1"/>
          <p:nvPr/>
        </p:nvSpPr>
        <p:spPr>
          <a:xfrm>
            <a:off x="548640" y="4658299"/>
            <a:ext cx="69037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백건 측면 단면도 (W1 r4.5 설계 도면 1) — 실선: </a:t>
            </a:r>
            <a:r>
              <a:rPr lang="ko-KR" altLang="en-US" sz="1000" dirty="0">
                <a:solidFill>
                  <a:srgbClr val="767D88"/>
                </a:solidFill>
                <a:latin typeface="Apple SD Gothic Neo" pitchFamily="34" charset="0"/>
                <a:ea typeface="Apple SD Gothic Neo" pitchFamily="34" charset="-122"/>
                <a:cs typeface="Apple SD Gothic Neo" pitchFamily="34" charset="-120"/>
              </a:rPr>
              <a:t>일반</a:t>
            </a:r>
            <a:r>
              <a:rPr lang="en-US" sz="1000" dirty="0">
                <a:solidFill>
                  <a:srgbClr val="767D88"/>
                </a:solidFill>
                <a:latin typeface="Apple SD Gothic Neo" pitchFamily="34" charset="0"/>
                <a:ea typeface="Apple SD Gothic Neo" pitchFamily="34" charset="-122"/>
                <a:cs typeface="Apple SD Gothic Neo" pitchFamily="34" charset="-120"/>
              </a:rPr>
              <a:t> 상태, 주황 점선: 1 N으로 끝까지 누른 상태, 단위 mm</a:t>
            </a:r>
            <a:endParaRPr lang="en-US" sz="1000" dirty="0"/>
          </a:p>
        </p:txBody>
      </p:sp>
      <p:sp>
        <p:nvSpPr>
          <p:cNvPr id="9" name="Text 6"/>
          <p:cNvSpPr txBox="1"/>
          <p:nvPr/>
        </p:nvSpPr>
        <p:spPr>
          <a:xfrm>
            <a:off x="8229600" y="1417320"/>
            <a:ext cx="341345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약 52 g</a:t>
            </a:r>
            <a:endParaRPr lang="en-US" sz="2200" dirty="0"/>
          </a:p>
        </p:txBody>
      </p:sp>
      <p:sp>
        <p:nvSpPr>
          <p:cNvPr id="10" name="Text 7"/>
          <p:cNvSpPr txBox="1"/>
          <p:nvPr/>
        </p:nvSpPr>
        <p:spPr>
          <a:xfrm>
            <a:off x="8229600" y="181965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누르는 힘 (백건 51.9 g, 흑건 51.0 g)</a:t>
            </a:r>
            <a:endParaRPr lang="en-US" sz="1150" dirty="0"/>
          </a:p>
        </p:txBody>
      </p:sp>
      <p:sp>
        <p:nvSpPr>
          <p:cNvPr id="11" name="Text 8"/>
          <p:cNvSpPr txBox="1"/>
          <p:nvPr/>
        </p:nvSpPr>
        <p:spPr>
          <a:xfrm>
            <a:off x="8229600" y="2240280"/>
            <a:ext cx="341345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16 회/초</a:t>
            </a:r>
            <a:endParaRPr lang="en-US" sz="2200" dirty="0"/>
          </a:p>
        </p:txBody>
      </p:sp>
      <p:sp>
        <p:nvSpPr>
          <p:cNvPr id="12" name="Text 9"/>
          <p:cNvSpPr txBox="1"/>
          <p:nvPr/>
        </p:nvSpPr>
        <p:spPr>
          <a:xfrm>
            <a:off x="8229600" y="264261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같은 건반 연타 (흑건 19 회/초)</a:t>
            </a:r>
            <a:endParaRPr lang="en-US" sz="1150" dirty="0"/>
          </a:p>
        </p:txBody>
      </p:sp>
      <p:sp>
        <p:nvSpPr>
          <p:cNvPr id="13" name="Text 10"/>
          <p:cNvSpPr txBox="1"/>
          <p:nvPr/>
        </p:nvSpPr>
        <p:spPr>
          <a:xfrm>
            <a:off x="8229600" y="3063240"/>
            <a:ext cx="3413455" cy="411480"/>
          </a:xfrm>
          <a:prstGeom prst="rect">
            <a:avLst/>
          </a:prstGeom>
          <a:noFill/>
          <a:ln/>
        </p:spPr>
        <p:txBody>
          <a:bodyPr wrap="square" lIns="0" tIns="0" rIns="0" bIns="0" rtlCol="0" anchor="t"/>
          <a:lstStyle/>
          <a:p>
            <a:pPr marL="0" indent="0">
              <a:buNone/>
            </a:pPr>
            <a:r>
              <a:rPr lang="ko-KR" altLang="en-US" sz="2200" b="1" dirty="0">
                <a:solidFill>
                  <a:srgbClr val="16181D"/>
                </a:solidFill>
                <a:latin typeface="Apple SD Gothic Neo" pitchFamily="34" charset="0"/>
                <a:ea typeface="Apple SD Gothic Neo" pitchFamily="34" charset="-122"/>
                <a:cs typeface="Apple SD Gothic Neo" pitchFamily="34" charset="-120"/>
              </a:rPr>
              <a:t>약 </a:t>
            </a:r>
            <a:r>
              <a:rPr lang="en-US" sz="2200" b="1" dirty="0">
                <a:solidFill>
                  <a:srgbClr val="16181D"/>
                </a:solidFill>
                <a:latin typeface="Apple SD Gothic Neo" pitchFamily="34" charset="0"/>
                <a:ea typeface="Apple SD Gothic Neo" pitchFamily="34" charset="-122"/>
                <a:cs typeface="Apple SD Gothic Neo" pitchFamily="34" charset="-120"/>
              </a:rPr>
              <a:t>53.7 g</a:t>
            </a:r>
            <a:endParaRPr lang="en-US" sz="2200" dirty="0"/>
          </a:p>
        </p:txBody>
      </p:sp>
      <p:sp>
        <p:nvSpPr>
          <p:cNvPr id="14" name="Text 11"/>
          <p:cNvSpPr txBox="1"/>
          <p:nvPr/>
        </p:nvSpPr>
        <p:spPr>
          <a:xfrm>
            <a:off x="8229600" y="346557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레버 끝의 강철 추 (SS400 · MS 폴리머 접착)</a:t>
            </a:r>
            <a:endParaRPr lang="en-US" sz="1150" dirty="0"/>
          </a:p>
        </p:txBody>
      </p:sp>
      <p:sp>
        <p:nvSpPr>
          <p:cNvPr id="15" name="Text 12"/>
          <p:cNvSpPr txBox="1"/>
          <p:nvPr/>
        </p:nvSpPr>
        <p:spPr>
          <a:xfrm>
            <a:off x="8229600" y="3886200"/>
            <a:ext cx="3413455" cy="411480"/>
          </a:xfrm>
          <a:prstGeom prst="rect">
            <a:avLst/>
          </a:prstGeom>
          <a:noFill/>
          <a:ln/>
        </p:spPr>
        <p:txBody>
          <a:bodyPr wrap="square" lIns="0" tIns="0" rIns="0" bIns="0" rtlCol="0" anchor="t"/>
          <a:lstStyle/>
          <a:p>
            <a:pPr marL="0" indent="0">
              <a:buNone/>
            </a:pPr>
            <a:r>
              <a:rPr lang="ko-KR" altLang="en-US" sz="2200" b="1" dirty="0">
                <a:solidFill>
                  <a:srgbClr val="16181D"/>
                </a:solidFill>
                <a:latin typeface="Apple SD Gothic Neo" pitchFamily="34" charset="0"/>
                <a:ea typeface="Apple SD Gothic Neo" pitchFamily="34" charset="-122"/>
                <a:cs typeface="Apple SD Gothic Neo" pitchFamily="34" charset="-120"/>
              </a:rPr>
              <a:t>약 </a:t>
            </a:r>
            <a:r>
              <a:rPr lang="en-US" sz="2200" b="1" dirty="0">
                <a:solidFill>
                  <a:srgbClr val="16181D"/>
                </a:solidFill>
                <a:latin typeface="Apple SD Gothic Neo" pitchFamily="34" charset="0"/>
                <a:ea typeface="Apple SD Gothic Neo" pitchFamily="34" charset="-122"/>
                <a:cs typeface="Apple SD Gothic Neo" pitchFamily="34" charset="-120"/>
              </a:rPr>
              <a:t>10 mm</a:t>
            </a:r>
            <a:endParaRPr lang="en-US" sz="2200" dirty="0"/>
          </a:p>
        </p:txBody>
      </p:sp>
      <p:sp>
        <p:nvSpPr>
          <p:cNvPr id="16" name="Text 13"/>
          <p:cNvSpPr txBox="1"/>
          <p:nvPr/>
        </p:nvSpPr>
        <p:spPr>
          <a:xfrm>
            <a:off x="8229600" y="428853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백건 눌리는 깊이</a:t>
            </a:r>
            <a:endParaRPr lang="en-US" sz="1150" dirty="0"/>
          </a:p>
        </p:txBody>
      </p:sp>
      <p:sp>
        <p:nvSpPr>
          <p:cNvPr id="17" name="Shape 14"/>
          <p:cNvSpPr/>
          <p:nvPr/>
        </p:nvSpPr>
        <p:spPr>
          <a:xfrm>
            <a:off x="548640"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18" name="Text 15"/>
          <p:cNvSpPr txBox="1"/>
          <p:nvPr/>
        </p:nvSpPr>
        <p:spPr>
          <a:xfrm>
            <a:off x="731520"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회전  </a:t>
            </a:r>
            <a:r>
              <a:rPr lang="en-US" sz="1400" b="1" dirty="0">
                <a:solidFill>
                  <a:srgbClr val="D9482B"/>
                </a:solidFill>
                <a:latin typeface="Apple SD Gothic Neo" pitchFamily="34" charset="0"/>
                <a:ea typeface="Apple SD Gothic Neo" pitchFamily="34" charset="-122"/>
                <a:cs typeface="Apple SD Gothic Neo" pitchFamily="34" charset="-120"/>
              </a:rPr>
              <a:t>시소</a:t>
            </a:r>
            <a:endParaRPr lang="en-US" sz="1400" dirty="0"/>
          </a:p>
        </p:txBody>
      </p:sp>
      <p:sp>
        <p:nvSpPr>
          <p:cNvPr id="19" name="Text 16"/>
          <p:cNvSpPr txBox="1"/>
          <p:nvPr/>
        </p:nvSpPr>
        <p:spPr>
          <a:xfrm>
            <a:off x="731520"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건반이 Ø4 스테인리스 봉 위에서 </a:t>
            </a:r>
            <a:r>
              <a:rPr lang="en-US" sz="1150" dirty="0" err="1">
                <a:solidFill>
                  <a:srgbClr val="444A54"/>
                </a:solidFill>
                <a:latin typeface="Apple SD Gothic Neo" pitchFamily="34" charset="0"/>
                <a:ea typeface="Apple SD Gothic Neo" pitchFamily="34" charset="-122"/>
                <a:cs typeface="Apple SD Gothic Neo" pitchFamily="34" charset="-120"/>
              </a:rPr>
              <a:t>시소처럼</a:t>
            </a:r>
            <a:r>
              <a:rPr lang="en-US" sz="1150" dirty="0">
                <a:solidFill>
                  <a:srgbClr val="444A54"/>
                </a:solidFill>
                <a:latin typeface="Apple SD Gothic Neo" pitchFamily="34" charset="0"/>
                <a:ea typeface="Apple SD Gothic Neo" pitchFamily="34" charset="-122"/>
                <a:cs typeface="Apple SD Gothic Neo" pitchFamily="34" charset="-120"/>
              </a:rPr>
              <a:t> </a:t>
            </a:r>
            <a:r>
              <a:rPr lang="ko-KR" altLang="en-US" sz="1150" dirty="0">
                <a:solidFill>
                  <a:srgbClr val="444A54"/>
                </a:solidFill>
                <a:latin typeface="Apple SD Gothic Neo" pitchFamily="34" charset="0"/>
                <a:ea typeface="Apple SD Gothic Neo" pitchFamily="34" charset="-122"/>
                <a:cs typeface="Apple SD Gothic Neo" pitchFamily="34" charset="-120"/>
              </a:rPr>
              <a:t>동작</a:t>
            </a:r>
            <a:endParaRPr lang="en-US" sz="1150" dirty="0"/>
          </a:p>
        </p:txBody>
      </p:sp>
      <p:sp>
        <p:nvSpPr>
          <p:cNvPr id="20" name="Shape 17"/>
          <p:cNvSpPr/>
          <p:nvPr/>
        </p:nvSpPr>
        <p:spPr>
          <a:xfrm>
            <a:off x="3379394"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1" name="Text 18"/>
          <p:cNvSpPr txBox="1"/>
          <p:nvPr/>
        </p:nvSpPr>
        <p:spPr>
          <a:xfrm>
            <a:off x="3562274"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무게감  </a:t>
            </a:r>
            <a:r>
              <a:rPr lang="en-US" sz="1400" b="1" dirty="0">
                <a:solidFill>
                  <a:srgbClr val="D9482B"/>
                </a:solidFill>
                <a:latin typeface="Apple SD Gothic Neo" pitchFamily="34" charset="0"/>
                <a:ea typeface="Apple SD Gothic Neo" pitchFamily="34" charset="-122"/>
                <a:cs typeface="Apple SD Gothic Neo" pitchFamily="34" charset="-120"/>
              </a:rPr>
              <a:t>강철 무게 레버</a:t>
            </a:r>
            <a:endParaRPr lang="en-US" sz="1400" dirty="0"/>
          </a:p>
        </p:txBody>
      </p:sp>
      <p:sp>
        <p:nvSpPr>
          <p:cNvPr id="22" name="Text 19"/>
          <p:cNvSpPr txBox="1"/>
          <p:nvPr/>
        </p:nvSpPr>
        <p:spPr>
          <a:xfrm>
            <a:off x="3562274"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캡스턴 나사가 강철 추 </a:t>
            </a:r>
            <a:r>
              <a:rPr lang="en-US" sz="1150" dirty="0" err="1">
                <a:solidFill>
                  <a:srgbClr val="444A54"/>
                </a:solidFill>
                <a:latin typeface="Apple SD Gothic Neo" pitchFamily="34" charset="0"/>
                <a:ea typeface="Apple SD Gothic Neo" pitchFamily="34" charset="-122"/>
                <a:cs typeface="Apple SD Gothic Neo" pitchFamily="34" charset="-120"/>
              </a:rPr>
              <a:t>레버를</a:t>
            </a:r>
            <a:r>
              <a:rPr lang="en-US" sz="1150" dirty="0">
                <a:solidFill>
                  <a:srgbClr val="444A54"/>
                </a:solidFill>
                <a:latin typeface="Apple SD Gothic Neo" pitchFamily="34" charset="0"/>
                <a:ea typeface="Apple SD Gothic Neo" pitchFamily="34" charset="-122"/>
                <a:cs typeface="Apple SD Gothic Neo" pitchFamily="34" charset="-120"/>
              </a:rPr>
              <a:t> </a:t>
            </a:r>
          </a:p>
          <a:p>
            <a:pPr marL="0" indent="0">
              <a:lnSpc>
                <a:spcPct val="110000"/>
              </a:lnSpc>
              <a:buNone/>
            </a:pPr>
            <a:r>
              <a:rPr lang="en-US" sz="1150" dirty="0" err="1">
                <a:solidFill>
                  <a:srgbClr val="444A54"/>
                </a:solidFill>
                <a:latin typeface="Apple SD Gothic Neo" pitchFamily="34" charset="0"/>
                <a:ea typeface="Apple SD Gothic Neo" pitchFamily="34" charset="-122"/>
                <a:cs typeface="Apple SD Gothic Neo" pitchFamily="34" charset="-120"/>
              </a:rPr>
              <a:t>들어</a:t>
            </a:r>
            <a:r>
              <a:rPr lang="ko-KR" altLang="en-US" sz="1150" dirty="0">
                <a:solidFill>
                  <a:srgbClr val="444A54"/>
                </a:solidFill>
                <a:latin typeface="Apple SD Gothic Neo" pitchFamily="34" charset="0"/>
                <a:ea typeface="Apple SD Gothic Neo" pitchFamily="34" charset="-122"/>
                <a:cs typeface="Apple SD Gothic Neo" pitchFamily="34" charset="-120"/>
              </a:rPr>
              <a:t>올리는 구조</a:t>
            </a:r>
            <a:br>
              <a:rPr lang="en-US" sz="1150" dirty="0">
                <a:solidFill>
                  <a:srgbClr val="444A54"/>
                </a:solidFill>
                <a:latin typeface="Apple SD Gothic Neo" pitchFamily="34" charset="0"/>
                <a:ea typeface="Apple SD Gothic Neo" pitchFamily="34" charset="-122"/>
                <a:cs typeface="Apple SD Gothic Neo" pitchFamily="34" charset="-120"/>
              </a:rPr>
            </a:br>
            <a:r>
              <a:rPr lang="en-US" sz="1150" dirty="0">
                <a:solidFill>
                  <a:srgbClr val="444A54"/>
                </a:solidFill>
                <a:latin typeface="Apple SD Gothic Neo" pitchFamily="34" charset="0"/>
                <a:ea typeface="Apple SD Gothic Neo" pitchFamily="34" charset="-122"/>
                <a:cs typeface="Apple SD Gothic Neo" pitchFamily="34" charset="-120"/>
              </a:rPr>
              <a:t>(</a:t>
            </a:r>
            <a:r>
              <a:rPr lang="ko-KR" altLang="en-US" sz="1150" dirty="0">
                <a:solidFill>
                  <a:srgbClr val="444A54"/>
                </a:solidFill>
                <a:latin typeface="Apple SD Gothic Neo" pitchFamily="34" charset="0"/>
                <a:ea typeface="Apple SD Gothic Neo" pitchFamily="34" charset="-122"/>
                <a:cs typeface="Apple SD Gothic Neo" pitchFamily="34" charset="-120"/>
              </a:rPr>
              <a:t>기존 피아노의 해머 구조에서 착안</a:t>
            </a:r>
            <a:r>
              <a:rPr lang="en-US" sz="1150" dirty="0">
                <a:solidFill>
                  <a:srgbClr val="444A54"/>
                </a:solidFill>
                <a:latin typeface="Apple SD Gothic Neo" pitchFamily="34" charset="0"/>
                <a:ea typeface="Apple SD Gothic Neo" pitchFamily="34" charset="-122"/>
                <a:cs typeface="Apple SD Gothic Neo" pitchFamily="34" charset="-120"/>
              </a:rPr>
              <a:t>)</a:t>
            </a:r>
            <a:endParaRPr lang="en-US" sz="1150" dirty="0"/>
          </a:p>
        </p:txBody>
      </p:sp>
      <p:sp>
        <p:nvSpPr>
          <p:cNvPr id="23" name="Shape 20"/>
          <p:cNvSpPr/>
          <p:nvPr/>
        </p:nvSpPr>
        <p:spPr>
          <a:xfrm>
            <a:off x="6210148"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4" name="Text 21"/>
          <p:cNvSpPr txBox="1"/>
          <p:nvPr/>
        </p:nvSpPr>
        <p:spPr>
          <a:xfrm>
            <a:off x="6393028"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복귀  </a:t>
            </a:r>
            <a:r>
              <a:rPr lang="en-US" sz="1400" b="1" dirty="0">
                <a:solidFill>
                  <a:srgbClr val="D9482B"/>
                </a:solidFill>
                <a:latin typeface="Apple SD Gothic Neo" pitchFamily="34" charset="0"/>
                <a:ea typeface="Apple SD Gothic Neo" pitchFamily="34" charset="-122"/>
                <a:cs typeface="Apple SD Gothic Neo" pitchFamily="34" charset="-120"/>
              </a:rPr>
              <a:t>무게 + 작은 스프링</a:t>
            </a:r>
            <a:endParaRPr lang="en-US" sz="1400" dirty="0"/>
          </a:p>
        </p:txBody>
      </p:sp>
      <p:sp>
        <p:nvSpPr>
          <p:cNvPr id="25" name="Text 22"/>
          <p:cNvSpPr txBox="1"/>
          <p:nvPr/>
        </p:nvSpPr>
        <p:spPr>
          <a:xfrm>
            <a:off x="6393028"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손을 떼면 레버 무게와 비틀림 스프링이 </a:t>
            </a:r>
            <a:r>
              <a:rPr lang="en-US" sz="1150" dirty="0" err="1">
                <a:solidFill>
                  <a:srgbClr val="444A54"/>
                </a:solidFill>
                <a:latin typeface="Apple SD Gothic Neo" pitchFamily="34" charset="0"/>
                <a:ea typeface="Apple SD Gothic Neo" pitchFamily="34" charset="-122"/>
                <a:cs typeface="Apple SD Gothic Neo" pitchFamily="34" charset="-120"/>
              </a:rPr>
              <a:t>건반을</a:t>
            </a:r>
            <a:r>
              <a:rPr lang="en-US" sz="1150" dirty="0">
                <a:solidFill>
                  <a:srgbClr val="444A54"/>
                </a:solidFill>
                <a:latin typeface="Apple SD Gothic Neo" pitchFamily="34" charset="0"/>
                <a:ea typeface="Apple SD Gothic Neo" pitchFamily="34" charset="-122"/>
                <a:cs typeface="Apple SD Gothic Neo" pitchFamily="34" charset="-120"/>
              </a:rPr>
              <a:t> </a:t>
            </a:r>
            <a:r>
              <a:rPr lang="ko-KR" altLang="en-US" sz="1150" dirty="0">
                <a:solidFill>
                  <a:srgbClr val="444A54"/>
                </a:solidFill>
                <a:latin typeface="Apple SD Gothic Neo" pitchFamily="34" charset="0"/>
                <a:ea typeface="Apple SD Gothic Neo" pitchFamily="34" charset="-122"/>
                <a:cs typeface="Apple SD Gothic Neo" pitchFamily="34" charset="-120"/>
              </a:rPr>
              <a:t>되돌리며 원상태로 복구</a:t>
            </a:r>
            <a:endParaRPr lang="en-US" altLang="ko-KR" sz="1150" dirty="0">
              <a:solidFill>
                <a:srgbClr val="444A54"/>
              </a:solidFill>
              <a:latin typeface="Apple SD Gothic Neo" pitchFamily="34" charset="0"/>
              <a:ea typeface="Apple SD Gothic Neo" pitchFamily="34" charset="-122"/>
              <a:cs typeface="Apple SD Gothic Neo" pitchFamily="34" charset="-120"/>
            </a:endParaRPr>
          </a:p>
        </p:txBody>
      </p:sp>
      <p:sp>
        <p:nvSpPr>
          <p:cNvPr id="26" name="Shape 23"/>
          <p:cNvSpPr/>
          <p:nvPr/>
        </p:nvSpPr>
        <p:spPr>
          <a:xfrm>
            <a:off x="9040901"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7" name="Text 24"/>
          <p:cNvSpPr txBox="1"/>
          <p:nvPr/>
        </p:nvSpPr>
        <p:spPr>
          <a:xfrm>
            <a:off x="9223781"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멈춤 · 측정  </a:t>
            </a:r>
            <a:r>
              <a:rPr lang="en-US" sz="1400" b="1" dirty="0">
                <a:solidFill>
                  <a:srgbClr val="D9482B"/>
                </a:solidFill>
                <a:latin typeface="Apple SD Gothic Neo" pitchFamily="34" charset="0"/>
                <a:ea typeface="Apple SD Gothic Neo" pitchFamily="34" charset="-122"/>
                <a:cs typeface="Apple SD Gothic Neo" pitchFamily="34" charset="-120"/>
              </a:rPr>
              <a:t>패드 + 홀센서</a:t>
            </a:r>
            <a:endParaRPr lang="en-US" sz="1400" dirty="0"/>
          </a:p>
        </p:txBody>
      </p:sp>
      <p:sp>
        <p:nvSpPr>
          <p:cNvPr id="28" name="Text 25"/>
          <p:cNvSpPr txBox="1"/>
          <p:nvPr/>
        </p:nvSpPr>
        <p:spPr>
          <a:xfrm>
            <a:off x="9223780" y="5532120"/>
            <a:ext cx="2328139"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앞 펠트와 업스톱 패드가 조용히 멈추고, 밑면 자석을 </a:t>
            </a:r>
            <a:r>
              <a:rPr lang="en-US" sz="1150" dirty="0" err="1">
                <a:solidFill>
                  <a:srgbClr val="444A54"/>
                </a:solidFill>
                <a:latin typeface="Apple SD Gothic Neo" pitchFamily="34" charset="0"/>
                <a:ea typeface="Apple SD Gothic Neo" pitchFamily="34" charset="-122"/>
                <a:cs typeface="Apple SD Gothic Neo" pitchFamily="34" charset="-120"/>
              </a:rPr>
              <a:t>홀센서가</a:t>
            </a:r>
            <a:r>
              <a:rPr lang="en-US" sz="1150" dirty="0">
                <a:solidFill>
                  <a:srgbClr val="444A54"/>
                </a:solidFill>
                <a:latin typeface="Apple SD Gothic Neo" pitchFamily="34" charset="0"/>
                <a:ea typeface="Apple SD Gothic Neo" pitchFamily="34" charset="-122"/>
                <a:cs typeface="Apple SD Gothic Neo" pitchFamily="34" charset="-120"/>
              </a:rPr>
              <a:t> </a:t>
            </a:r>
            <a:r>
              <a:rPr lang="en-US" sz="1150" dirty="0" err="1">
                <a:solidFill>
                  <a:srgbClr val="444A54"/>
                </a:solidFill>
                <a:latin typeface="Apple SD Gothic Neo" pitchFamily="34" charset="0"/>
                <a:ea typeface="Apple SD Gothic Neo" pitchFamily="34" charset="-122"/>
                <a:cs typeface="Apple SD Gothic Neo" pitchFamily="34" charset="-120"/>
              </a:rPr>
              <a:t>읽</a:t>
            </a:r>
            <a:r>
              <a:rPr lang="ko-KR" altLang="en-US" sz="1150" dirty="0">
                <a:solidFill>
                  <a:srgbClr val="444A54"/>
                </a:solidFill>
                <a:latin typeface="Apple SD Gothic Neo" pitchFamily="34" charset="0"/>
                <a:ea typeface="Apple SD Gothic Neo" pitchFamily="34" charset="-122"/>
                <a:cs typeface="Apple SD Gothic Neo" pitchFamily="34" charset="-120"/>
              </a:rPr>
              <a:t>어 건반 위치를 아날로그 전압으로 연속 측정</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9</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② — 누르면 소리가 나기까지</a:t>
            </a:r>
            <a:endParaRPr lang="en-US" sz="2800" dirty="0"/>
          </a:p>
        </p:txBody>
      </p:sp>
      <p:sp>
        <p:nvSpPr>
          <p:cNvPr id="7" name="Text 5"/>
          <p:cNvSpPr txBox="1"/>
          <p:nvPr/>
        </p:nvSpPr>
        <p:spPr>
          <a:xfrm>
            <a:off x="548640" y="1371600"/>
            <a:ext cx="2286000" cy="274320"/>
          </a:xfrm>
          <a:prstGeom prst="rect">
            <a:avLst/>
          </a:prstGeom>
          <a:noFill/>
          <a:ln/>
        </p:spPr>
        <p:txBody>
          <a:bodyPr wrap="square" lIns="0" tIns="0" rIns="0" bIns="0" rtlCol="0" anchor="t"/>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 위치</a:t>
            </a:r>
            <a:endParaRPr lang="en-US" sz="1200" dirty="0"/>
          </a:p>
        </p:txBody>
      </p:sp>
      <p:sp>
        <p:nvSpPr>
          <p:cNvPr id="8" name="Shape 6"/>
          <p:cNvSpPr/>
          <p:nvPr/>
        </p:nvSpPr>
        <p:spPr>
          <a:xfrm>
            <a:off x="731520" y="1828800"/>
            <a:ext cx="502920" cy="4114800"/>
          </a:xfrm>
          <a:prstGeom prst="rect">
            <a:avLst/>
          </a:prstGeom>
          <a:solidFill>
            <a:srgbClr val="F3F4F6"/>
          </a:solidFill>
          <a:ln w="12700">
            <a:solidFill>
              <a:srgbClr val="DDE0E5"/>
            </a:solidFill>
            <a:prstDash val="solid"/>
          </a:ln>
        </p:spPr>
        <p:txBody>
          <a:bodyPr/>
          <a:lstStyle/>
          <a:p>
            <a:endParaRPr lang="en-KR"/>
          </a:p>
        </p:txBody>
      </p:sp>
      <p:sp>
        <p:nvSpPr>
          <p:cNvPr id="9" name="Shape 7"/>
          <p:cNvSpPr/>
          <p:nvPr/>
        </p:nvSpPr>
        <p:spPr>
          <a:xfrm>
            <a:off x="731520" y="2240280"/>
            <a:ext cx="502920" cy="2057400"/>
          </a:xfrm>
          <a:prstGeom prst="rect">
            <a:avLst/>
          </a:prstGeom>
          <a:solidFill>
            <a:srgbClr val="FBE9E4"/>
          </a:solidFill>
          <a:ln w="12700">
            <a:solidFill>
              <a:srgbClr val="D9482B"/>
            </a:solidFill>
            <a:prstDash val="solid"/>
          </a:ln>
        </p:spPr>
        <p:txBody>
          <a:bodyPr/>
          <a:lstStyle/>
          <a:p>
            <a:endParaRPr lang="en-KR"/>
          </a:p>
        </p:txBody>
      </p:sp>
      <p:sp>
        <p:nvSpPr>
          <p:cNvPr id="10" name="Shape 8"/>
          <p:cNvSpPr/>
          <p:nvPr/>
        </p:nvSpPr>
        <p:spPr>
          <a:xfrm>
            <a:off x="640080" y="1828800"/>
            <a:ext cx="731520" cy="0"/>
          </a:xfrm>
          <a:prstGeom prst="line">
            <a:avLst/>
          </a:prstGeom>
          <a:noFill/>
          <a:ln w="15875">
            <a:solidFill>
              <a:srgbClr val="767D88"/>
            </a:solidFill>
            <a:prstDash val="solid"/>
          </a:ln>
        </p:spPr>
        <p:txBody>
          <a:bodyPr/>
          <a:lstStyle/>
          <a:p>
            <a:endParaRPr lang="en-KR"/>
          </a:p>
        </p:txBody>
      </p:sp>
      <p:sp>
        <p:nvSpPr>
          <p:cNvPr id="11" name="Text 9"/>
          <p:cNvSpPr txBox="1"/>
          <p:nvPr/>
        </p:nvSpPr>
        <p:spPr>
          <a:xfrm>
            <a:off x="1463040" y="1700784"/>
            <a:ext cx="2926080" cy="256032"/>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100%  바닥 (끝까지 누름)</a:t>
            </a:r>
            <a:endParaRPr lang="en-US" sz="1150" dirty="0"/>
          </a:p>
        </p:txBody>
      </p:sp>
      <p:sp>
        <p:nvSpPr>
          <p:cNvPr id="12" name="Shape 10"/>
          <p:cNvSpPr/>
          <p:nvPr/>
        </p:nvSpPr>
        <p:spPr>
          <a:xfrm>
            <a:off x="640080" y="2240280"/>
            <a:ext cx="731520" cy="0"/>
          </a:xfrm>
          <a:prstGeom prst="line">
            <a:avLst/>
          </a:prstGeom>
          <a:noFill/>
          <a:ln w="15875">
            <a:solidFill>
              <a:srgbClr val="D9482B"/>
            </a:solidFill>
            <a:prstDash val="solid"/>
          </a:ln>
        </p:spPr>
        <p:txBody>
          <a:bodyPr/>
          <a:lstStyle/>
          <a:p>
            <a:endParaRPr lang="en-KR"/>
          </a:p>
        </p:txBody>
      </p:sp>
      <p:sp>
        <p:nvSpPr>
          <p:cNvPr id="13" name="Text 11"/>
          <p:cNvSpPr txBox="1"/>
          <p:nvPr/>
        </p:nvSpPr>
        <p:spPr>
          <a:xfrm>
            <a:off x="1463040" y="2112264"/>
            <a:ext cx="2926080"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90%  Note On — 소리 시작</a:t>
            </a:r>
            <a:endParaRPr lang="en-US" sz="1150" dirty="0"/>
          </a:p>
        </p:txBody>
      </p:sp>
      <p:sp>
        <p:nvSpPr>
          <p:cNvPr id="14" name="Shape 12"/>
          <p:cNvSpPr/>
          <p:nvPr/>
        </p:nvSpPr>
        <p:spPr>
          <a:xfrm>
            <a:off x="640080" y="3886200"/>
            <a:ext cx="731520" cy="0"/>
          </a:xfrm>
          <a:prstGeom prst="line">
            <a:avLst/>
          </a:prstGeom>
          <a:noFill/>
          <a:ln w="15875">
            <a:solidFill>
              <a:srgbClr val="444A54"/>
            </a:solidFill>
            <a:prstDash val="solid"/>
          </a:ln>
        </p:spPr>
        <p:txBody>
          <a:bodyPr/>
          <a:lstStyle/>
          <a:p>
            <a:endParaRPr lang="en-KR"/>
          </a:p>
        </p:txBody>
      </p:sp>
      <p:sp>
        <p:nvSpPr>
          <p:cNvPr id="15" name="Text 13"/>
          <p:cNvSpPr txBox="1"/>
          <p:nvPr/>
        </p:nvSpPr>
        <p:spPr>
          <a:xfrm>
            <a:off x="1463040" y="3758184"/>
            <a:ext cx="2926080" cy="256032"/>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50%  여기서 다시 누르면 재타건</a:t>
            </a:r>
            <a:endParaRPr lang="en-US" sz="1150" dirty="0"/>
          </a:p>
        </p:txBody>
      </p:sp>
      <p:sp>
        <p:nvSpPr>
          <p:cNvPr id="16" name="Shape 14"/>
          <p:cNvSpPr/>
          <p:nvPr/>
        </p:nvSpPr>
        <p:spPr>
          <a:xfrm>
            <a:off x="640080" y="4297680"/>
            <a:ext cx="731520" cy="0"/>
          </a:xfrm>
          <a:prstGeom prst="line">
            <a:avLst/>
          </a:prstGeom>
          <a:noFill/>
          <a:ln w="15875">
            <a:solidFill>
              <a:srgbClr val="D9482B"/>
            </a:solidFill>
            <a:prstDash val="solid"/>
          </a:ln>
        </p:spPr>
        <p:txBody>
          <a:bodyPr/>
          <a:lstStyle/>
          <a:p>
            <a:endParaRPr lang="en-KR"/>
          </a:p>
        </p:txBody>
      </p:sp>
      <p:sp>
        <p:nvSpPr>
          <p:cNvPr id="17" name="Text 15"/>
          <p:cNvSpPr txBox="1"/>
          <p:nvPr/>
        </p:nvSpPr>
        <p:spPr>
          <a:xfrm>
            <a:off x="1463040" y="4169664"/>
            <a:ext cx="2926080"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40%  속도 측정 시작</a:t>
            </a:r>
            <a:endParaRPr lang="en-US" sz="1150" dirty="0"/>
          </a:p>
        </p:txBody>
      </p:sp>
      <p:sp>
        <p:nvSpPr>
          <p:cNvPr id="18" name="Shape 16"/>
          <p:cNvSpPr/>
          <p:nvPr/>
        </p:nvSpPr>
        <p:spPr>
          <a:xfrm>
            <a:off x="640080" y="4503420"/>
            <a:ext cx="731520" cy="0"/>
          </a:xfrm>
          <a:prstGeom prst="line">
            <a:avLst/>
          </a:prstGeom>
          <a:noFill/>
          <a:ln w="15875">
            <a:solidFill>
              <a:srgbClr val="444A54"/>
            </a:solidFill>
            <a:prstDash val="solid"/>
          </a:ln>
        </p:spPr>
        <p:txBody>
          <a:bodyPr/>
          <a:lstStyle/>
          <a:p>
            <a:endParaRPr lang="en-KR"/>
          </a:p>
        </p:txBody>
      </p:sp>
      <p:sp>
        <p:nvSpPr>
          <p:cNvPr id="19" name="Text 17"/>
          <p:cNvSpPr txBox="1"/>
          <p:nvPr/>
        </p:nvSpPr>
        <p:spPr>
          <a:xfrm>
            <a:off x="1463040" y="4443984"/>
            <a:ext cx="2926080" cy="256032"/>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35%  Note Off — 소리 멈춤</a:t>
            </a:r>
            <a:endParaRPr lang="en-US" sz="1150" dirty="0"/>
          </a:p>
        </p:txBody>
      </p:sp>
      <p:sp>
        <p:nvSpPr>
          <p:cNvPr id="20" name="Shape 18"/>
          <p:cNvSpPr/>
          <p:nvPr/>
        </p:nvSpPr>
        <p:spPr>
          <a:xfrm>
            <a:off x="640080" y="5943600"/>
            <a:ext cx="731520" cy="0"/>
          </a:xfrm>
          <a:prstGeom prst="line">
            <a:avLst/>
          </a:prstGeom>
          <a:noFill/>
          <a:ln w="15875">
            <a:solidFill>
              <a:srgbClr val="767D88"/>
            </a:solidFill>
            <a:prstDash val="solid"/>
          </a:ln>
        </p:spPr>
        <p:txBody>
          <a:bodyPr/>
          <a:lstStyle/>
          <a:p>
            <a:endParaRPr lang="en-KR"/>
          </a:p>
        </p:txBody>
      </p:sp>
      <p:sp>
        <p:nvSpPr>
          <p:cNvPr id="21" name="Text 19"/>
          <p:cNvSpPr txBox="1"/>
          <p:nvPr/>
        </p:nvSpPr>
        <p:spPr>
          <a:xfrm>
            <a:off x="1463040" y="5815584"/>
            <a:ext cx="2926080" cy="256032"/>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0%  쉬는 상태</a:t>
            </a:r>
            <a:endParaRPr lang="en-US" sz="1150" dirty="0"/>
          </a:p>
        </p:txBody>
      </p:sp>
      <p:sp>
        <p:nvSpPr>
          <p:cNvPr id="22" name="Text 20"/>
          <p:cNvSpPr txBox="1"/>
          <p:nvPr/>
        </p:nvSpPr>
        <p:spPr>
          <a:xfrm>
            <a:off x="1463040" y="2610612"/>
            <a:ext cx="2377440" cy="502920"/>
          </a:xfrm>
          <a:prstGeom prst="rect">
            <a:avLst/>
          </a:prstGeom>
          <a:noFill/>
          <a:ln/>
        </p:spPr>
        <p:txBody>
          <a:bodyPr wrap="square" lIns="0" tIns="0" rIns="0" bIns="0" rtlCol="0" anchor="t"/>
          <a:lstStyle/>
          <a:p>
            <a:pPr marL="0" indent="0">
              <a:buNone/>
            </a:pPr>
            <a:r>
              <a:rPr lang="en-US" sz="1100" i="1" dirty="0">
                <a:solidFill>
                  <a:srgbClr val="D9482B"/>
                </a:solidFill>
                <a:latin typeface="Apple SD Gothic Neo" pitchFamily="34" charset="0"/>
                <a:ea typeface="Apple SD Gothic Neo" pitchFamily="34" charset="-122"/>
                <a:cs typeface="Apple SD Gothic Neo" pitchFamily="34" charset="-120"/>
              </a:rPr>
              <a:t>40% → 90%를 지나는</a:t>
            </a:r>
            <a:endParaRPr lang="en-US" sz="1100" dirty="0"/>
          </a:p>
          <a:p>
            <a:pPr marL="0" indent="0">
              <a:buNone/>
            </a:pPr>
            <a:r>
              <a:rPr lang="en-US" sz="1100" i="1" dirty="0">
                <a:solidFill>
                  <a:srgbClr val="D9482B"/>
                </a:solidFill>
                <a:latin typeface="Apple SD Gothic Neo" pitchFamily="34" charset="0"/>
                <a:ea typeface="Apple SD Gothic Neo" pitchFamily="34" charset="-122"/>
                <a:cs typeface="Apple SD Gothic Neo" pitchFamily="34" charset="-120"/>
              </a:rPr>
              <a:t>시간이 짧을수록 세게</a:t>
            </a:r>
            <a:endParaRPr lang="en-US" sz="1100" dirty="0"/>
          </a:p>
        </p:txBody>
      </p:sp>
      <p:sp>
        <p:nvSpPr>
          <p:cNvPr id="23" name="Shape 21"/>
          <p:cNvSpPr/>
          <p:nvPr/>
        </p:nvSpPr>
        <p:spPr>
          <a:xfrm>
            <a:off x="4754880" y="1490472"/>
            <a:ext cx="420624" cy="420624"/>
          </a:xfrm>
          <a:prstGeom prst="ellipse">
            <a:avLst/>
          </a:prstGeom>
          <a:solidFill>
            <a:srgbClr val="16181D"/>
          </a:solidFill>
          <a:ln w="12700">
            <a:solidFill>
              <a:srgbClr val="16181D"/>
            </a:solidFill>
            <a:prstDash val="solid"/>
          </a:ln>
        </p:spPr>
        <p:txBody>
          <a:bodyPr/>
          <a:lstStyle/>
          <a:p>
            <a:endParaRPr lang="en-KR"/>
          </a:p>
        </p:txBody>
      </p:sp>
      <p:sp>
        <p:nvSpPr>
          <p:cNvPr id="24" name="Text 22"/>
          <p:cNvSpPr txBox="1"/>
          <p:nvPr/>
        </p:nvSpPr>
        <p:spPr>
          <a:xfrm>
            <a:off x="4754880" y="149047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1</a:t>
            </a:r>
            <a:endParaRPr lang="en-US" sz="1300" dirty="0"/>
          </a:p>
        </p:txBody>
      </p:sp>
      <p:sp>
        <p:nvSpPr>
          <p:cNvPr id="25" name="Text 23"/>
          <p:cNvSpPr txBox="1"/>
          <p:nvPr/>
        </p:nvSpPr>
        <p:spPr>
          <a:xfrm>
            <a:off x="5349240" y="1517904"/>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누름</a:t>
            </a:r>
            <a:endParaRPr lang="en-US" sz="1450" dirty="0"/>
          </a:p>
        </p:txBody>
      </p:sp>
      <p:sp>
        <p:nvSpPr>
          <p:cNvPr id="26" name="Text 24"/>
          <p:cNvSpPr txBox="1"/>
          <p:nvPr/>
        </p:nvSpPr>
        <p:spPr>
          <a:xfrm>
            <a:off x="6446520" y="1517904"/>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건반이 </a:t>
            </a:r>
            <a:r>
              <a:rPr lang="en-US" sz="1300" dirty="0" err="1">
                <a:solidFill>
                  <a:srgbClr val="444A54"/>
                </a:solidFill>
                <a:latin typeface="Apple SD Gothic Neo" pitchFamily="34" charset="0"/>
                <a:ea typeface="Apple SD Gothic Neo" pitchFamily="34" charset="-122"/>
                <a:cs typeface="Apple SD Gothic Neo" pitchFamily="34" charset="-120"/>
              </a:rPr>
              <a:t>시소처럼</a:t>
            </a:r>
            <a:r>
              <a:rPr lang="en-US" sz="1300" dirty="0">
                <a:solidFill>
                  <a:srgbClr val="444A54"/>
                </a:solidFill>
                <a:latin typeface="Apple SD Gothic Neo" pitchFamily="34" charset="0"/>
                <a:ea typeface="Apple SD Gothic Neo" pitchFamily="34" charset="-122"/>
                <a:cs typeface="Apple SD Gothic Neo" pitchFamily="34" charset="-120"/>
              </a:rPr>
              <a:t> </a:t>
            </a:r>
            <a:r>
              <a:rPr lang="ko-KR" altLang="en-US" sz="1300" dirty="0">
                <a:solidFill>
                  <a:srgbClr val="444A54"/>
                </a:solidFill>
                <a:latin typeface="Apple SD Gothic Neo" pitchFamily="34" charset="0"/>
                <a:ea typeface="Apple SD Gothic Neo" pitchFamily="34" charset="-122"/>
                <a:cs typeface="Apple SD Gothic Neo" pitchFamily="34" charset="-120"/>
              </a:rPr>
              <a:t>내려가면서</a:t>
            </a:r>
            <a:r>
              <a:rPr lang="en-US" sz="1300" dirty="0">
                <a:solidFill>
                  <a:srgbClr val="444A54"/>
                </a:solidFill>
                <a:latin typeface="Apple SD Gothic Neo" pitchFamily="34" charset="0"/>
                <a:ea typeface="Apple SD Gothic Neo" pitchFamily="34" charset="-122"/>
                <a:cs typeface="Apple SD Gothic Neo" pitchFamily="34" charset="-120"/>
              </a:rPr>
              <a:t> 밑면 자석이 아래 홀센서 </a:t>
            </a:r>
            <a:r>
              <a:rPr lang="en-US" sz="1300" dirty="0" err="1">
                <a:solidFill>
                  <a:srgbClr val="444A54"/>
                </a:solidFill>
                <a:latin typeface="Apple SD Gothic Neo" pitchFamily="34" charset="0"/>
                <a:ea typeface="Apple SD Gothic Neo" pitchFamily="34" charset="-122"/>
                <a:cs typeface="Apple SD Gothic Neo" pitchFamily="34" charset="-120"/>
              </a:rPr>
              <a:t>쪽으로</a:t>
            </a:r>
            <a:r>
              <a:rPr lang="en-US" sz="1300" dirty="0">
                <a:solidFill>
                  <a:srgbClr val="444A54"/>
                </a:solidFill>
                <a:latin typeface="Apple SD Gothic Neo" pitchFamily="34" charset="0"/>
                <a:ea typeface="Apple SD Gothic Neo" pitchFamily="34" charset="-122"/>
                <a:cs typeface="Apple SD Gothic Neo" pitchFamily="34" charset="-120"/>
              </a:rPr>
              <a:t> </a:t>
            </a:r>
            <a:r>
              <a:rPr lang="en-US" sz="1300" dirty="0" err="1">
                <a:solidFill>
                  <a:srgbClr val="444A54"/>
                </a:solidFill>
                <a:latin typeface="Apple SD Gothic Neo" pitchFamily="34" charset="0"/>
                <a:ea typeface="Apple SD Gothic Neo" pitchFamily="34" charset="-122"/>
                <a:cs typeface="Apple SD Gothic Neo" pitchFamily="34" charset="-120"/>
              </a:rPr>
              <a:t>다가</a:t>
            </a:r>
            <a:r>
              <a:rPr lang="ko-KR" altLang="en-US" sz="1300" dirty="0">
                <a:solidFill>
                  <a:srgbClr val="444A54"/>
                </a:solidFill>
                <a:latin typeface="Apple SD Gothic Neo" pitchFamily="34" charset="0"/>
                <a:ea typeface="Apple SD Gothic Neo" pitchFamily="34" charset="-122"/>
                <a:cs typeface="Apple SD Gothic Neo" pitchFamily="34" charset="-120"/>
              </a:rPr>
              <a:t>감</a:t>
            </a:r>
            <a:endParaRPr lang="en-US" sz="1300" dirty="0"/>
          </a:p>
        </p:txBody>
      </p:sp>
      <p:sp>
        <p:nvSpPr>
          <p:cNvPr id="27" name="Shape 25"/>
          <p:cNvSpPr/>
          <p:nvPr/>
        </p:nvSpPr>
        <p:spPr>
          <a:xfrm>
            <a:off x="4754880" y="2340864"/>
            <a:ext cx="420624" cy="420624"/>
          </a:xfrm>
          <a:prstGeom prst="ellipse">
            <a:avLst/>
          </a:prstGeom>
          <a:solidFill>
            <a:srgbClr val="16181D"/>
          </a:solidFill>
          <a:ln w="12700">
            <a:solidFill>
              <a:srgbClr val="16181D"/>
            </a:solidFill>
            <a:prstDash val="solid"/>
          </a:ln>
        </p:spPr>
        <p:txBody>
          <a:bodyPr/>
          <a:lstStyle/>
          <a:p>
            <a:endParaRPr lang="en-KR"/>
          </a:p>
        </p:txBody>
      </p:sp>
      <p:sp>
        <p:nvSpPr>
          <p:cNvPr id="28" name="Text 26"/>
          <p:cNvSpPr txBox="1"/>
          <p:nvPr/>
        </p:nvSpPr>
        <p:spPr>
          <a:xfrm>
            <a:off x="4754880" y="234086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2</a:t>
            </a:r>
            <a:endParaRPr lang="en-US" sz="1300" dirty="0"/>
          </a:p>
        </p:txBody>
      </p:sp>
      <p:sp>
        <p:nvSpPr>
          <p:cNvPr id="29" name="Text 27"/>
          <p:cNvSpPr txBox="1"/>
          <p:nvPr/>
        </p:nvSpPr>
        <p:spPr>
          <a:xfrm>
            <a:off x="5349240" y="2368296"/>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측정</a:t>
            </a:r>
            <a:endParaRPr lang="en-US" sz="1450" dirty="0"/>
          </a:p>
        </p:txBody>
      </p:sp>
      <p:sp>
        <p:nvSpPr>
          <p:cNvPr id="30" name="Text 28"/>
          <p:cNvSpPr txBox="1"/>
          <p:nvPr/>
        </p:nvSpPr>
        <p:spPr>
          <a:xfrm>
            <a:off x="6446520" y="2368296"/>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RP2040-Zero가 16채널 MUX로 12건반을 차례로 읽음 (건반마다 초당 약 6,000번)</a:t>
            </a:r>
            <a:endParaRPr lang="en-US" sz="1300" dirty="0"/>
          </a:p>
        </p:txBody>
      </p:sp>
      <p:sp>
        <p:nvSpPr>
          <p:cNvPr id="31" name="Shape 29"/>
          <p:cNvSpPr/>
          <p:nvPr/>
        </p:nvSpPr>
        <p:spPr>
          <a:xfrm>
            <a:off x="4754880" y="3191256"/>
            <a:ext cx="420624" cy="420624"/>
          </a:xfrm>
          <a:prstGeom prst="ellipse">
            <a:avLst/>
          </a:prstGeom>
          <a:solidFill>
            <a:srgbClr val="16181D"/>
          </a:solidFill>
          <a:ln w="12700">
            <a:solidFill>
              <a:srgbClr val="16181D"/>
            </a:solidFill>
            <a:prstDash val="solid"/>
          </a:ln>
        </p:spPr>
        <p:txBody>
          <a:bodyPr/>
          <a:lstStyle/>
          <a:p>
            <a:endParaRPr lang="en-KR"/>
          </a:p>
        </p:txBody>
      </p:sp>
      <p:sp>
        <p:nvSpPr>
          <p:cNvPr id="32" name="Text 30"/>
          <p:cNvSpPr txBox="1"/>
          <p:nvPr/>
        </p:nvSpPr>
        <p:spPr>
          <a:xfrm>
            <a:off x="4754880" y="319125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3</a:t>
            </a:r>
            <a:endParaRPr lang="en-US" sz="1300" dirty="0"/>
          </a:p>
        </p:txBody>
      </p:sp>
      <p:sp>
        <p:nvSpPr>
          <p:cNvPr id="33" name="Text 31"/>
          <p:cNvSpPr txBox="1"/>
          <p:nvPr/>
        </p:nvSpPr>
        <p:spPr>
          <a:xfrm>
            <a:off x="5349240" y="3218688"/>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계산</a:t>
            </a:r>
            <a:endParaRPr lang="en-US" sz="1450" dirty="0"/>
          </a:p>
        </p:txBody>
      </p:sp>
      <p:sp>
        <p:nvSpPr>
          <p:cNvPr id="34" name="Text 32"/>
          <p:cNvSpPr txBox="1"/>
          <p:nvPr/>
        </p:nvSpPr>
        <p:spPr>
          <a:xfrm>
            <a:off x="6446520" y="3218688"/>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위치가 40% → 90%를 지나는 시간으로 세기(벨로시티) 계산. 무게 레버가 튀어 생긴 가짜 재타건은 펌웨어가 걸러냄</a:t>
            </a:r>
            <a:endParaRPr lang="en-US" sz="1300" dirty="0"/>
          </a:p>
        </p:txBody>
      </p:sp>
      <p:sp>
        <p:nvSpPr>
          <p:cNvPr id="35" name="Shape 33"/>
          <p:cNvSpPr/>
          <p:nvPr/>
        </p:nvSpPr>
        <p:spPr>
          <a:xfrm>
            <a:off x="4754880" y="4041648"/>
            <a:ext cx="420624" cy="420624"/>
          </a:xfrm>
          <a:prstGeom prst="ellipse">
            <a:avLst/>
          </a:prstGeom>
          <a:solidFill>
            <a:srgbClr val="16181D"/>
          </a:solidFill>
          <a:ln w="12700">
            <a:solidFill>
              <a:srgbClr val="16181D"/>
            </a:solidFill>
            <a:prstDash val="solid"/>
          </a:ln>
        </p:spPr>
        <p:txBody>
          <a:bodyPr/>
          <a:lstStyle/>
          <a:p>
            <a:endParaRPr lang="en-KR"/>
          </a:p>
        </p:txBody>
      </p:sp>
      <p:sp>
        <p:nvSpPr>
          <p:cNvPr id="36" name="Text 34"/>
          <p:cNvSpPr txBox="1"/>
          <p:nvPr/>
        </p:nvSpPr>
        <p:spPr>
          <a:xfrm>
            <a:off x="4754880" y="40416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4</a:t>
            </a:r>
            <a:endParaRPr lang="en-US" sz="1300" dirty="0"/>
          </a:p>
        </p:txBody>
      </p:sp>
      <p:sp>
        <p:nvSpPr>
          <p:cNvPr id="37" name="Text 35"/>
          <p:cNvSpPr txBox="1"/>
          <p:nvPr/>
        </p:nvSpPr>
        <p:spPr>
          <a:xfrm>
            <a:off x="5349240" y="4069080"/>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전송</a:t>
            </a:r>
            <a:endParaRPr lang="en-US" sz="1450" dirty="0"/>
          </a:p>
        </p:txBody>
      </p:sp>
      <p:sp>
        <p:nvSpPr>
          <p:cNvPr id="38" name="Text 36"/>
          <p:cNvSpPr txBox="1"/>
          <p:nvPr/>
        </p:nvSpPr>
        <p:spPr>
          <a:xfrm>
            <a:off x="6446520" y="4069080"/>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USB-MIDI 장치 ‘Toccata O1~O7’·‘PED’가 Note On/Off와 페달 값(0~127)을 Pi 5로 </a:t>
            </a:r>
            <a:r>
              <a:rPr lang="en-US" sz="1300" dirty="0" err="1">
                <a:solidFill>
                  <a:srgbClr val="444A54"/>
                </a:solidFill>
                <a:latin typeface="Apple SD Gothic Neo" pitchFamily="34" charset="0"/>
                <a:ea typeface="Apple SD Gothic Neo" pitchFamily="34" charset="-122"/>
                <a:cs typeface="Apple SD Gothic Neo" pitchFamily="34" charset="-120"/>
              </a:rPr>
              <a:t>보</a:t>
            </a:r>
            <a:r>
              <a:rPr lang="ko-KR" altLang="en-US" sz="1300" dirty="0">
                <a:solidFill>
                  <a:srgbClr val="444A54"/>
                </a:solidFill>
                <a:latin typeface="Apple SD Gothic Neo" pitchFamily="34" charset="0"/>
                <a:ea typeface="Apple SD Gothic Neo" pitchFamily="34" charset="-122"/>
                <a:cs typeface="Apple SD Gothic Neo" pitchFamily="34" charset="-120"/>
              </a:rPr>
              <a:t>내 입력 정보를 제공</a:t>
            </a:r>
            <a:endParaRPr lang="en-US" sz="1300" dirty="0"/>
          </a:p>
        </p:txBody>
      </p:sp>
      <p:sp>
        <p:nvSpPr>
          <p:cNvPr id="39" name="Shape 37"/>
          <p:cNvSpPr/>
          <p:nvPr/>
        </p:nvSpPr>
        <p:spPr>
          <a:xfrm>
            <a:off x="4754880" y="4892040"/>
            <a:ext cx="420624" cy="420624"/>
          </a:xfrm>
          <a:prstGeom prst="ellipse">
            <a:avLst/>
          </a:prstGeom>
          <a:solidFill>
            <a:srgbClr val="16181D"/>
          </a:solidFill>
          <a:ln w="12700">
            <a:solidFill>
              <a:srgbClr val="16181D"/>
            </a:solidFill>
            <a:prstDash val="solid"/>
          </a:ln>
        </p:spPr>
        <p:txBody>
          <a:bodyPr/>
          <a:lstStyle/>
          <a:p>
            <a:endParaRPr lang="en-KR"/>
          </a:p>
        </p:txBody>
      </p:sp>
      <p:sp>
        <p:nvSpPr>
          <p:cNvPr id="40" name="Text 38"/>
          <p:cNvSpPr txBox="1"/>
          <p:nvPr/>
        </p:nvSpPr>
        <p:spPr>
          <a:xfrm>
            <a:off x="4754880" y="48920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5</a:t>
            </a:r>
            <a:endParaRPr lang="en-US" sz="1300" dirty="0"/>
          </a:p>
        </p:txBody>
      </p:sp>
      <p:sp>
        <p:nvSpPr>
          <p:cNvPr id="41" name="Text 39"/>
          <p:cNvSpPr txBox="1"/>
          <p:nvPr/>
        </p:nvSpPr>
        <p:spPr>
          <a:xfrm>
            <a:off x="5349240" y="4919472"/>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소리 · 게임</a:t>
            </a:r>
            <a:endParaRPr lang="en-US" sz="1450" dirty="0"/>
          </a:p>
        </p:txBody>
      </p:sp>
      <p:sp>
        <p:nvSpPr>
          <p:cNvPr id="42" name="Text 40"/>
          <p:cNvSpPr txBox="1"/>
          <p:nvPr/>
        </p:nvSpPr>
        <p:spPr>
          <a:xfrm>
            <a:off x="6446520" y="4919472"/>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Pi 5의 FluidSynth가 피아노 소리를 만들고, 2단계에서는 같은 신호를 리듬게임이 </a:t>
            </a:r>
            <a:r>
              <a:rPr lang="en-US" sz="1300" dirty="0" err="1">
                <a:solidFill>
                  <a:srgbClr val="444A54"/>
                </a:solidFill>
                <a:latin typeface="Apple SD Gothic Neo" pitchFamily="34" charset="0"/>
                <a:ea typeface="Apple SD Gothic Neo" pitchFamily="34" charset="-122"/>
                <a:cs typeface="Apple SD Gothic Neo" pitchFamily="34" charset="-120"/>
              </a:rPr>
              <a:t>입력으로</a:t>
            </a:r>
            <a:r>
              <a:rPr lang="en-US" sz="1300" dirty="0">
                <a:solidFill>
                  <a:srgbClr val="444A54"/>
                </a:solidFill>
                <a:latin typeface="Apple SD Gothic Neo" pitchFamily="34" charset="0"/>
                <a:ea typeface="Apple SD Gothic Neo" pitchFamily="34" charset="-122"/>
                <a:cs typeface="Apple SD Gothic Neo" pitchFamily="34" charset="-120"/>
              </a:rPr>
              <a:t> </a:t>
            </a:r>
            <a:r>
              <a:rPr lang="en-US" sz="1300" dirty="0" err="1">
                <a:solidFill>
                  <a:srgbClr val="444A54"/>
                </a:solidFill>
                <a:latin typeface="Apple SD Gothic Neo" pitchFamily="34" charset="0"/>
                <a:ea typeface="Apple SD Gothic Neo" pitchFamily="34" charset="-122"/>
                <a:cs typeface="Apple SD Gothic Neo" pitchFamily="34" charset="-120"/>
              </a:rPr>
              <a:t>받</a:t>
            </a:r>
            <a:r>
              <a:rPr lang="ko-KR" altLang="en-US" sz="1300" dirty="0">
                <a:solidFill>
                  <a:srgbClr val="444A54"/>
                </a:solidFill>
                <a:latin typeface="Apple SD Gothic Neo" pitchFamily="34" charset="0"/>
                <a:ea typeface="Apple SD Gothic Neo" pitchFamily="34" charset="-122"/>
                <a:cs typeface="Apple SD Gothic Neo" pitchFamily="34" charset="-120"/>
              </a:rPr>
              <a:t>음</a:t>
            </a:r>
            <a:endParaRPr lang="en-US" sz="1300" dirty="0"/>
          </a:p>
        </p:txBody>
      </p:sp>
      <p:sp>
        <p:nvSpPr>
          <p:cNvPr id="43" name="Shape 41"/>
          <p:cNvSpPr/>
          <p:nvPr/>
        </p:nvSpPr>
        <p:spPr>
          <a:xfrm>
            <a:off x="4754880" y="5760720"/>
            <a:ext cx="6888175" cy="548640"/>
          </a:xfrm>
          <a:prstGeom prst="roundRect">
            <a:avLst>
              <a:gd name="adj" fmla="val 13333"/>
            </a:avLst>
          </a:prstGeom>
          <a:solidFill>
            <a:srgbClr val="121317"/>
          </a:solidFill>
          <a:ln w="12700">
            <a:solidFill>
              <a:srgbClr val="121317"/>
            </a:solidFill>
            <a:prstDash val="solid"/>
          </a:ln>
        </p:spPr>
        <p:txBody>
          <a:bodyPr/>
          <a:lstStyle/>
          <a:p>
            <a:endParaRPr lang="en-KR"/>
          </a:p>
        </p:txBody>
      </p:sp>
      <p:sp>
        <p:nvSpPr>
          <p:cNvPr id="44" name="Text 42"/>
          <p:cNvSpPr txBox="1"/>
          <p:nvPr/>
        </p:nvSpPr>
        <p:spPr>
          <a:xfrm>
            <a:off x="4983480" y="5760720"/>
            <a:ext cx="6430975" cy="548640"/>
          </a:xfrm>
          <a:prstGeom prst="rect">
            <a:avLst/>
          </a:prstGeom>
          <a:noFill/>
          <a:ln/>
        </p:spPr>
        <p:txBody>
          <a:bodyPr wrap="square" lIns="0" tIns="0" rIns="0" bIns="0" rtlCol="0" anchor="ctr"/>
          <a:lstStyle/>
          <a:p>
            <a:pPr marL="0" indent="0">
              <a:buNone/>
            </a:pPr>
            <a:r>
              <a:rPr lang="en-US" sz="1350" b="1" dirty="0">
                <a:solidFill>
                  <a:srgbClr val="D9482B"/>
                </a:solidFill>
                <a:latin typeface="Apple SD Gothic Neo" pitchFamily="34" charset="0"/>
                <a:ea typeface="Apple SD Gothic Neo" pitchFamily="34" charset="-122"/>
                <a:cs typeface="Apple SD Gothic Neo" pitchFamily="34" charset="-120"/>
              </a:rPr>
              <a:t>목표 지연  </a:t>
            </a:r>
            <a:r>
              <a:rPr lang="en-US" sz="1350" dirty="0">
                <a:solidFill>
                  <a:srgbClr val="FFFFFF"/>
                </a:solidFill>
                <a:latin typeface="Apple SD Gothic Neo" pitchFamily="34" charset="0"/>
                <a:ea typeface="Apple SD Gothic Neo" pitchFamily="34" charset="-122"/>
                <a:cs typeface="Apple SD Gothic Neo" pitchFamily="34" charset="-120"/>
              </a:rPr>
              <a:t>누르고 소리가 나기까지 10 ms 미만 (예상 8~10 ms)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10</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r>
              <a:rPr lang="en-US" sz="2800" b="1" dirty="0">
                <a:solidFill>
                  <a:srgbClr val="16181D"/>
                </a:solidFill>
                <a:latin typeface="Apple SD Gothic Neo" pitchFamily="34" charset="0"/>
                <a:ea typeface="Apple SD Gothic Neo" pitchFamily="34" charset="-122"/>
                <a:cs typeface="Apple SD Gothic Neo" pitchFamily="34" charset="-120"/>
              </a:rPr>
              <a:t>전자부 </a:t>
            </a:r>
            <a:r>
              <a:rPr lang="en-US" sz="2800" b="1" dirty="0" err="1">
                <a:solidFill>
                  <a:srgbClr val="16181D"/>
                </a:solidFill>
                <a:latin typeface="Apple SD Gothic Neo" pitchFamily="34" charset="0"/>
                <a:ea typeface="Apple SD Gothic Neo" pitchFamily="34" charset="-122"/>
                <a:cs typeface="Apple SD Gothic Neo" pitchFamily="34" charset="-120"/>
              </a:rPr>
              <a:t>회로</a:t>
            </a:r>
            <a:r>
              <a:rPr lang="en-US" sz="2800" b="1" dirty="0">
                <a:solidFill>
                  <a:srgbClr val="16181D"/>
                </a:solidFill>
                <a:latin typeface="Apple SD Gothic Neo" pitchFamily="34" charset="0"/>
                <a:ea typeface="Apple SD Gothic Neo" pitchFamily="34" charset="-122"/>
                <a:cs typeface="Apple SD Gothic Neo" pitchFamily="34" charset="-120"/>
              </a:rPr>
              <a:t> ①</a:t>
            </a:r>
            <a:r>
              <a:rPr lang="ko-KR" altLang="en-US" sz="2800" b="1" dirty="0">
                <a:solidFill>
                  <a:srgbClr val="16181D"/>
                </a:solidFill>
                <a:latin typeface="Apple SD Gothic Neo" pitchFamily="34" charset="0"/>
                <a:ea typeface="Apple SD Gothic Neo" pitchFamily="34" charset="-122"/>
                <a:cs typeface="Apple SD Gothic Neo" pitchFamily="34" charset="-120"/>
              </a:rPr>
              <a:t> </a:t>
            </a:r>
            <a:endParaRPr lang="en-US" sz="2800" dirty="0"/>
          </a:p>
        </p:txBody>
      </p:sp>
      <p:pic>
        <p:nvPicPr>
          <p:cNvPr id="7" name="Image 0" descr="/private/tmp/claude-501/-Users-kwg-Desktop-mydrive-project-Toccata/78323d34-2a2b-4f50-ae4c-82ce3905c7c6/scratchpad/ppt4/assets/c_sch01.png"/>
          <p:cNvPicPr>
            <a:picLocks noChangeAspect="1"/>
          </p:cNvPicPr>
          <p:nvPr/>
        </p:nvPicPr>
        <p:blipFill>
          <a:blip r:embed="rId3"/>
          <a:stretch>
            <a:fillRect/>
          </a:stretch>
        </p:blipFill>
        <p:spPr>
          <a:xfrm>
            <a:off x="2895905" y="1298448"/>
            <a:ext cx="6400800" cy="3022092"/>
          </a:xfrm>
          <a:prstGeom prst="rect">
            <a:avLst/>
          </a:prstGeom>
        </p:spPr>
      </p:pic>
      <p:sp>
        <p:nvSpPr>
          <p:cNvPr id="8" name="Text 5"/>
          <p:cNvSpPr txBox="1"/>
          <p:nvPr/>
        </p:nvSpPr>
        <p:spPr>
          <a:xfrm>
            <a:off x="2895905" y="4352544"/>
            <a:ext cx="635508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SCH-01 시스템 연결도 (개정 B · W1 r4.5)</a:t>
            </a:r>
            <a:r>
              <a:rPr lang="en-US" sz="1000" dirty="0" err="1">
                <a:solidFill>
                  <a:srgbClr val="767D88"/>
                </a:solidFill>
                <a:latin typeface="Apple SD Gothic Neo" pitchFamily="34" charset="0"/>
                <a:ea typeface="Apple SD Gothic Neo" pitchFamily="34" charset="-122"/>
                <a:cs typeface="Apple SD Gothic Neo" pitchFamily="34" charset="-120"/>
              </a:rPr>
              <a:t/>
            </a:r>
            <a:r>
              <a:rPr lang="en-US" sz="1000" dirty="0">
                <a:solidFill>
                  <a:srgbClr val="767D88"/>
                </a:solidFill>
                <a:latin typeface="Apple SD Gothic Neo" pitchFamily="34" charset="0"/>
                <a:ea typeface="Apple SD Gothic Neo" pitchFamily="34" charset="-122"/>
                <a:cs typeface="Apple SD Gothic Neo" pitchFamily="34" charset="-120"/>
              </a:rPr>
              <a:t/>
            </a:r>
            <a:r>
              <a:rPr lang="en-US" sz="1000" dirty="0" err="1">
                <a:solidFill>
                  <a:srgbClr val="767D88"/>
                </a:solidFill>
                <a:latin typeface="Apple SD Gothic Neo" pitchFamily="34" charset="0"/>
                <a:ea typeface="Apple SD Gothic Neo" pitchFamily="34" charset="-122"/>
                <a:cs typeface="Apple SD Gothic Neo" pitchFamily="34" charset="-120"/>
              </a:rPr>
              <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363010191"/>
              </p:ext>
            </p:extLst>
          </p:nvPr>
        </p:nvGraphicFramePr>
        <p:xfrm>
          <a:off x="1588313" y="4645152"/>
          <a:ext cx="9015238" cy="1672422"/>
        </p:xfrm>
        <a:graphic>
          <a:graphicData uri="http://schemas.openxmlformats.org/drawingml/2006/table">
            <a:tbl>
              <a:tblPr/>
              <a:tblGrid>
                <a:gridCol w="2010593">
                  <a:extLst>
                    <a:ext uri="{9D8B030D-6E8A-4147-A177-3AD203B41FA5}">
                      <a16:colId xmlns:a16="http://schemas.microsoft.com/office/drawing/2014/main" val="20000"/>
                    </a:ext>
                  </a:extLst>
                </a:gridCol>
                <a:gridCol w="972867">
                  <a:extLst>
                    <a:ext uri="{9D8B030D-6E8A-4147-A177-3AD203B41FA5}">
                      <a16:colId xmlns:a16="http://schemas.microsoft.com/office/drawing/2014/main" val="20001"/>
                    </a:ext>
                  </a:extLst>
                </a:gridCol>
                <a:gridCol w="6031778">
                  <a:extLst>
                    <a:ext uri="{9D8B030D-6E8A-4147-A177-3AD203B41FA5}">
                      <a16:colId xmlns:a16="http://schemas.microsoft.com/office/drawing/2014/main" val="20002"/>
                    </a:ext>
                  </a:extLst>
                </a:gridCol>
              </a:tblGrid>
              <a:tr h="278737">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보드</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수량</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내용</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SB 센서 기판</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7</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홀센서 DRV5055 12개 + 센서마다 100 </a:t>
                      </a:r>
                      <a:r>
                        <a:rPr lang="en-US" sz="1050" dirty="0" err="1">
                          <a:solidFill>
                            <a:srgbClr val="444A54"/>
                          </a:solidFill>
                          <a:latin typeface="Apple SD Gothic Neo" pitchFamily="34" charset="0"/>
                          <a:ea typeface="Apple SD Gothic Neo" pitchFamily="34" charset="-122"/>
                          <a:cs typeface="Apple SD Gothic Neo" pitchFamily="34" charset="-120"/>
                        </a:rPr>
                        <a:t>nF</a:t>
                      </a:r>
                      <a:r>
                        <a:rPr lang="en-US" sz="1050" dirty="0">
                          <a:solidFill>
                            <a:srgbClr val="444A54"/>
                          </a:solidFill>
                          <a:latin typeface="Apple SD Gothic Neo" pitchFamily="34" charset="0"/>
                          <a:ea typeface="Apple SD Gothic Neo" pitchFamily="34" charset="-122"/>
                          <a:cs typeface="Apple SD Gothic Neo" pitchFamily="34" charset="-120"/>
                        </a:rPr>
                        <a:t>,</a:t>
                      </a:r>
                      <a:r>
                        <a:rPr lang="ko-KR" altLang="en-US" sz="1050" dirty="0">
                          <a:solidFill>
                            <a:srgbClr val="444A54"/>
                          </a:solidFill>
                          <a:latin typeface="Apple SD Gothic Neo" pitchFamily="34" charset="0"/>
                          <a:ea typeface="Apple SD Gothic Neo" pitchFamily="34" charset="-122"/>
                          <a:cs typeface="Apple SD Gothic Neo" pitchFamily="34" charset="-120"/>
                        </a:rPr>
                        <a:t> </a:t>
                      </a:r>
                      <a:r>
                        <a:rPr lang="en-US" sz="1050" dirty="0" err="1">
                          <a:solidFill>
                            <a:srgbClr val="444A54"/>
                          </a:solidFill>
                          <a:latin typeface="Apple SD Gothic Neo" pitchFamily="34" charset="0"/>
                          <a:ea typeface="Apple SD Gothic Neo" pitchFamily="34" charset="-122"/>
                          <a:cs typeface="Apple SD Gothic Neo" pitchFamily="34" charset="-120"/>
                        </a:rPr>
                        <a:t>양</a:t>
                      </a:r>
                      <a:r>
                        <a:rPr lang="en-US" sz="1050" dirty="0">
                          <a:solidFill>
                            <a:srgbClr val="444A54"/>
                          </a:solidFill>
                          <a:latin typeface="Apple SD Gothic Neo" pitchFamily="34" charset="0"/>
                          <a:ea typeface="Apple SD Gothic Neo" pitchFamily="34" charset="-122"/>
                          <a:cs typeface="Apple SD Gothic Neo" pitchFamily="34" charset="-120"/>
                        </a:rPr>
                        <a:t> 끝 10 µF, 리본 16심</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1"/>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MB 제어 기판</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7</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RP2040-Zero + MUX, ID 점퍼로 O1~O7 구분, 밑에서 넣어 고정</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EL · ER 끝 부속</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1 · 1</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센서 3개 · 1개 (칩 부품은 아랫면), JST-XH 6핀으로 O1 · O7에 연결</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PB · PS 페달</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1 · 1</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RP2040-Zero ‘Toccata PED’ + 페달 안 홀센서, 3 m 케이블</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CU 전원 · 오디오</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배선</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PD 20 V → 5.1 V 강압, 동글 → 헤드폰 잭 → 앰프 → 스피커</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11</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② — 옥타브 모듈: 센서 기판 + 제어 기판</a:t>
            </a:r>
            <a:endParaRPr lang="en-US" sz="2800" dirty="0"/>
          </a:p>
        </p:txBody>
      </p:sp>
      <p:pic>
        <p:nvPicPr>
          <p:cNvPr id="7" name="Image 0" descr="/private/tmp/claude-501/-Users-kwg-Desktop-mydrive-project-Toccata/78323d34-2a2b-4f50-ae4c-82ce3905c7c6/scratchpad/ppt4/assets/c_sch02.png"/>
          <p:cNvPicPr>
            <a:picLocks noChangeAspect="1"/>
          </p:cNvPicPr>
          <p:nvPr/>
        </p:nvPicPr>
        <p:blipFill>
          <a:blip r:embed="rId3"/>
          <a:stretch>
            <a:fillRect/>
          </a:stretch>
        </p:blipFill>
        <p:spPr>
          <a:xfrm>
            <a:off x="548640" y="1417320"/>
            <a:ext cx="11094415" cy="1742538"/>
          </a:xfrm>
          <a:prstGeom prst="rect">
            <a:avLst/>
          </a:prstGeom>
        </p:spPr>
      </p:pic>
      <p:sp>
        <p:nvSpPr>
          <p:cNvPr id="8" name="Text 5"/>
          <p:cNvSpPr txBox="1"/>
          <p:nvPr/>
        </p:nvSpPr>
        <p:spPr>
          <a:xfrm>
            <a:off x="548640" y="3187290"/>
            <a:ext cx="11094415"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SCH-02 센서 기판 (SB × 7) — DRV5055 12개를 W1 자석 </a:t>
            </a:r>
            <a:r>
              <a:rPr lang="en-US" sz="1000" dirty="0" err="1">
                <a:solidFill>
                  <a:srgbClr val="767D88"/>
                </a:solidFill>
                <a:latin typeface="Apple SD Gothic Neo" pitchFamily="34" charset="0"/>
                <a:ea typeface="Apple SD Gothic Neo" pitchFamily="34" charset="-122"/>
                <a:cs typeface="Apple SD Gothic Neo" pitchFamily="34" charset="-120"/>
              </a:rPr>
              <a:t>바로</a:t>
            </a:r>
            <a:r>
              <a:rPr lang="en-US" sz="1000" dirty="0">
                <a:solidFill>
                  <a:srgbClr val="767D88"/>
                </a:solidFill>
                <a:latin typeface="Apple SD Gothic Neo" pitchFamily="34" charset="0"/>
                <a:ea typeface="Apple SD Gothic Neo" pitchFamily="34" charset="-122"/>
                <a:cs typeface="Apple SD Gothic Neo" pitchFamily="34" charset="-120"/>
              </a:rPr>
              <a:t> </a:t>
            </a:r>
            <a:r>
              <a:rPr lang="en-US" sz="1000" dirty="0" err="1">
                <a:solidFill>
                  <a:srgbClr val="767D88"/>
                </a:solidFill>
                <a:latin typeface="Apple SD Gothic Neo" pitchFamily="34" charset="0"/>
                <a:ea typeface="Apple SD Gothic Neo" pitchFamily="34" charset="-122"/>
                <a:cs typeface="Apple SD Gothic Neo" pitchFamily="34" charset="-120"/>
              </a:rPr>
              <a:t>아래에</a:t>
            </a:r>
            <a:r>
              <a:rPr lang="en-US" sz="1000" dirty="0">
                <a:solidFill>
                  <a:srgbClr val="767D88"/>
                </a:solidFill>
                <a:latin typeface="Apple SD Gothic Neo" pitchFamily="34" charset="0"/>
                <a:ea typeface="Apple SD Gothic Neo" pitchFamily="34" charset="-122"/>
                <a:cs typeface="Apple SD Gothic Neo" pitchFamily="34" charset="-120"/>
              </a:rPr>
              <a:t> 한 줄로, 센서마다 100 </a:t>
            </a:r>
            <a:r>
              <a:rPr lang="en-US" sz="1000" dirty="0" err="1">
                <a:solidFill>
                  <a:srgbClr val="767D88"/>
                </a:solidFill>
                <a:latin typeface="Apple SD Gothic Neo" pitchFamily="34" charset="0"/>
                <a:ea typeface="Apple SD Gothic Neo" pitchFamily="34" charset="-122"/>
                <a:cs typeface="Apple SD Gothic Neo" pitchFamily="34" charset="-120"/>
              </a:rPr>
              <a:t>nF</a:t>
            </a:r>
            <a:r>
              <a:rPr lang="en-US" sz="1000" dirty="0">
                <a:solidFill>
                  <a:srgbClr val="767D88"/>
                </a:solidFill>
                <a:latin typeface="Apple SD Gothic Neo" pitchFamily="34" charset="0"/>
                <a:ea typeface="Apple SD Gothic Neo" pitchFamily="34" charset="-122"/>
                <a:cs typeface="Apple SD Gothic Neo" pitchFamily="34" charset="-120"/>
              </a:rPr>
              <a:t>,</a:t>
            </a:r>
            <a:r>
              <a:rPr lang="ko-KR" altLang="en-US" sz="1000" dirty="0">
                <a:solidFill>
                  <a:srgbClr val="767D88"/>
                </a:solidFill>
                <a:latin typeface="Apple SD Gothic Neo" pitchFamily="34" charset="0"/>
                <a:ea typeface="Apple SD Gothic Neo" pitchFamily="34" charset="-122"/>
                <a:cs typeface="Apple SD Gothic Neo" pitchFamily="34" charset="-120"/>
              </a:rPr>
              <a:t> </a:t>
            </a:r>
            <a:r>
              <a:rPr lang="en-US" sz="1000" dirty="0" err="1">
                <a:solidFill>
                  <a:srgbClr val="767D88"/>
                </a:solidFill>
                <a:latin typeface="Apple SD Gothic Neo" pitchFamily="34" charset="0"/>
                <a:ea typeface="Apple SD Gothic Neo" pitchFamily="34" charset="-122"/>
                <a:cs typeface="Apple SD Gothic Neo" pitchFamily="34" charset="-120"/>
              </a:rPr>
              <a:t>양</a:t>
            </a:r>
            <a:r>
              <a:rPr lang="en-US" sz="1000" dirty="0">
                <a:solidFill>
                  <a:srgbClr val="767D88"/>
                </a:solidFill>
                <a:latin typeface="Apple SD Gothic Neo" pitchFamily="34" charset="0"/>
                <a:ea typeface="Apple SD Gothic Neo" pitchFamily="34" charset="-122"/>
                <a:cs typeface="Apple SD Gothic Neo" pitchFamily="34" charset="-120"/>
              </a:rPr>
              <a:t> 끝 10 µF</a:t>
            </a:r>
            <a:endParaRPr lang="en-US" sz="1000" dirty="0"/>
          </a:p>
        </p:txBody>
      </p:sp>
      <p:pic>
        <p:nvPicPr>
          <p:cNvPr id="9" name="Image 1" descr="/private/tmp/claude-501/-Users-kwg-Desktop-mydrive-project-Toccata/78323d34-2a2b-4f50-ae4c-82ce3905c7c6/scratchpad/ppt4/assets/c_sch03.png"/>
          <p:cNvPicPr>
            <a:picLocks noChangeAspect="1"/>
          </p:cNvPicPr>
          <p:nvPr/>
        </p:nvPicPr>
        <p:blipFill>
          <a:blip r:embed="rId4"/>
          <a:stretch>
            <a:fillRect/>
          </a:stretch>
        </p:blipFill>
        <p:spPr>
          <a:xfrm>
            <a:off x="548640" y="3611880"/>
            <a:ext cx="7589520" cy="2025982"/>
          </a:xfrm>
          <a:prstGeom prst="rect">
            <a:avLst/>
          </a:prstGeom>
        </p:spPr>
      </p:pic>
      <p:sp>
        <p:nvSpPr>
          <p:cNvPr id="10" name="Text 6"/>
          <p:cNvSpPr txBox="1"/>
          <p:nvPr/>
        </p:nvSpPr>
        <p:spPr>
          <a:xfrm>
            <a:off x="548640" y="5665294"/>
            <a:ext cx="75895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SCH-03 제어 기판 (MB × 7) — 리본 2×8 </a:t>
            </a:r>
            <a:r>
              <a:rPr lang="en-US" sz="1000" dirty="0" err="1">
                <a:solidFill>
                  <a:srgbClr val="767D88"/>
                </a:solidFill>
                <a:latin typeface="Apple SD Gothic Neo" pitchFamily="34" charset="0"/>
                <a:ea typeface="Apple SD Gothic Neo" pitchFamily="34" charset="-122"/>
                <a:cs typeface="Apple SD Gothic Neo" pitchFamily="34" charset="-120"/>
              </a:rPr>
              <a:t>입력</a:t>
            </a:r>
            <a:r>
              <a:rPr lang="en-US" sz="1000" dirty="0">
                <a:solidFill>
                  <a:srgbClr val="767D88"/>
                </a:solidFill>
                <a:latin typeface="Apple SD Gothic Neo" pitchFamily="34" charset="0"/>
                <a:ea typeface="Apple SD Gothic Neo" pitchFamily="34" charset="-122"/>
                <a:cs typeface="Apple SD Gothic Neo" pitchFamily="34" charset="-120"/>
              </a:rPr>
              <a:t>, MUX, RP2040-Zero, ID 점퍼, EXT 풀다운</a:t>
            </a:r>
            <a:endParaRPr lang="en-US" sz="1000" dirty="0"/>
          </a:p>
        </p:txBody>
      </p:sp>
      <p:sp>
        <p:nvSpPr>
          <p:cNvPr id="11" name="Text 7"/>
          <p:cNvSpPr txBox="1"/>
          <p:nvPr/>
        </p:nvSpPr>
        <p:spPr>
          <a:xfrm>
            <a:off x="8412480" y="36118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신호 흐름</a:t>
            </a:r>
            <a:endParaRPr lang="en-US" sz="1150" dirty="0"/>
          </a:p>
        </p:txBody>
      </p:sp>
      <p:sp>
        <p:nvSpPr>
          <p:cNvPr id="12" name="Text 8"/>
          <p:cNvSpPr txBox="1"/>
          <p:nvPr/>
        </p:nvSpPr>
        <p:spPr>
          <a:xfrm>
            <a:off x="8412480" y="38221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센서 12 → 리본 16심 → </a:t>
            </a:r>
            <a:r>
              <a:rPr lang="en-US" altLang="ko-KR" sz="1000" dirty="0">
                <a:solidFill>
                  <a:srgbClr val="444A54"/>
                </a:solidFill>
                <a:latin typeface="Apple SD Gothic Neo" pitchFamily="34" charset="0"/>
                <a:ea typeface="Apple SD Gothic Neo" pitchFamily="34" charset="-122"/>
                <a:cs typeface="Apple SD Gothic Neo" pitchFamily="34" charset="-120"/>
              </a:rPr>
              <a:t>MUX</a:t>
            </a:r>
            <a:r>
              <a:rPr lang="en-US" sz="1000" dirty="0">
                <a:solidFill>
                  <a:srgbClr val="444A54"/>
                </a:solidFill>
                <a:latin typeface="Apple SD Gothic Neo" pitchFamily="34" charset="0"/>
                <a:ea typeface="Apple SD Gothic Neo" pitchFamily="34" charset="-122"/>
                <a:cs typeface="Apple SD Gothic Neo" pitchFamily="34" charset="-120"/>
              </a:rPr>
              <a:t> → ADC(GP26)</a:t>
            </a:r>
            <a:endParaRPr lang="en-US" sz="1000" dirty="0"/>
          </a:p>
        </p:txBody>
      </p:sp>
      <p:sp>
        <p:nvSpPr>
          <p:cNvPr id="13" name="Text 9"/>
          <p:cNvSpPr txBox="1"/>
          <p:nvPr/>
        </p:nvSpPr>
        <p:spPr>
          <a:xfrm>
            <a:off x="8412480" y="40690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자석–</a:t>
            </a:r>
            <a:r>
              <a:rPr lang="en-US" sz="1150" b="1" dirty="0" err="1">
                <a:solidFill>
                  <a:srgbClr val="D9482B"/>
                </a:solidFill>
                <a:latin typeface="Apple SD Gothic Neo" pitchFamily="34" charset="0"/>
                <a:ea typeface="Apple SD Gothic Neo" pitchFamily="34" charset="-122"/>
                <a:cs typeface="Apple SD Gothic Neo" pitchFamily="34" charset="-120"/>
              </a:rPr>
              <a:t>센서</a:t>
            </a:r>
            <a:r>
              <a:rPr lang="en-US" sz="1150" b="1" dirty="0">
                <a:solidFill>
                  <a:srgbClr val="D9482B"/>
                </a:solidFill>
                <a:latin typeface="Apple SD Gothic Neo" pitchFamily="34" charset="0"/>
                <a:ea typeface="Apple SD Gothic Neo" pitchFamily="34" charset="-122"/>
                <a:cs typeface="Apple SD Gothic Neo" pitchFamily="34" charset="-120"/>
              </a:rPr>
              <a:t> </a:t>
            </a:r>
            <a:r>
              <a:rPr lang="en-US" sz="1150" b="1" dirty="0" err="1">
                <a:solidFill>
                  <a:srgbClr val="D9482B"/>
                </a:solidFill>
                <a:latin typeface="Apple SD Gothic Neo" pitchFamily="34" charset="0"/>
                <a:ea typeface="Apple SD Gothic Neo" pitchFamily="34" charset="-122"/>
                <a:cs typeface="Apple SD Gothic Neo" pitchFamily="34" charset="-120"/>
              </a:rPr>
              <a:t>간격</a:t>
            </a:r>
            <a:endParaRPr lang="en-US" sz="1150" dirty="0"/>
          </a:p>
        </p:txBody>
      </p:sp>
      <p:sp>
        <p:nvSpPr>
          <p:cNvPr id="14" name="Text 10"/>
          <p:cNvSpPr txBox="1"/>
          <p:nvPr/>
        </p:nvSpPr>
        <p:spPr>
          <a:xfrm>
            <a:off x="8412480" y="42793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백건 10.8 → 5.6 mm, 흑건 13.4 → 5.3 mm</a:t>
            </a:r>
            <a:endParaRPr lang="en-US" sz="1000" dirty="0"/>
          </a:p>
        </p:txBody>
      </p:sp>
      <p:sp>
        <p:nvSpPr>
          <p:cNvPr id="15" name="Text 11"/>
          <p:cNvSpPr txBox="1"/>
          <p:nvPr/>
        </p:nvSpPr>
        <p:spPr>
          <a:xfrm>
            <a:off x="8412480" y="45262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백건 </a:t>
            </a:r>
            <a:r>
              <a:rPr lang="en-US" sz="1150" b="1" dirty="0" err="1">
                <a:solidFill>
                  <a:srgbClr val="D9482B"/>
                </a:solidFill>
                <a:latin typeface="Apple SD Gothic Neo" pitchFamily="34" charset="0"/>
                <a:ea typeface="Apple SD Gothic Neo" pitchFamily="34" charset="-122"/>
                <a:cs typeface="Apple SD Gothic Neo" pitchFamily="34" charset="-120"/>
              </a:rPr>
              <a:t>센서</a:t>
            </a:r>
            <a:r>
              <a:rPr lang="en-US" sz="1150" b="1" dirty="0">
                <a:solidFill>
                  <a:srgbClr val="D9482B"/>
                </a:solidFill>
                <a:latin typeface="Apple SD Gothic Neo" pitchFamily="34" charset="0"/>
                <a:ea typeface="Apple SD Gothic Neo" pitchFamily="34" charset="-122"/>
                <a:cs typeface="Apple SD Gothic Neo" pitchFamily="34" charset="-120"/>
              </a:rPr>
              <a:t> </a:t>
            </a:r>
            <a:r>
              <a:rPr lang="en-US" sz="1150" b="1" dirty="0" err="1">
                <a:solidFill>
                  <a:srgbClr val="D9482B"/>
                </a:solidFill>
                <a:latin typeface="Apple SD Gothic Neo" pitchFamily="34" charset="0"/>
                <a:ea typeface="Apple SD Gothic Neo" pitchFamily="34" charset="-122"/>
                <a:cs typeface="Apple SD Gothic Neo" pitchFamily="34" charset="-120"/>
              </a:rPr>
              <a:t>출력</a:t>
            </a:r>
            <a:endParaRPr lang="en-US" sz="1150" dirty="0"/>
          </a:p>
        </p:txBody>
      </p:sp>
      <p:sp>
        <p:nvSpPr>
          <p:cNvPr id="16" name="Text 12"/>
          <p:cNvSpPr txBox="1"/>
          <p:nvPr/>
        </p:nvSpPr>
        <p:spPr>
          <a:xfrm>
            <a:off x="8412480" y="47365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약 4 → 22 mT (ADC 2207 → 2862)</a:t>
            </a:r>
            <a:endParaRPr lang="en-US" sz="1000" dirty="0"/>
          </a:p>
        </p:txBody>
      </p:sp>
      <p:sp>
        <p:nvSpPr>
          <p:cNvPr id="17" name="Text 13"/>
          <p:cNvSpPr txBox="1"/>
          <p:nvPr/>
        </p:nvSpPr>
        <p:spPr>
          <a:xfrm>
            <a:off x="8412480" y="49834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흑건 </a:t>
            </a:r>
            <a:r>
              <a:rPr lang="en-US" sz="1150" b="1" dirty="0" err="1">
                <a:solidFill>
                  <a:srgbClr val="D9482B"/>
                </a:solidFill>
                <a:latin typeface="Apple SD Gothic Neo" pitchFamily="34" charset="0"/>
                <a:ea typeface="Apple SD Gothic Neo" pitchFamily="34" charset="-122"/>
                <a:cs typeface="Apple SD Gothic Neo" pitchFamily="34" charset="-120"/>
              </a:rPr>
              <a:t>센서</a:t>
            </a:r>
            <a:r>
              <a:rPr lang="en-US" sz="1150" b="1" dirty="0">
                <a:solidFill>
                  <a:srgbClr val="D9482B"/>
                </a:solidFill>
                <a:latin typeface="Apple SD Gothic Neo" pitchFamily="34" charset="0"/>
                <a:ea typeface="Apple SD Gothic Neo" pitchFamily="34" charset="-122"/>
                <a:cs typeface="Apple SD Gothic Neo" pitchFamily="34" charset="-120"/>
              </a:rPr>
              <a:t> </a:t>
            </a:r>
            <a:r>
              <a:rPr lang="en-US" sz="1150" b="1" dirty="0" err="1">
                <a:solidFill>
                  <a:srgbClr val="D9482B"/>
                </a:solidFill>
                <a:latin typeface="Apple SD Gothic Neo" pitchFamily="34" charset="0"/>
                <a:ea typeface="Apple SD Gothic Neo" pitchFamily="34" charset="-122"/>
                <a:cs typeface="Apple SD Gothic Neo" pitchFamily="34" charset="-120"/>
              </a:rPr>
              <a:t>출력</a:t>
            </a:r>
            <a:endParaRPr lang="en-US" sz="1150" dirty="0"/>
          </a:p>
        </p:txBody>
      </p:sp>
      <p:sp>
        <p:nvSpPr>
          <p:cNvPr id="18" name="Text 14"/>
          <p:cNvSpPr txBox="1"/>
          <p:nvPr/>
        </p:nvSpPr>
        <p:spPr>
          <a:xfrm>
            <a:off x="8412480" y="51937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약 2 → 25 mT · 최대 31 mT &lt; ±44 mT → A2 유지</a:t>
            </a:r>
            <a:endParaRPr lang="en-US" sz="1000" dirty="0"/>
          </a:p>
        </p:txBody>
      </p:sp>
      <p:sp>
        <p:nvSpPr>
          <p:cNvPr id="19" name="Text 15"/>
          <p:cNvSpPr txBox="1"/>
          <p:nvPr/>
        </p:nvSpPr>
        <p:spPr>
          <a:xfrm>
            <a:off x="8412480" y="54406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모듈 구분</a:t>
            </a:r>
            <a:endParaRPr lang="en-US" sz="1150" dirty="0"/>
          </a:p>
        </p:txBody>
      </p:sp>
      <p:sp>
        <p:nvSpPr>
          <p:cNvPr id="20" name="Text 16"/>
          <p:cNvSpPr txBox="1"/>
          <p:nvPr/>
        </p:nvSpPr>
        <p:spPr>
          <a:xfrm>
            <a:off x="8412480" y="56509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ID 점퍼 3개(GP6~8) → ‘Toccata O1~O7’</a:t>
            </a:r>
            <a:endParaRPr lang="en-US" sz="1000" dirty="0"/>
          </a:p>
        </p:txBody>
      </p:sp>
      <p:sp>
        <p:nvSpPr>
          <p:cNvPr id="21" name="Text 17"/>
          <p:cNvSpPr txBox="1"/>
          <p:nvPr/>
        </p:nvSpPr>
        <p:spPr>
          <a:xfrm>
            <a:off x="8412480" y="58978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끝 부속</a:t>
            </a:r>
            <a:endParaRPr lang="en-US" sz="1150" dirty="0"/>
          </a:p>
        </p:txBody>
      </p:sp>
      <p:sp>
        <p:nvSpPr>
          <p:cNvPr id="22" name="Text 18"/>
          <p:cNvSpPr txBox="1"/>
          <p:nvPr/>
        </p:nvSpPr>
        <p:spPr>
          <a:xfrm>
            <a:off x="8412480" y="61081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O1은 EXT1~3, O7은 EXT1 · 100 kΩ 풀다운</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③ — 전원 · </a:t>
            </a:r>
            <a:r>
              <a:rPr lang="en-US" sz="2800" b="1" dirty="0" err="1">
                <a:solidFill>
                  <a:srgbClr val="16181D"/>
                </a:solidFill>
                <a:latin typeface="Apple SD Gothic Neo" pitchFamily="34" charset="0"/>
                <a:ea typeface="Apple SD Gothic Neo" pitchFamily="34" charset="-122"/>
                <a:cs typeface="Apple SD Gothic Neo" pitchFamily="34" charset="-120"/>
              </a:rPr>
              <a:t>오디오</a:t>
            </a:r>
            <a:endParaRPr lang="en-US" sz="2800" dirty="0"/>
          </a:p>
        </p:txBody>
      </p:sp>
      <p:sp>
        <p:nvSpPr>
          <p:cNvPr id="7" name="Text 5"/>
          <p:cNvSpPr txBox="1"/>
          <p:nvPr/>
        </p:nvSpPr>
        <p:spPr>
          <a:xfrm>
            <a:off x="548640" y="1371600"/>
            <a:ext cx="5387188" cy="27432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전원 (SCH-06)</a:t>
            </a:r>
            <a:endParaRPr lang="en-US" sz="1400" dirty="0"/>
          </a:p>
        </p:txBody>
      </p:sp>
      <p:pic>
        <p:nvPicPr>
          <p:cNvPr id="8" name="Image 0" descr="/private/tmp/claude-501/-Users-kwg-Desktop-mydrive-project-Toccata/78323d34-2a2b-4f50-ae4c-82ce3905c7c6/scratchpad/ppt4/assets/c_sch06.png"/>
          <p:cNvPicPr>
            <a:picLocks noChangeAspect="1"/>
          </p:cNvPicPr>
          <p:nvPr/>
        </p:nvPicPr>
        <p:blipFill>
          <a:blip r:embed="rId3"/>
          <a:stretch>
            <a:fillRect/>
          </a:stretch>
        </p:blipFill>
        <p:spPr>
          <a:xfrm>
            <a:off x="548640" y="1691640"/>
            <a:ext cx="5387188" cy="1414560"/>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2304688904"/>
              </p:ext>
            </p:extLst>
          </p:nvPr>
        </p:nvGraphicFramePr>
        <p:xfrm>
          <a:off x="548640" y="3429000"/>
          <a:ext cx="5387188" cy="1828800"/>
        </p:xfrm>
        <a:graphic>
          <a:graphicData uri="http://schemas.openxmlformats.org/drawingml/2006/table">
            <a:tbl>
              <a:tblPr/>
              <a:tblGrid>
                <a:gridCol w="3192628">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228600">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부하</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1050" b="1" dirty="0">
                          <a:solidFill>
                            <a:srgbClr val="FFFFFF"/>
                          </a:solidFill>
                          <a:latin typeface="Apple SD Gothic Neo" pitchFamily="34" charset="0"/>
                          <a:ea typeface="Apple SD Gothic Neo" pitchFamily="34" charset="-122"/>
                          <a:cs typeface="Apple SD Gothic Neo" pitchFamily="34" charset="-120"/>
                        </a:rPr>
                        <a:t>전압</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1050" b="1" dirty="0">
                          <a:solidFill>
                            <a:srgbClr val="FFFFFF"/>
                          </a:solidFill>
                          <a:latin typeface="Apple SD Gothic Neo" pitchFamily="34" charset="0"/>
                          <a:ea typeface="Apple SD Gothic Neo" pitchFamily="34" charset="-122"/>
                          <a:cs typeface="Apple SD Gothic Neo" pitchFamily="34" charset="-120"/>
                        </a:rPr>
                        <a:t>전력</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Pi 5 (FluidSynth · USB 장치)</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5.1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7.7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허브 + RP2040 8개 + 센서 89개</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5.1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2.0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USB 동글</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0.5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강압 손실 (효율 90 %)</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1.1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앰프 평균 (음량 상한)</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20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2~6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28600">
                <a:tc>
                  <a:txBody>
                    <a:bodyPr/>
                    <a:lstStyle/>
                    <a:p>
                      <a:pPr marL="0" indent="0" algn="l">
                        <a:buNone/>
                      </a:pPr>
                      <a:r>
                        <a:rPr lang="en-US" sz="1050" b="1" dirty="0">
                          <a:solidFill>
                            <a:srgbClr val="16181D"/>
                          </a:solidFill>
                          <a:latin typeface="Apple SD Gothic Neo" pitchFamily="34" charset="0"/>
                          <a:ea typeface="Apple SD Gothic Neo" pitchFamily="34" charset="-122"/>
                          <a:cs typeface="Apple SD Gothic Neo" pitchFamily="34" charset="-120"/>
                        </a:rPr>
                        <a:t>합계 (평균)</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20 V 입력</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약 13~17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6"/>
                  </a:ext>
                </a:extLst>
              </a:tr>
              <a:tr h="228600">
                <a:tc>
                  <a:txBody>
                    <a:bodyPr/>
                    <a:lstStyle/>
                    <a:p>
                      <a:pPr marL="0" indent="0" algn="l">
                        <a:buNone/>
                      </a:pPr>
                      <a:r>
                        <a:rPr lang="en-US" sz="1050" b="1" dirty="0">
                          <a:solidFill>
                            <a:srgbClr val="16181D"/>
                          </a:solidFill>
                          <a:latin typeface="Apple SD Gothic Neo" pitchFamily="34" charset="0"/>
                          <a:ea typeface="Apple SD Gothic Neo" pitchFamily="34" charset="-122"/>
                          <a:cs typeface="Apple SD Gothic Neo" pitchFamily="34" charset="-120"/>
                        </a:rPr>
                        <a:t>순간 최대 (최저음 강타)</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20 V 입력</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약 50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7"/>
                  </a:ext>
                </a:extLst>
              </a:tr>
            </a:tbl>
          </a:graphicData>
        </a:graphic>
      </p:graphicFrame>
      <p:sp>
        <p:nvSpPr>
          <p:cNvPr id="9" name="Text 9"/>
          <p:cNvSpPr txBox="1"/>
          <p:nvPr/>
        </p:nvSpPr>
        <p:spPr>
          <a:xfrm>
            <a:off x="548640" y="5477669"/>
            <a:ext cx="5387188" cy="182880"/>
          </a:xfrm>
          <a:prstGeom prst="rect">
            <a:avLst/>
          </a:prstGeom>
          <a:noFill/>
          <a:ln/>
        </p:spPr>
        <p:txBody>
          <a:bodyPr wrap="square" lIns="0" tIns="0" rIns="0" bIns="0" rtlCol="0" anchor="t"/>
          <a:lstStyle/>
          <a:p>
            <a:pPr marL="0" indent="0">
              <a:buNone/>
            </a:pPr>
            <a:r>
              <a:rPr lang="en-US" sz="1050" b="1" dirty="0">
                <a:solidFill>
                  <a:srgbClr val="D9482B"/>
                </a:solidFill>
                <a:latin typeface="Apple SD Gothic Neo" pitchFamily="34" charset="0"/>
                <a:ea typeface="Apple SD Gothic Neo" pitchFamily="34" charset="-122"/>
                <a:cs typeface="Apple SD Gothic Neo" pitchFamily="34" charset="-120"/>
              </a:rPr>
              <a:t>강압은 무부하로 5.10~5.15 V에 맞춰 고정</a:t>
            </a:r>
            <a:endParaRPr lang="en-US" sz="1050" dirty="0"/>
          </a:p>
        </p:txBody>
      </p:sp>
      <p:sp>
        <p:nvSpPr>
          <p:cNvPr id="14" name="Text 10"/>
          <p:cNvSpPr txBox="1"/>
          <p:nvPr/>
        </p:nvSpPr>
        <p:spPr>
          <a:xfrm>
            <a:off x="548640" y="5660549"/>
            <a:ext cx="5387188" cy="182880"/>
          </a:xfrm>
          <a:prstGeom prst="rect">
            <a:avLst/>
          </a:prstGeom>
          <a:noFill/>
          <a:ln/>
        </p:spPr>
        <p:txBody>
          <a:bodyPr wrap="square" lIns="0" tIns="0" rIns="0" bIns="0" rtlCol="0" anchor="t"/>
          <a:lstStyle/>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출고 전압이 20 V까지 나올 수 있어 고정한 뒤 연결</a:t>
            </a:r>
            <a:endParaRPr lang="en-US" sz="950" dirty="0"/>
          </a:p>
        </p:txBody>
      </p:sp>
      <p:sp>
        <p:nvSpPr>
          <p:cNvPr id="15" name="Text 11"/>
          <p:cNvSpPr txBox="1"/>
          <p:nvPr/>
        </p:nvSpPr>
        <p:spPr>
          <a:xfrm>
            <a:off x="548640" y="5843429"/>
            <a:ext cx="5387188" cy="182880"/>
          </a:xfrm>
          <a:prstGeom prst="rect">
            <a:avLst/>
          </a:prstGeom>
          <a:noFill/>
          <a:ln/>
        </p:spPr>
        <p:txBody>
          <a:bodyPr wrap="square" lIns="0" tIns="0" rIns="0" bIns="0" rtlCol="0" anchor="t"/>
          <a:lstStyle/>
          <a:p>
            <a:pPr marL="0" indent="0">
              <a:buNone/>
            </a:pPr>
            <a:r>
              <a:rPr lang="en-US" sz="1050" b="1" dirty="0">
                <a:solidFill>
                  <a:srgbClr val="D9482B"/>
                </a:solidFill>
                <a:latin typeface="Apple SD Gothic Neo" pitchFamily="34" charset="0"/>
                <a:ea typeface="Apple SD Gothic Neo" pitchFamily="34" charset="-122"/>
                <a:cs typeface="Apple SD Gothic Neo" pitchFamily="34" charset="-120"/>
              </a:rPr>
              <a:t>별 접지 (강압 IN− 단자)</a:t>
            </a:r>
            <a:endParaRPr lang="en-US" sz="1050" dirty="0"/>
          </a:p>
        </p:txBody>
      </p:sp>
      <p:sp>
        <p:nvSpPr>
          <p:cNvPr id="16" name="Text 12"/>
          <p:cNvSpPr txBox="1"/>
          <p:nvPr/>
        </p:nvSpPr>
        <p:spPr>
          <a:xfrm>
            <a:off x="548640" y="6026309"/>
            <a:ext cx="5387188" cy="182880"/>
          </a:xfrm>
          <a:prstGeom prst="rect">
            <a:avLst/>
          </a:prstGeom>
          <a:noFill/>
          <a:ln/>
        </p:spPr>
        <p:txBody>
          <a:bodyPr wrap="square" lIns="0" tIns="0" rIns="0" bIns="0" rtlCol="0" anchor="t"/>
          <a:lstStyle/>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동글–Pi–강압–앰프 접지 루프 험 방지</a:t>
            </a:r>
            <a:endParaRPr lang="en-US" sz="950" dirty="0"/>
          </a:p>
        </p:txBody>
      </p:sp>
      <p:sp>
        <p:nvSpPr>
          <p:cNvPr id="17" name="Text 13"/>
          <p:cNvSpPr txBox="1"/>
          <p:nvPr/>
        </p:nvSpPr>
        <p:spPr>
          <a:xfrm>
            <a:off x="6255868" y="1371600"/>
            <a:ext cx="5387188" cy="274320"/>
          </a:xfrm>
          <a:prstGeom prst="rect">
            <a:avLst/>
          </a:prstGeom>
          <a:noFill/>
          <a:ln/>
        </p:spPr>
        <p:txBody>
          <a:bodyPr wrap="square" lIns="0" tIns="0" rIns="0" bIns="0" rtlCol="0" anchor="t"/>
          <a:lstStyle/>
          <a:p>
            <a:pPr marL="0" indent="0">
              <a:buNone/>
            </a:pPr>
            <a:r>
              <a:rPr lang="en-US" sz="1400" b="1" dirty="0" err="1">
                <a:solidFill>
                  <a:srgbClr val="16181D"/>
                </a:solidFill>
                <a:latin typeface="Apple SD Gothic Neo" pitchFamily="34" charset="0"/>
                <a:ea typeface="Apple SD Gothic Neo" pitchFamily="34" charset="-122"/>
                <a:cs typeface="Apple SD Gothic Neo" pitchFamily="34" charset="-120"/>
              </a:rPr>
              <a:t>오디오</a:t>
            </a:r>
            <a:r>
              <a:rPr lang="en-US" sz="1400" b="1" dirty="0">
                <a:solidFill>
                  <a:srgbClr val="16181D"/>
                </a:solidFill>
                <a:latin typeface="Apple SD Gothic Neo" pitchFamily="34" charset="0"/>
                <a:ea typeface="Apple SD Gothic Neo" pitchFamily="34" charset="-122"/>
                <a:cs typeface="Apple SD Gothic Neo" pitchFamily="34" charset="-120"/>
              </a:rPr>
              <a:t> (SCH-07)</a:t>
            </a:r>
            <a:endParaRPr lang="en-US" sz="1400" dirty="0"/>
          </a:p>
        </p:txBody>
      </p:sp>
      <p:pic>
        <p:nvPicPr>
          <p:cNvPr id="18" name="Image 1" descr="/private/tmp/claude-501/-Users-kwg-Desktop-mydrive-project-Toccata/78323d34-2a2b-4f50-ae4c-82ce3905c7c6/scratchpad/ppt4/assets/c_sch07.png"/>
          <p:cNvPicPr>
            <a:picLocks noChangeAspect="1"/>
          </p:cNvPicPr>
          <p:nvPr/>
        </p:nvPicPr>
        <p:blipFill>
          <a:blip r:embed="rId4"/>
          <a:stretch>
            <a:fillRect/>
          </a:stretch>
        </p:blipFill>
        <p:spPr>
          <a:xfrm>
            <a:off x="6255868" y="1691640"/>
            <a:ext cx="5387188" cy="1699731"/>
          </a:xfrm>
          <a:prstGeom prst="rect">
            <a:avLst/>
          </a:prstGeom>
        </p:spPr>
      </p:pic>
      <p:sp>
        <p:nvSpPr>
          <p:cNvPr id="19" name="Text 14"/>
          <p:cNvSpPr txBox="1"/>
          <p:nvPr/>
        </p:nvSpPr>
        <p:spPr>
          <a:xfrm>
            <a:off x="6255868" y="3574251"/>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경로</a:t>
            </a:r>
            <a:endParaRPr lang="en-US" sz="1150" dirty="0"/>
          </a:p>
        </p:txBody>
      </p:sp>
      <p:sp>
        <p:nvSpPr>
          <p:cNvPr id="20" name="Text 15"/>
          <p:cNvSpPr txBox="1"/>
          <p:nvPr/>
        </p:nvSpPr>
        <p:spPr>
          <a:xfrm>
            <a:off x="6255868" y="3793707"/>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Pi 5 → USB 동글(DAC) → 헤드폰 잭 → 앰프 입력 잭 → 저음 차단 RC → 앰프 → XT30 → 스피커 2개</a:t>
            </a:r>
            <a:endParaRPr lang="en-US" sz="1050" dirty="0"/>
          </a:p>
        </p:txBody>
      </p:sp>
      <p:sp>
        <p:nvSpPr>
          <p:cNvPr id="21" name="Text 16"/>
          <p:cNvSpPr txBox="1"/>
          <p:nvPr/>
        </p:nvSpPr>
        <p:spPr>
          <a:xfrm>
            <a:off x="6255868" y="4086315"/>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헤드폰 자동 차단</a:t>
            </a:r>
            <a:endParaRPr lang="en-US" sz="1150" dirty="0"/>
          </a:p>
        </p:txBody>
      </p:sp>
      <p:sp>
        <p:nvSpPr>
          <p:cNvPr id="22" name="Text 17"/>
          <p:cNvSpPr txBox="1"/>
          <p:nvPr/>
        </p:nvSpPr>
        <p:spPr>
          <a:xfrm>
            <a:off x="6255868" y="4305771"/>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헤드폰을 꽂으면 잭의 노멀 접점이 떨어져 앰프 입력이 </a:t>
            </a:r>
            <a:r>
              <a:rPr lang="en-US" sz="1050" dirty="0" err="1">
                <a:solidFill>
                  <a:srgbClr val="444A54"/>
                </a:solidFill>
                <a:latin typeface="Apple SD Gothic Neo" pitchFamily="34" charset="0"/>
                <a:ea typeface="Apple SD Gothic Neo" pitchFamily="34" charset="-122"/>
                <a:cs typeface="Apple SD Gothic Neo" pitchFamily="34" charset="-120"/>
              </a:rPr>
              <a:t>기계적으로</a:t>
            </a:r>
            <a:r>
              <a:rPr lang="en-US" sz="1050" dirty="0">
                <a:solidFill>
                  <a:srgbClr val="444A54"/>
                </a:solidFill>
                <a:latin typeface="Apple SD Gothic Neo" pitchFamily="34" charset="0"/>
                <a:ea typeface="Apple SD Gothic Neo" pitchFamily="34" charset="-122"/>
                <a:cs typeface="Apple SD Gothic Neo" pitchFamily="34" charset="-120"/>
              </a:rPr>
              <a:t> </a:t>
            </a:r>
            <a:r>
              <a:rPr lang="en-US" sz="1050" dirty="0" err="1">
                <a:solidFill>
                  <a:srgbClr val="444A54"/>
                </a:solidFill>
                <a:latin typeface="Apple SD Gothic Neo" pitchFamily="34" charset="0"/>
                <a:ea typeface="Apple SD Gothic Neo" pitchFamily="34" charset="-122"/>
                <a:cs typeface="Apple SD Gothic Neo" pitchFamily="34" charset="-120"/>
              </a:rPr>
              <a:t>끊</a:t>
            </a:r>
            <a:r>
              <a:rPr lang="ko-KR" altLang="en-US" sz="1050" dirty="0">
                <a:solidFill>
                  <a:srgbClr val="444A54"/>
                </a:solidFill>
                <a:latin typeface="Apple SD Gothic Neo" pitchFamily="34" charset="0"/>
                <a:ea typeface="Apple SD Gothic Neo" pitchFamily="34" charset="-122"/>
                <a:cs typeface="Apple SD Gothic Neo" pitchFamily="34" charset="-120"/>
              </a:rPr>
              <a:t>김</a:t>
            </a:r>
            <a:endParaRPr lang="en-US" sz="1050" dirty="0"/>
          </a:p>
        </p:txBody>
      </p:sp>
      <p:sp>
        <p:nvSpPr>
          <p:cNvPr id="23" name="Text 18"/>
          <p:cNvSpPr txBox="1"/>
          <p:nvPr/>
        </p:nvSpPr>
        <p:spPr>
          <a:xfrm>
            <a:off x="6255868" y="4598379"/>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저음 차단</a:t>
            </a:r>
            <a:endParaRPr lang="en-US" sz="1150" dirty="0"/>
          </a:p>
        </p:txBody>
      </p:sp>
      <p:sp>
        <p:nvSpPr>
          <p:cNvPr id="24" name="Text 19"/>
          <p:cNvSpPr txBox="1"/>
          <p:nvPr/>
        </p:nvSpPr>
        <p:spPr>
          <a:xfrm>
            <a:off x="6255868" y="4817835"/>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1 µF × 2 + 1 kΩ → 약 93 Hz 아래를 줄여 작은 스피커를 보호</a:t>
            </a:r>
            <a:endParaRPr lang="en-US" sz="1050" dirty="0"/>
          </a:p>
        </p:txBody>
      </p:sp>
      <p:sp>
        <p:nvSpPr>
          <p:cNvPr id="25" name="Text 20"/>
          <p:cNvSpPr txBox="1"/>
          <p:nvPr/>
        </p:nvSpPr>
        <p:spPr>
          <a:xfrm>
            <a:off x="6255868" y="5110443"/>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음량 상한</a:t>
            </a:r>
            <a:endParaRPr lang="en-US" sz="1150" dirty="0"/>
          </a:p>
        </p:txBody>
      </p:sp>
      <p:sp>
        <p:nvSpPr>
          <p:cNvPr id="26" name="Text 21"/>
          <p:cNvSpPr txBox="1"/>
          <p:nvPr/>
        </p:nvSpPr>
        <p:spPr>
          <a:xfrm>
            <a:off x="6255868" y="5329899"/>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앰프 이득 36 dB라 동글 최대 출력이면 소리가 찌그러짐(클리핑) → 소프트웨어 상한 · 리미터 필수</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a:t>
            </a:r>
            <a:r>
              <a:rPr lang="en-US" sz="2800" b="1" dirty="0" err="1">
                <a:solidFill>
                  <a:srgbClr val="16181D"/>
                </a:solidFill>
                <a:latin typeface="Apple SD Gothic Neo" pitchFamily="34" charset="0"/>
                <a:ea typeface="Apple SD Gothic Neo" pitchFamily="34" charset="-122"/>
                <a:cs typeface="Apple SD Gothic Neo" pitchFamily="34" charset="-120"/>
              </a:rPr>
              <a:t>회로</a:t>
            </a:r>
            <a:r>
              <a:rPr lang="en-US" sz="2800" b="1" dirty="0">
                <a:solidFill>
                  <a:srgbClr val="16181D"/>
                </a:solidFill>
                <a:latin typeface="Apple SD Gothic Neo" pitchFamily="34" charset="0"/>
                <a:ea typeface="Apple SD Gothic Neo" pitchFamily="34" charset="-122"/>
                <a:cs typeface="Apple SD Gothic Neo" pitchFamily="34" charset="-120"/>
              </a:rPr>
              <a:t> ④</a:t>
            </a:r>
            <a:endParaRPr lang="en-US" sz="2800" dirty="0"/>
          </a:p>
        </p:txBody>
      </p:sp>
      <p:pic>
        <p:nvPicPr>
          <p:cNvPr id="7" name="Image 0" descr="/private/tmp/claude-501/-Users-kwg-Desktop-mydrive-project-Toccata/78323d34-2a2b-4f50-ae4c-82ce3905c7c6/scratchpad/ppt4/assets/c_brd01.png"/>
          <p:cNvPicPr>
            <a:picLocks noChangeAspect="1"/>
          </p:cNvPicPr>
          <p:nvPr/>
        </p:nvPicPr>
        <p:blipFill>
          <a:blip r:embed="rId3"/>
          <a:stretch>
            <a:fillRect/>
          </a:stretch>
        </p:blipFill>
        <p:spPr>
          <a:xfrm>
            <a:off x="548640" y="1481329"/>
            <a:ext cx="4660886" cy="3555368"/>
          </a:xfrm>
          <a:prstGeom prst="rect">
            <a:avLst/>
          </a:prstGeom>
        </p:spPr>
      </p:pic>
      <p:sp>
        <p:nvSpPr>
          <p:cNvPr id="8" name="Text 5"/>
          <p:cNvSpPr txBox="1"/>
          <p:nvPr/>
        </p:nvSpPr>
        <p:spPr>
          <a:xfrm>
            <a:off x="548640" y="5168730"/>
            <a:ext cx="41605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BRD-01 제어 기판 5×7 cm (밑에서 넣음) </a:t>
            </a:r>
            <a:endParaRPr lang="en-US" sz="1000" dirty="0"/>
          </a:p>
        </p:txBody>
      </p:sp>
      <p:pic>
        <p:nvPicPr>
          <p:cNvPr id="9" name="Image 1" descr="/private/tmp/claude-501/-Users-kwg-Desktop-mydrive-project-Toccata/78323d34-2a2b-4f50-ae4c-82ce3905c7c6/scratchpad/ppt4/assets/c_brd02.png"/>
          <p:cNvPicPr>
            <a:picLocks noChangeAspect="1"/>
          </p:cNvPicPr>
          <p:nvPr/>
        </p:nvPicPr>
        <p:blipFill>
          <a:blip r:embed="rId4"/>
          <a:stretch>
            <a:fillRect/>
          </a:stretch>
        </p:blipFill>
        <p:spPr>
          <a:xfrm>
            <a:off x="5577840" y="2820924"/>
            <a:ext cx="6065215" cy="876635"/>
          </a:xfrm>
          <a:prstGeom prst="rect">
            <a:avLst/>
          </a:prstGeom>
        </p:spPr>
      </p:pic>
      <p:sp>
        <p:nvSpPr>
          <p:cNvPr id="10" name="Text 6"/>
          <p:cNvSpPr txBox="1"/>
          <p:nvPr/>
        </p:nvSpPr>
        <p:spPr>
          <a:xfrm>
            <a:off x="5577840" y="3767328"/>
            <a:ext cx="41605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BRD-02 센서 기판 161.6 × 15.24 mm</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err="1">
                <a:solidFill>
                  <a:srgbClr val="16181D"/>
                </a:solidFill>
                <a:latin typeface="Apple SD Gothic Neo" pitchFamily="34" charset="0"/>
                <a:ea typeface="Apple SD Gothic Neo" pitchFamily="34" charset="-122"/>
                <a:cs typeface="Apple SD Gothic Neo" pitchFamily="34" charset="-120"/>
              </a:rPr>
              <a:t>리듬게임</a:t>
            </a:r>
            <a:r>
              <a:rPr lang="en-US" sz="2800" b="1" dirty="0">
                <a:solidFill>
                  <a:srgbClr val="16181D"/>
                </a:solidFill>
                <a:latin typeface="Apple SD Gothic Neo" pitchFamily="34" charset="0"/>
                <a:ea typeface="Apple SD Gothic Neo" pitchFamily="34" charset="-122"/>
                <a:cs typeface="Apple SD Gothic Neo" pitchFamily="34" charset="-120"/>
              </a:rPr>
              <a:t> ①</a:t>
            </a:r>
            <a:endParaRPr lang="en-US" sz="2800" dirty="0"/>
          </a:p>
        </p:txBody>
      </p:sp>
      <p:sp>
        <p:nvSpPr>
          <p:cNvPr id="7" name="Shape 5"/>
          <p:cNvSpPr/>
          <p:nvPr/>
        </p:nvSpPr>
        <p:spPr>
          <a:xfrm>
            <a:off x="548640" y="1417320"/>
            <a:ext cx="6492240" cy="4434840"/>
          </a:xfrm>
          <a:prstGeom prst="rect">
            <a:avLst/>
          </a:prstGeom>
          <a:solidFill>
            <a:srgbClr val="2E2442"/>
          </a:solidFill>
          <a:ln w="12700">
            <a:solidFill>
              <a:srgbClr val="2E2442"/>
            </a:solidFill>
            <a:prstDash val="solid"/>
          </a:ln>
        </p:spPr>
        <p:txBody>
          <a:bodyPr/>
          <a:lstStyle/>
          <a:p>
            <a:endParaRPr lang="en-KR"/>
          </a:p>
        </p:txBody>
      </p:sp>
      <p:sp>
        <p:nvSpPr>
          <p:cNvPr id="8" name="Shape 6"/>
          <p:cNvSpPr/>
          <p:nvPr/>
        </p:nvSpPr>
        <p:spPr>
          <a:xfrm>
            <a:off x="548640" y="1417320"/>
            <a:ext cx="6492240" cy="347472"/>
          </a:xfrm>
          <a:prstGeom prst="rect">
            <a:avLst/>
          </a:prstGeom>
          <a:solidFill>
            <a:srgbClr val="1E1830"/>
          </a:solidFill>
          <a:ln w="12700">
            <a:solidFill>
              <a:srgbClr val="1E1830"/>
            </a:solidFill>
            <a:prstDash val="solid"/>
          </a:ln>
        </p:spPr>
        <p:txBody>
          <a:bodyPr/>
          <a:lstStyle/>
          <a:p>
            <a:endParaRPr lang="en-KR"/>
          </a:p>
        </p:txBody>
      </p:sp>
      <p:sp>
        <p:nvSpPr>
          <p:cNvPr id="9" name="Shape 7"/>
          <p:cNvSpPr/>
          <p:nvPr/>
        </p:nvSpPr>
        <p:spPr>
          <a:xfrm>
            <a:off x="685800" y="1499616"/>
            <a:ext cx="246888" cy="182880"/>
          </a:xfrm>
          <a:prstGeom prst="rect">
            <a:avLst/>
          </a:prstGeom>
          <a:solidFill>
            <a:srgbClr val="3A3350"/>
          </a:solidFill>
          <a:ln w="6350">
            <a:solidFill>
              <a:srgbClr val="5A5270"/>
            </a:solidFill>
            <a:prstDash val="solid"/>
          </a:ln>
        </p:spPr>
        <p:txBody>
          <a:bodyPr/>
          <a:lstStyle/>
          <a:p>
            <a:endParaRPr lang="en-KR"/>
          </a:p>
        </p:txBody>
      </p:sp>
      <p:sp>
        <p:nvSpPr>
          <p:cNvPr id="10" name="Shape 8"/>
          <p:cNvSpPr/>
          <p:nvPr/>
        </p:nvSpPr>
        <p:spPr>
          <a:xfrm>
            <a:off x="96012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1" name="Shape 9"/>
          <p:cNvSpPr/>
          <p:nvPr/>
        </p:nvSpPr>
        <p:spPr>
          <a:xfrm>
            <a:off x="132588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2" name="Shape 10"/>
          <p:cNvSpPr/>
          <p:nvPr/>
        </p:nvSpPr>
        <p:spPr>
          <a:xfrm>
            <a:off x="169164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3" name="Shape 11"/>
          <p:cNvSpPr/>
          <p:nvPr/>
        </p:nvSpPr>
        <p:spPr>
          <a:xfrm>
            <a:off x="2057400" y="1499616"/>
            <a:ext cx="338328" cy="182880"/>
          </a:xfrm>
          <a:prstGeom prst="rect">
            <a:avLst/>
          </a:prstGeom>
          <a:solidFill>
            <a:srgbClr val="F2B544"/>
          </a:solidFill>
          <a:ln w="6350">
            <a:solidFill>
              <a:srgbClr val="5A5270"/>
            </a:solidFill>
            <a:prstDash val="solid"/>
          </a:ln>
        </p:spPr>
        <p:txBody>
          <a:bodyPr/>
          <a:lstStyle/>
          <a:p>
            <a:endParaRPr lang="en-KR"/>
          </a:p>
        </p:txBody>
      </p:sp>
      <p:sp>
        <p:nvSpPr>
          <p:cNvPr id="14" name="Text 12"/>
          <p:cNvSpPr txBox="1"/>
          <p:nvPr/>
        </p:nvSpPr>
        <p:spPr>
          <a:xfrm>
            <a:off x="2057400" y="1499616"/>
            <a:ext cx="338328" cy="182880"/>
          </a:xfrm>
          <a:prstGeom prst="rect">
            <a:avLst/>
          </a:prstGeom>
          <a:noFill/>
          <a:ln/>
        </p:spPr>
        <p:txBody>
          <a:bodyPr wrap="square" lIns="0" tIns="0" rIns="0" bIns="0" rtlCol="0" anchor="ctr"/>
          <a:lstStyle/>
          <a:p>
            <a:pPr marL="0" indent="0" algn="ctr">
              <a:buNone/>
            </a:pPr>
            <a:r>
              <a:rPr lang="en-US" sz="700" b="1" dirty="0">
                <a:solidFill>
                  <a:srgbClr val="0E0C12"/>
                </a:solidFill>
                <a:latin typeface="Apple SD Gothic Neo" pitchFamily="34" charset="0"/>
                <a:ea typeface="Apple SD Gothic Neo" pitchFamily="34" charset="-122"/>
                <a:cs typeface="Apple SD Gothic Neo" pitchFamily="34" charset="-120"/>
              </a:rPr>
              <a:t>O4</a:t>
            </a:r>
            <a:endParaRPr lang="en-US" sz="700" dirty="0"/>
          </a:p>
        </p:txBody>
      </p:sp>
      <p:sp>
        <p:nvSpPr>
          <p:cNvPr id="15" name="Shape 13"/>
          <p:cNvSpPr/>
          <p:nvPr/>
        </p:nvSpPr>
        <p:spPr>
          <a:xfrm>
            <a:off x="242316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6" name="Shape 14"/>
          <p:cNvSpPr/>
          <p:nvPr/>
        </p:nvSpPr>
        <p:spPr>
          <a:xfrm>
            <a:off x="278892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7" name="Shape 15"/>
          <p:cNvSpPr/>
          <p:nvPr/>
        </p:nvSpPr>
        <p:spPr>
          <a:xfrm>
            <a:off x="315468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8" name="Shape 16"/>
          <p:cNvSpPr/>
          <p:nvPr/>
        </p:nvSpPr>
        <p:spPr>
          <a:xfrm>
            <a:off x="3520440" y="1499616"/>
            <a:ext cx="201168" cy="182880"/>
          </a:xfrm>
          <a:prstGeom prst="rect">
            <a:avLst/>
          </a:prstGeom>
          <a:solidFill>
            <a:srgbClr val="3A3350"/>
          </a:solidFill>
          <a:ln w="6350">
            <a:solidFill>
              <a:srgbClr val="5A5270"/>
            </a:solidFill>
            <a:prstDash val="solid"/>
          </a:ln>
        </p:spPr>
        <p:txBody>
          <a:bodyPr/>
          <a:lstStyle/>
          <a:p>
            <a:endParaRPr lang="en-KR"/>
          </a:p>
        </p:txBody>
      </p:sp>
      <p:sp>
        <p:nvSpPr>
          <p:cNvPr id="19" name="Text 17"/>
          <p:cNvSpPr txBox="1"/>
          <p:nvPr/>
        </p:nvSpPr>
        <p:spPr>
          <a:xfrm>
            <a:off x="4937760" y="1463040"/>
            <a:ext cx="1965960" cy="256032"/>
          </a:xfrm>
          <a:prstGeom prst="rect">
            <a:avLst/>
          </a:prstGeom>
          <a:noFill/>
          <a:ln/>
        </p:spPr>
        <p:txBody>
          <a:bodyPr wrap="square" lIns="0" tIns="0" rIns="0" bIns="0" rtlCol="0" anchor="t"/>
          <a:lstStyle/>
          <a:p>
            <a:pPr marL="0" indent="0" algn="r">
              <a:buNone/>
            </a:pPr>
            <a:r>
              <a:rPr lang="en-US" sz="1100" b="1" dirty="0">
                <a:solidFill>
                  <a:srgbClr val="FFFFFF"/>
                </a:solidFill>
                <a:latin typeface="Apple SD Gothic Neo" pitchFamily="34" charset="0"/>
                <a:ea typeface="Apple SD Gothic Neo" pitchFamily="34" charset="-122"/>
                <a:cs typeface="Apple SD Gothic Neo" pitchFamily="34" charset="-120"/>
              </a:rPr>
              <a:t>812,340   ×128</a:t>
            </a:r>
            <a:endParaRPr lang="en-US" sz="1100" dirty="0"/>
          </a:p>
        </p:txBody>
      </p:sp>
      <p:sp>
        <p:nvSpPr>
          <p:cNvPr id="20" name="Shape 18"/>
          <p:cNvSpPr/>
          <p:nvPr/>
        </p:nvSpPr>
        <p:spPr>
          <a:xfrm>
            <a:off x="1024128"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1" name="Shape 19"/>
          <p:cNvSpPr/>
          <p:nvPr/>
        </p:nvSpPr>
        <p:spPr>
          <a:xfrm>
            <a:off x="1807899" y="1828800"/>
            <a:ext cx="747195" cy="3319272"/>
          </a:xfrm>
          <a:prstGeom prst="rect">
            <a:avLst/>
          </a:prstGeom>
          <a:solidFill>
            <a:srgbClr val="3A2F55"/>
          </a:solidFill>
          <a:ln w="12700">
            <a:solidFill>
              <a:srgbClr val="3A2F55"/>
            </a:solidFill>
            <a:prstDash val="solid"/>
          </a:ln>
        </p:spPr>
        <p:txBody>
          <a:bodyPr/>
          <a:lstStyle/>
          <a:p>
            <a:endParaRPr lang="en-KR"/>
          </a:p>
        </p:txBody>
      </p:sp>
      <p:sp>
        <p:nvSpPr>
          <p:cNvPr id="22" name="Shape 20"/>
          <p:cNvSpPr/>
          <p:nvPr/>
        </p:nvSpPr>
        <p:spPr>
          <a:xfrm>
            <a:off x="2591671"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3" name="Shape 21"/>
          <p:cNvSpPr/>
          <p:nvPr/>
        </p:nvSpPr>
        <p:spPr>
          <a:xfrm>
            <a:off x="3375442" y="1828800"/>
            <a:ext cx="747195" cy="3319272"/>
          </a:xfrm>
          <a:prstGeom prst="rect">
            <a:avLst/>
          </a:prstGeom>
          <a:solidFill>
            <a:srgbClr val="3A2F55"/>
          </a:solidFill>
          <a:ln w="12700">
            <a:solidFill>
              <a:srgbClr val="3A2F55"/>
            </a:solidFill>
            <a:prstDash val="solid"/>
          </a:ln>
        </p:spPr>
        <p:txBody>
          <a:bodyPr/>
          <a:lstStyle/>
          <a:p>
            <a:endParaRPr lang="en-KR"/>
          </a:p>
        </p:txBody>
      </p:sp>
      <p:sp>
        <p:nvSpPr>
          <p:cNvPr id="24" name="Shape 22"/>
          <p:cNvSpPr/>
          <p:nvPr/>
        </p:nvSpPr>
        <p:spPr>
          <a:xfrm>
            <a:off x="4159214"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5" name="Shape 23"/>
          <p:cNvSpPr/>
          <p:nvPr/>
        </p:nvSpPr>
        <p:spPr>
          <a:xfrm>
            <a:off x="4942985" y="1828800"/>
            <a:ext cx="747195" cy="3319272"/>
          </a:xfrm>
          <a:prstGeom prst="rect">
            <a:avLst/>
          </a:prstGeom>
          <a:solidFill>
            <a:srgbClr val="3A2F55"/>
          </a:solidFill>
          <a:ln w="12700">
            <a:solidFill>
              <a:srgbClr val="3A2F55"/>
            </a:solidFill>
            <a:prstDash val="solid"/>
          </a:ln>
        </p:spPr>
        <p:txBody>
          <a:bodyPr/>
          <a:lstStyle/>
          <a:p>
            <a:endParaRPr lang="en-KR"/>
          </a:p>
        </p:txBody>
      </p:sp>
      <p:sp>
        <p:nvSpPr>
          <p:cNvPr id="26" name="Shape 24"/>
          <p:cNvSpPr/>
          <p:nvPr/>
        </p:nvSpPr>
        <p:spPr>
          <a:xfrm>
            <a:off x="5726757"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7" name="Shape 25"/>
          <p:cNvSpPr/>
          <p:nvPr/>
        </p:nvSpPr>
        <p:spPr>
          <a:xfrm>
            <a:off x="1554480"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28" name="Shape 26"/>
          <p:cNvSpPr/>
          <p:nvPr/>
        </p:nvSpPr>
        <p:spPr>
          <a:xfrm>
            <a:off x="2338251"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29" name="Shape 27"/>
          <p:cNvSpPr/>
          <p:nvPr/>
        </p:nvSpPr>
        <p:spPr>
          <a:xfrm>
            <a:off x="3905794"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30" name="Shape 28"/>
          <p:cNvSpPr/>
          <p:nvPr/>
        </p:nvSpPr>
        <p:spPr>
          <a:xfrm>
            <a:off x="4689566"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31" name="Shape 29"/>
          <p:cNvSpPr/>
          <p:nvPr/>
        </p:nvSpPr>
        <p:spPr>
          <a:xfrm>
            <a:off x="5473337"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32" name="Shape 30"/>
          <p:cNvSpPr/>
          <p:nvPr/>
        </p:nvSpPr>
        <p:spPr>
          <a:xfrm>
            <a:off x="749808" y="1920240"/>
            <a:ext cx="0" cy="3227832"/>
          </a:xfrm>
          <a:prstGeom prst="line">
            <a:avLst/>
          </a:prstGeom>
          <a:noFill/>
          <a:ln w="38100">
            <a:solidFill>
              <a:srgbClr val="5A5270"/>
            </a:solidFill>
            <a:prstDash val="solid"/>
          </a:ln>
        </p:spPr>
        <p:txBody>
          <a:bodyPr/>
          <a:lstStyle/>
          <a:p>
            <a:endParaRPr lang="en-KR"/>
          </a:p>
        </p:txBody>
      </p:sp>
      <p:sp>
        <p:nvSpPr>
          <p:cNvPr id="33" name="Shape 31"/>
          <p:cNvSpPr/>
          <p:nvPr/>
        </p:nvSpPr>
        <p:spPr>
          <a:xfrm>
            <a:off x="749808" y="3291840"/>
            <a:ext cx="0" cy="1856232"/>
          </a:xfrm>
          <a:prstGeom prst="line">
            <a:avLst/>
          </a:prstGeom>
          <a:noFill/>
          <a:ln w="38100">
            <a:solidFill>
              <a:srgbClr val="F2B544"/>
            </a:solidFill>
            <a:prstDash val="solid"/>
          </a:ln>
        </p:spPr>
        <p:txBody>
          <a:bodyPr/>
          <a:lstStyle/>
          <a:p>
            <a:endParaRPr lang="en-KR"/>
          </a:p>
        </p:txBody>
      </p:sp>
      <p:sp>
        <p:nvSpPr>
          <p:cNvPr id="34" name="Shape 32"/>
          <p:cNvSpPr/>
          <p:nvPr/>
        </p:nvSpPr>
        <p:spPr>
          <a:xfrm>
            <a:off x="6656832" y="1828800"/>
            <a:ext cx="256032" cy="3319272"/>
          </a:xfrm>
          <a:prstGeom prst="rect">
            <a:avLst/>
          </a:prstGeom>
          <a:solidFill>
            <a:srgbClr val="3A3350"/>
          </a:solidFill>
          <a:ln w="12700">
            <a:solidFill>
              <a:srgbClr val="3A3350"/>
            </a:solidFill>
            <a:prstDash val="solid"/>
          </a:ln>
        </p:spPr>
        <p:txBody>
          <a:bodyPr/>
          <a:lstStyle/>
          <a:p>
            <a:endParaRPr lang="en-KR"/>
          </a:p>
        </p:txBody>
      </p:sp>
      <p:sp>
        <p:nvSpPr>
          <p:cNvPr id="35" name="Shape 33"/>
          <p:cNvSpPr/>
          <p:nvPr/>
        </p:nvSpPr>
        <p:spPr>
          <a:xfrm>
            <a:off x="6675120" y="3959352"/>
            <a:ext cx="219456" cy="822960"/>
          </a:xfrm>
          <a:prstGeom prst="rect">
            <a:avLst/>
          </a:prstGeom>
          <a:solidFill>
            <a:srgbClr val="7BD389"/>
          </a:solidFill>
          <a:ln w="12700">
            <a:solidFill>
              <a:srgbClr val="7BD389"/>
            </a:solidFill>
            <a:prstDash val="solid"/>
          </a:ln>
        </p:spPr>
        <p:txBody>
          <a:bodyPr/>
          <a:lstStyle/>
          <a:p>
            <a:endParaRPr lang="en-KR"/>
          </a:p>
        </p:txBody>
      </p:sp>
      <p:sp>
        <p:nvSpPr>
          <p:cNvPr id="36" name="Shape 34"/>
          <p:cNvSpPr/>
          <p:nvPr/>
        </p:nvSpPr>
        <p:spPr>
          <a:xfrm>
            <a:off x="1019556"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37" name="Text 35"/>
          <p:cNvSpPr txBox="1"/>
          <p:nvPr/>
        </p:nvSpPr>
        <p:spPr>
          <a:xfrm>
            <a:off x="1005840"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C</a:t>
            </a:r>
            <a:endParaRPr lang="en-US" sz="1000" dirty="0"/>
          </a:p>
        </p:txBody>
      </p:sp>
      <p:sp>
        <p:nvSpPr>
          <p:cNvPr id="38" name="Shape 36"/>
          <p:cNvSpPr/>
          <p:nvPr/>
        </p:nvSpPr>
        <p:spPr>
          <a:xfrm>
            <a:off x="1803327"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39" name="Text 37"/>
          <p:cNvSpPr txBox="1"/>
          <p:nvPr/>
        </p:nvSpPr>
        <p:spPr>
          <a:xfrm>
            <a:off x="1789611"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D</a:t>
            </a:r>
            <a:endParaRPr lang="en-US" sz="1000" dirty="0"/>
          </a:p>
        </p:txBody>
      </p:sp>
      <p:sp>
        <p:nvSpPr>
          <p:cNvPr id="40" name="Shape 38"/>
          <p:cNvSpPr/>
          <p:nvPr/>
        </p:nvSpPr>
        <p:spPr>
          <a:xfrm>
            <a:off x="2587099"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1" name="Text 39"/>
          <p:cNvSpPr txBox="1"/>
          <p:nvPr/>
        </p:nvSpPr>
        <p:spPr>
          <a:xfrm>
            <a:off x="2573383"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E</a:t>
            </a:r>
            <a:endParaRPr lang="en-US" sz="1000" dirty="0"/>
          </a:p>
        </p:txBody>
      </p:sp>
      <p:sp>
        <p:nvSpPr>
          <p:cNvPr id="42" name="Shape 40"/>
          <p:cNvSpPr/>
          <p:nvPr/>
        </p:nvSpPr>
        <p:spPr>
          <a:xfrm>
            <a:off x="3370870"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3" name="Text 41"/>
          <p:cNvSpPr txBox="1"/>
          <p:nvPr/>
        </p:nvSpPr>
        <p:spPr>
          <a:xfrm>
            <a:off x="3357154"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F</a:t>
            </a:r>
            <a:endParaRPr lang="en-US" sz="1000" dirty="0"/>
          </a:p>
        </p:txBody>
      </p:sp>
      <p:sp>
        <p:nvSpPr>
          <p:cNvPr id="44" name="Shape 42"/>
          <p:cNvSpPr/>
          <p:nvPr/>
        </p:nvSpPr>
        <p:spPr>
          <a:xfrm>
            <a:off x="4154642"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5" name="Text 43"/>
          <p:cNvSpPr txBox="1"/>
          <p:nvPr/>
        </p:nvSpPr>
        <p:spPr>
          <a:xfrm>
            <a:off x="4140926"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G</a:t>
            </a:r>
            <a:endParaRPr lang="en-US" sz="1000" dirty="0"/>
          </a:p>
        </p:txBody>
      </p:sp>
      <p:sp>
        <p:nvSpPr>
          <p:cNvPr id="46" name="Shape 44"/>
          <p:cNvSpPr/>
          <p:nvPr/>
        </p:nvSpPr>
        <p:spPr>
          <a:xfrm>
            <a:off x="4938413"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7" name="Text 45"/>
          <p:cNvSpPr txBox="1"/>
          <p:nvPr/>
        </p:nvSpPr>
        <p:spPr>
          <a:xfrm>
            <a:off x="4924697"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A</a:t>
            </a:r>
            <a:endParaRPr lang="en-US" sz="1000" dirty="0"/>
          </a:p>
        </p:txBody>
      </p:sp>
      <p:sp>
        <p:nvSpPr>
          <p:cNvPr id="48" name="Shape 46"/>
          <p:cNvSpPr/>
          <p:nvPr/>
        </p:nvSpPr>
        <p:spPr>
          <a:xfrm>
            <a:off x="5722185"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9" name="Text 47"/>
          <p:cNvSpPr txBox="1"/>
          <p:nvPr/>
        </p:nvSpPr>
        <p:spPr>
          <a:xfrm>
            <a:off x="5708469"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B</a:t>
            </a:r>
            <a:endParaRPr lang="en-US" sz="1000" dirty="0"/>
          </a:p>
        </p:txBody>
      </p:sp>
      <p:sp>
        <p:nvSpPr>
          <p:cNvPr id="50" name="Shape 48"/>
          <p:cNvSpPr/>
          <p:nvPr/>
        </p:nvSpPr>
        <p:spPr>
          <a:xfrm>
            <a:off x="1570155"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1" name="Shape 49"/>
          <p:cNvSpPr/>
          <p:nvPr/>
        </p:nvSpPr>
        <p:spPr>
          <a:xfrm>
            <a:off x="1554480" y="4764024"/>
            <a:ext cx="470263" cy="0"/>
          </a:xfrm>
          <a:prstGeom prst="line">
            <a:avLst/>
          </a:prstGeom>
          <a:noFill/>
          <a:ln w="38100">
            <a:solidFill>
              <a:srgbClr val="F2B544"/>
            </a:solidFill>
            <a:prstDash val="solid"/>
          </a:ln>
        </p:spPr>
        <p:txBody>
          <a:bodyPr/>
          <a:lstStyle/>
          <a:p>
            <a:endParaRPr lang="en-KR"/>
          </a:p>
        </p:txBody>
      </p:sp>
      <p:sp>
        <p:nvSpPr>
          <p:cNvPr id="52" name="Shape 50"/>
          <p:cNvSpPr/>
          <p:nvPr/>
        </p:nvSpPr>
        <p:spPr>
          <a:xfrm>
            <a:off x="2353927"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3" name="Shape 51"/>
          <p:cNvSpPr/>
          <p:nvPr/>
        </p:nvSpPr>
        <p:spPr>
          <a:xfrm>
            <a:off x="2338251" y="4764024"/>
            <a:ext cx="470263" cy="0"/>
          </a:xfrm>
          <a:prstGeom prst="line">
            <a:avLst/>
          </a:prstGeom>
          <a:noFill/>
          <a:ln w="38100">
            <a:solidFill>
              <a:srgbClr val="F2B544"/>
            </a:solidFill>
            <a:prstDash val="solid"/>
          </a:ln>
        </p:spPr>
        <p:txBody>
          <a:bodyPr/>
          <a:lstStyle/>
          <a:p>
            <a:endParaRPr lang="en-KR"/>
          </a:p>
        </p:txBody>
      </p:sp>
      <p:sp>
        <p:nvSpPr>
          <p:cNvPr id="54" name="Shape 52"/>
          <p:cNvSpPr/>
          <p:nvPr/>
        </p:nvSpPr>
        <p:spPr>
          <a:xfrm>
            <a:off x="3921470"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5" name="Shape 53"/>
          <p:cNvSpPr/>
          <p:nvPr/>
        </p:nvSpPr>
        <p:spPr>
          <a:xfrm>
            <a:off x="3905794" y="4764024"/>
            <a:ext cx="470263" cy="0"/>
          </a:xfrm>
          <a:prstGeom prst="line">
            <a:avLst/>
          </a:prstGeom>
          <a:noFill/>
          <a:ln w="38100">
            <a:solidFill>
              <a:srgbClr val="F2B544"/>
            </a:solidFill>
            <a:prstDash val="solid"/>
          </a:ln>
        </p:spPr>
        <p:txBody>
          <a:bodyPr/>
          <a:lstStyle/>
          <a:p>
            <a:endParaRPr lang="en-KR"/>
          </a:p>
        </p:txBody>
      </p:sp>
      <p:sp>
        <p:nvSpPr>
          <p:cNvPr id="56" name="Shape 54"/>
          <p:cNvSpPr/>
          <p:nvPr/>
        </p:nvSpPr>
        <p:spPr>
          <a:xfrm>
            <a:off x="4705241"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7" name="Shape 55"/>
          <p:cNvSpPr/>
          <p:nvPr/>
        </p:nvSpPr>
        <p:spPr>
          <a:xfrm>
            <a:off x="4689566" y="4764024"/>
            <a:ext cx="470263" cy="0"/>
          </a:xfrm>
          <a:prstGeom prst="line">
            <a:avLst/>
          </a:prstGeom>
          <a:noFill/>
          <a:ln w="38100">
            <a:solidFill>
              <a:srgbClr val="F2B544"/>
            </a:solidFill>
            <a:prstDash val="solid"/>
          </a:ln>
        </p:spPr>
        <p:txBody>
          <a:bodyPr/>
          <a:lstStyle/>
          <a:p>
            <a:endParaRPr lang="en-KR"/>
          </a:p>
        </p:txBody>
      </p:sp>
      <p:sp>
        <p:nvSpPr>
          <p:cNvPr id="58" name="Shape 56"/>
          <p:cNvSpPr/>
          <p:nvPr/>
        </p:nvSpPr>
        <p:spPr>
          <a:xfrm>
            <a:off x="5489013"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9" name="Shape 57"/>
          <p:cNvSpPr/>
          <p:nvPr/>
        </p:nvSpPr>
        <p:spPr>
          <a:xfrm>
            <a:off x="5473337" y="4764024"/>
            <a:ext cx="470263" cy="0"/>
          </a:xfrm>
          <a:prstGeom prst="line">
            <a:avLst/>
          </a:prstGeom>
          <a:noFill/>
          <a:ln w="38100">
            <a:solidFill>
              <a:srgbClr val="F2B544"/>
            </a:solidFill>
            <a:prstDash val="solid"/>
          </a:ln>
        </p:spPr>
        <p:txBody>
          <a:bodyPr/>
          <a:lstStyle/>
          <a:p>
            <a:endParaRPr lang="en-KR"/>
          </a:p>
        </p:txBody>
      </p:sp>
      <p:sp>
        <p:nvSpPr>
          <p:cNvPr id="60" name="Shape 58"/>
          <p:cNvSpPr/>
          <p:nvPr/>
        </p:nvSpPr>
        <p:spPr>
          <a:xfrm>
            <a:off x="1005840" y="5148072"/>
            <a:ext cx="5486400" cy="0"/>
          </a:xfrm>
          <a:prstGeom prst="line">
            <a:avLst/>
          </a:prstGeom>
          <a:noFill/>
          <a:ln w="38100">
            <a:solidFill>
              <a:srgbClr val="F4EEDF"/>
            </a:solidFill>
            <a:prstDash val="solid"/>
          </a:ln>
        </p:spPr>
        <p:txBody>
          <a:bodyPr/>
          <a:lstStyle/>
          <a:p>
            <a:endParaRPr lang="en-KR"/>
          </a:p>
        </p:txBody>
      </p:sp>
      <p:sp>
        <p:nvSpPr>
          <p:cNvPr id="61" name="Shape 59"/>
          <p:cNvSpPr/>
          <p:nvPr/>
        </p:nvSpPr>
        <p:spPr>
          <a:xfrm>
            <a:off x="1078992" y="2788920"/>
            <a:ext cx="637467" cy="155448"/>
          </a:xfrm>
          <a:prstGeom prst="roundRect">
            <a:avLst>
              <a:gd name="adj" fmla="val 23529"/>
            </a:avLst>
          </a:prstGeom>
          <a:solidFill>
            <a:srgbClr val="F4EEDF"/>
          </a:solidFill>
          <a:ln w="12700">
            <a:solidFill>
              <a:srgbClr val="D9C99A"/>
            </a:solidFill>
            <a:prstDash val="solid"/>
          </a:ln>
        </p:spPr>
        <p:txBody>
          <a:bodyPr/>
          <a:lstStyle/>
          <a:p>
            <a:endParaRPr lang="en-KR"/>
          </a:p>
        </p:txBody>
      </p:sp>
      <p:sp>
        <p:nvSpPr>
          <p:cNvPr id="62" name="Shape 60"/>
          <p:cNvSpPr/>
          <p:nvPr/>
        </p:nvSpPr>
        <p:spPr>
          <a:xfrm>
            <a:off x="2646535" y="4526280"/>
            <a:ext cx="637467" cy="155448"/>
          </a:xfrm>
          <a:prstGeom prst="roundRect">
            <a:avLst>
              <a:gd name="adj" fmla="val 23529"/>
            </a:avLst>
          </a:prstGeom>
          <a:solidFill>
            <a:srgbClr val="F4EEDF"/>
          </a:solidFill>
          <a:ln w="12700">
            <a:solidFill>
              <a:srgbClr val="D9C99A"/>
            </a:solidFill>
            <a:prstDash val="solid"/>
          </a:ln>
        </p:spPr>
        <p:txBody>
          <a:bodyPr/>
          <a:lstStyle/>
          <a:p>
            <a:endParaRPr lang="en-KR"/>
          </a:p>
        </p:txBody>
      </p:sp>
      <p:sp>
        <p:nvSpPr>
          <p:cNvPr id="63" name="Shape 61"/>
          <p:cNvSpPr/>
          <p:nvPr/>
        </p:nvSpPr>
        <p:spPr>
          <a:xfrm>
            <a:off x="4532811" y="1965960"/>
            <a:ext cx="0" cy="2148840"/>
          </a:xfrm>
          <a:prstGeom prst="line">
            <a:avLst/>
          </a:prstGeom>
          <a:noFill/>
          <a:ln w="38100">
            <a:solidFill>
              <a:srgbClr val="F4EEDF"/>
            </a:solidFill>
            <a:prstDash val="solid"/>
          </a:ln>
        </p:spPr>
        <p:txBody>
          <a:bodyPr/>
          <a:lstStyle/>
          <a:p>
            <a:endParaRPr lang="en-KR"/>
          </a:p>
        </p:txBody>
      </p:sp>
      <p:sp>
        <p:nvSpPr>
          <p:cNvPr id="64" name="Shape 62"/>
          <p:cNvSpPr/>
          <p:nvPr/>
        </p:nvSpPr>
        <p:spPr>
          <a:xfrm>
            <a:off x="4214078" y="4041648"/>
            <a:ext cx="637467" cy="155448"/>
          </a:xfrm>
          <a:prstGeom prst="roundRect">
            <a:avLst>
              <a:gd name="adj" fmla="val 23529"/>
            </a:avLst>
          </a:prstGeom>
          <a:solidFill>
            <a:srgbClr val="F4EEDF"/>
          </a:solidFill>
          <a:ln w="12700">
            <a:solidFill>
              <a:srgbClr val="D9C99A"/>
            </a:solidFill>
            <a:prstDash val="solid"/>
          </a:ln>
        </p:spPr>
        <p:txBody>
          <a:bodyPr/>
          <a:lstStyle/>
          <a:p>
            <a:endParaRPr lang="en-KR"/>
          </a:p>
        </p:txBody>
      </p:sp>
      <p:sp>
        <p:nvSpPr>
          <p:cNvPr id="65" name="Shape 63"/>
          <p:cNvSpPr/>
          <p:nvPr/>
        </p:nvSpPr>
        <p:spPr>
          <a:xfrm>
            <a:off x="4997849" y="3246120"/>
            <a:ext cx="637467" cy="155448"/>
          </a:xfrm>
          <a:prstGeom prst="roundRect">
            <a:avLst>
              <a:gd name="adj" fmla="val 23529"/>
            </a:avLst>
          </a:prstGeom>
          <a:solidFill>
            <a:srgbClr val="F4EEDF"/>
          </a:solidFill>
          <a:ln w="44450">
            <a:solidFill>
              <a:srgbClr val="FF6B3D"/>
            </a:solidFill>
            <a:prstDash val="solid"/>
          </a:ln>
        </p:spPr>
        <p:txBody>
          <a:bodyPr/>
          <a:lstStyle/>
          <a:p>
            <a:endParaRPr lang="en-KR"/>
          </a:p>
        </p:txBody>
      </p:sp>
      <p:sp>
        <p:nvSpPr>
          <p:cNvPr id="66" name="Text 64"/>
          <p:cNvSpPr txBox="1"/>
          <p:nvPr/>
        </p:nvSpPr>
        <p:spPr>
          <a:xfrm>
            <a:off x="5452437" y="3017520"/>
            <a:ext cx="228600" cy="256032"/>
          </a:xfrm>
          <a:prstGeom prst="rect">
            <a:avLst/>
          </a:prstGeom>
          <a:noFill/>
          <a:ln/>
        </p:spPr>
        <p:txBody>
          <a:bodyPr wrap="square" lIns="0" tIns="0" rIns="0" bIns="0" rtlCol="0" anchor="t"/>
          <a:lstStyle/>
          <a:p>
            <a:pPr marL="0" indent="0">
              <a:buNone/>
            </a:pPr>
            <a:r>
              <a:rPr lang="en-US" sz="1400" b="1" i="1" dirty="0">
                <a:solidFill>
                  <a:srgbClr val="FF6B3D"/>
                </a:solidFill>
                <a:latin typeface="Times New Roman" pitchFamily="34" charset="0"/>
                <a:ea typeface="Times New Roman" pitchFamily="34" charset="-122"/>
                <a:cs typeface="Times New Roman" pitchFamily="34" charset="-120"/>
              </a:rPr>
              <a:t>f</a:t>
            </a:r>
            <a:endParaRPr lang="en-US" sz="1400" dirty="0"/>
          </a:p>
        </p:txBody>
      </p:sp>
      <p:sp>
        <p:nvSpPr>
          <p:cNvPr id="67" name="Shape 65"/>
          <p:cNvSpPr/>
          <p:nvPr/>
        </p:nvSpPr>
        <p:spPr>
          <a:xfrm>
            <a:off x="1862763" y="2240280"/>
            <a:ext cx="637467" cy="155448"/>
          </a:xfrm>
          <a:prstGeom prst="roundRect">
            <a:avLst>
              <a:gd name="adj" fmla="val 23529"/>
            </a:avLst>
          </a:prstGeom>
          <a:solidFill>
            <a:srgbClr val="A9D8FF">
              <a:alpha val="65000"/>
            </a:srgbClr>
          </a:solidFill>
          <a:ln w="9525">
            <a:solidFill>
              <a:srgbClr val="A9D8FF"/>
            </a:solidFill>
            <a:prstDash val="solid"/>
          </a:ln>
        </p:spPr>
        <p:txBody>
          <a:bodyPr/>
          <a:lstStyle/>
          <a:p>
            <a:endParaRPr lang="en-KR"/>
          </a:p>
        </p:txBody>
      </p:sp>
      <p:sp>
        <p:nvSpPr>
          <p:cNvPr id="68" name="Text 66"/>
          <p:cNvSpPr txBox="1"/>
          <p:nvPr/>
        </p:nvSpPr>
        <p:spPr>
          <a:xfrm>
            <a:off x="2335639" y="2011680"/>
            <a:ext cx="228600" cy="256032"/>
          </a:xfrm>
          <a:prstGeom prst="rect">
            <a:avLst/>
          </a:prstGeom>
          <a:noFill/>
          <a:ln/>
        </p:spPr>
        <p:txBody>
          <a:bodyPr wrap="square" lIns="0" tIns="0" rIns="0" bIns="0" rtlCol="0" anchor="t"/>
          <a:lstStyle/>
          <a:p>
            <a:pPr marL="0" indent="0">
              <a:buNone/>
            </a:pPr>
            <a:r>
              <a:rPr lang="en-US" sz="1400" b="1" i="1" dirty="0">
                <a:solidFill>
                  <a:srgbClr val="A9D8FF"/>
                </a:solidFill>
                <a:latin typeface="Times New Roman" pitchFamily="34" charset="0"/>
                <a:ea typeface="Times New Roman" pitchFamily="34" charset="-122"/>
                <a:cs typeface="Times New Roman" pitchFamily="34" charset="-120"/>
              </a:rPr>
              <a:t>p</a:t>
            </a:r>
            <a:endParaRPr lang="en-US" sz="1400" dirty="0"/>
          </a:p>
        </p:txBody>
      </p:sp>
      <p:sp>
        <p:nvSpPr>
          <p:cNvPr id="69" name="Shape 67"/>
          <p:cNvSpPr/>
          <p:nvPr/>
        </p:nvSpPr>
        <p:spPr>
          <a:xfrm>
            <a:off x="1588443" y="4315968"/>
            <a:ext cx="402336" cy="237744"/>
          </a:xfrm>
          <a:prstGeom prst="hexagon">
            <a:avLst/>
          </a:prstGeom>
          <a:solidFill>
            <a:srgbClr val="0E0C12"/>
          </a:solidFill>
          <a:ln w="25400">
            <a:solidFill>
              <a:srgbClr val="F2B544"/>
            </a:solidFill>
            <a:prstDash val="solid"/>
          </a:ln>
        </p:spPr>
        <p:txBody>
          <a:bodyPr/>
          <a:lstStyle/>
          <a:p>
            <a:endParaRPr lang="en-KR"/>
          </a:p>
        </p:txBody>
      </p:sp>
      <p:sp>
        <p:nvSpPr>
          <p:cNvPr id="70" name="Shape 68"/>
          <p:cNvSpPr/>
          <p:nvPr/>
        </p:nvSpPr>
        <p:spPr>
          <a:xfrm>
            <a:off x="3939758" y="2926080"/>
            <a:ext cx="402336" cy="237744"/>
          </a:xfrm>
          <a:prstGeom prst="hexagon">
            <a:avLst/>
          </a:prstGeom>
          <a:solidFill>
            <a:srgbClr val="0E0C12"/>
          </a:solidFill>
          <a:ln w="25400">
            <a:solidFill>
              <a:srgbClr val="F2B544"/>
            </a:solidFill>
            <a:prstDash val="solid"/>
          </a:ln>
        </p:spPr>
        <p:txBody>
          <a:bodyPr/>
          <a:lstStyle/>
          <a:p>
            <a:endParaRPr lang="en-KR"/>
          </a:p>
        </p:txBody>
      </p:sp>
      <p:sp>
        <p:nvSpPr>
          <p:cNvPr id="71" name="Shape 69"/>
          <p:cNvSpPr/>
          <p:nvPr/>
        </p:nvSpPr>
        <p:spPr>
          <a:xfrm>
            <a:off x="5507301" y="1828800"/>
            <a:ext cx="402336" cy="237744"/>
          </a:xfrm>
          <a:prstGeom prst="hexagon">
            <a:avLst/>
          </a:prstGeom>
          <a:solidFill>
            <a:srgbClr val="0E0C12"/>
          </a:solidFill>
          <a:ln w="25400">
            <a:solidFill>
              <a:srgbClr val="F2B544"/>
            </a:solidFill>
            <a:prstDash val="solid"/>
          </a:ln>
        </p:spPr>
        <p:txBody>
          <a:bodyPr/>
          <a:lstStyle/>
          <a:p>
            <a:endParaRPr lang="en-KR"/>
          </a:p>
        </p:txBody>
      </p:sp>
      <p:sp>
        <p:nvSpPr>
          <p:cNvPr id="72" name="Shape 70"/>
          <p:cNvSpPr/>
          <p:nvPr/>
        </p:nvSpPr>
        <p:spPr>
          <a:xfrm>
            <a:off x="1789611" y="4434840"/>
            <a:ext cx="862149" cy="164592"/>
          </a:xfrm>
          <a:prstGeom prst="line">
            <a:avLst/>
          </a:prstGeom>
          <a:noFill/>
          <a:ln w="12700">
            <a:solidFill>
              <a:srgbClr val="F2B544"/>
            </a:solidFill>
            <a:prstDash val="dash"/>
          </a:ln>
        </p:spPr>
        <p:txBody>
          <a:bodyPr/>
          <a:lstStyle/>
          <a:p>
            <a:endParaRPr lang="en-KR"/>
          </a:p>
        </p:txBody>
      </p:sp>
      <p:sp>
        <p:nvSpPr>
          <p:cNvPr id="73" name="Shape 71"/>
          <p:cNvSpPr/>
          <p:nvPr/>
        </p:nvSpPr>
        <p:spPr>
          <a:xfrm>
            <a:off x="3573998" y="2907792"/>
            <a:ext cx="274320" cy="274320"/>
          </a:xfrm>
          <a:prstGeom prst="ellipse">
            <a:avLst/>
          </a:prstGeom>
          <a:solidFill>
            <a:srgbClr val="D9482B"/>
          </a:solidFill>
          <a:ln w="12700">
            <a:solidFill>
              <a:srgbClr val="FFFFFF"/>
            </a:solidFill>
            <a:prstDash val="solid"/>
          </a:ln>
        </p:spPr>
        <p:txBody>
          <a:bodyPr/>
          <a:lstStyle/>
          <a:p>
            <a:endParaRPr lang="en-KR"/>
          </a:p>
        </p:txBody>
      </p:sp>
      <p:sp>
        <p:nvSpPr>
          <p:cNvPr id="74" name="Text 72"/>
          <p:cNvSpPr txBox="1"/>
          <p:nvPr/>
        </p:nvSpPr>
        <p:spPr>
          <a:xfrm>
            <a:off x="3573998" y="29077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1</a:t>
            </a:r>
            <a:endParaRPr lang="en-US" sz="1000" dirty="0"/>
          </a:p>
        </p:txBody>
      </p:sp>
      <p:sp>
        <p:nvSpPr>
          <p:cNvPr id="75" name="Shape 73"/>
          <p:cNvSpPr/>
          <p:nvPr/>
        </p:nvSpPr>
        <p:spPr>
          <a:xfrm>
            <a:off x="1664208" y="2377440"/>
            <a:ext cx="274320" cy="274320"/>
          </a:xfrm>
          <a:prstGeom prst="ellipse">
            <a:avLst/>
          </a:prstGeom>
          <a:solidFill>
            <a:srgbClr val="D9482B"/>
          </a:solidFill>
          <a:ln w="12700">
            <a:solidFill>
              <a:srgbClr val="FFFFFF"/>
            </a:solidFill>
            <a:prstDash val="solid"/>
          </a:ln>
        </p:spPr>
        <p:txBody>
          <a:bodyPr/>
          <a:lstStyle/>
          <a:p>
            <a:endParaRPr lang="en-KR"/>
          </a:p>
        </p:txBody>
      </p:sp>
      <p:sp>
        <p:nvSpPr>
          <p:cNvPr id="76" name="Text 74"/>
          <p:cNvSpPr txBox="1"/>
          <p:nvPr/>
        </p:nvSpPr>
        <p:spPr>
          <a:xfrm>
            <a:off x="1664208" y="23774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2</a:t>
            </a:r>
            <a:endParaRPr lang="en-US" sz="1000" dirty="0"/>
          </a:p>
        </p:txBody>
      </p:sp>
      <p:sp>
        <p:nvSpPr>
          <p:cNvPr id="77" name="Shape 75"/>
          <p:cNvSpPr/>
          <p:nvPr/>
        </p:nvSpPr>
        <p:spPr>
          <a:xfrm>
            <a:off x="4605963" y="2011680"/>
            <a:ext cx="274320" cy="274320"/>
          </a:xfrm>
          <a:prstGeom prst="ellipse">
            <a:avLst/>
          </a:prstGeom>
          <a:solidFill>
            <a:srgbClr val="D9482B"/>
          </a:solidFill>
          <a:ln w="12700">
            <a:solidFill>
              <a:srgbClr val="FFFFFF"/>
            </a:solidFill>
            <a:prstDash val="solid"/>
          </a:ln>
        </p:spPr>
        <p:txBody>
          <a:bodyPr/>
          <a:lstStyle/>
          <a:p>
            <a:endParaRPr lang="en-KR"/>
          </a:p>
        </p:txBody>
      </p:sp>
      <p:sp>
        <p:nvSpPr>
          <p:cNvPr id="78" name="Text 76"/>
          <p:cNvSpPr txBox="1"/>
          <p:nvPr/>
        </p:nvSpPr>
        <p:spPr>
          <a:xfrm>
            <a:off x="4605963" y="201168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3</a:t>
            </a:r>
            <a:endParaRPr lang="en-US" sz="1000" dirty="0"/>
          </a:p>
        </p:txBody>
      </p:sp>
      <p:sp>
        <p:nvSpPr>
          <p:cNvPr id="79" name="Shape 77"/>
          <p:cNvSpPr/>
          <p:nvPr/>
        </p:nvSpPr>
        <p:spPr>
          <a:xfrm>
            <a:off x="4796681" y="2834640"/>
            <a:ext cx="274320" cy="274320"/>
          </a:xfrm>
          <a:prstGeom prst="ellipse">
            <a:avLst/>
          </a:prstGeom>
          <a:solidFill>
            <a:srgbClr val="D9482B"/>
          </a:solidFill>
          <a:ln w="12700">
            <a:solidFill>
              <a:srgbClr val="FFFFFF"/>
            </a:solidFill>
            <a:prstDash val="solid"/>
          </a:ln>
        </p:spPr>
        <p:txBody>
          <a:bodyPr/>
          <a:lstStyle/>
          <a:p>
            <a:endParaRPr lang="en-KR"/>
          </a:p>
        </p:txBody>
      </p:sp>
      <p:sp>
        <p:nvSpPr>
          <p:cNvPr id="80" name="Text 78"/>
          <p:cNvSpPr txBox="1"/>
          <p:nvPr/>
        </p:nvSpPr>
        <p:spPr>
          <a:xfrm>
            <a:off x="4796681" y="28346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4</a:t>
            </a:r>
            <a:endParaRPr lang="en-US" sz="1000" dirty="0"/>
          </a:p>
        </p:txBody>
      </p:sp>
      <p:sp>
        <p:nvSpPr>
          <p:cNvPr id="81" name="Shape 79"/>
          <p:cNvSpPr/>
          <p:nvPr/>
        </p:nvSpPr>
        <p:spPr>
          <a:xfrm>
            <a:off x="6119949" y="4453128"/>
            <a:ext cx="274320" cy="274320"/>
          </a:xfrm>
          <a:prstGeom prst="ellipse">
            <a:avLst/>
          </a:prstGeom>
          <a:solidFill>
            <a:srgbClr val="D9482B"/>
          </a:solidFill>
          <a:ln w="12700">
            <a:solidFill>
              <a:srgbClr val="FFFFFF"/>
            </a:solidFill>
            <a:prstDash val="solid"/>
          </a:ln>
        </p:spPr>
        <p:txBody>
          <a:bodyPr/>
          <a:lstStyle/>
          <a:p>
            <a:endParaRPr lang="en-KR"/>
          </a:p>
        </p:txBody>
      </p:sp>
      <p:sp>
        <p:nvSpPr>
          <p:cNvPr id="82" name="Text 80"/>
          <p:cNvSpPr txBox="1"/>
          <p:nvPr/>
        </p:nvSpPr>
        <p:spPr>
          <a:xfrm>
            <a:off x="6119949" y="445312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5</a:t>
            </a:r>
            <a:endParaRPr lang="en-US" sz="1000" dirty="0"/>
          </a:p>
        </p:txBody>
      </p:sp>
      <p:sp>
        <p:nvSpPr>
          <p:cNvPr id="83" name="Shape 81"/>
          <p:cNvSpPr/>
          <p:nvPr/>
        </p:nvSpPr>
        <p:spPr>
          <a:xfrm>
            <a:off x="612648" y="2926080"/>
            <a:ext cx="274320" cy="274320"/>
          </a:xfrm>
          <a:prstGeom prst="ellipse">
            <a:avLst/>
          </a:prstGeom>
          <a:solidFill>
            <a:srgbClr val="D9482B"/>
          </a:solidFill>
          <a:ln w="12700">
            <a:solidFill>
              <a:srgbClr val="FFFFFF"/>
            </a:solidFill>
            <a:prstDash val="solid"/>
          </a:ln>
        </p:spPr>
        <p:txBody>
          <a:bodyPr/>
          <a:lstStyle/>
          <a:p>
            <a:endParaRPr lang="en-KR"/>
          </a:p>
        </p:txBody>
      </p:sp>
      <p:sp>
        <p:nvSpPr>
          <p:cNvPr id="84" name="Text 82"/>
          <p:cNvSpPr txBox="1"/>
          <p:nvPr/>
        </p:nvSpPr>
        <p:spPr>
          <a:xfrm>
            <a:off x="612648" y="292608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6</a:t>
            </a:r>
            <a:endParaRPr lang="en-US" sz="1000" dirty="0"/>
          </a:p>
        </p:txBody>
      </p:sp>
      <p:sp>
        <p:nvSpPr>
          <p:cNvPr id="85" name="Text 83"/>
          <p:cNvSpPr txBox="1"/>
          <p:nvPr/>
        </p:nvSpPr>
        <p:spPr>
          <a:xfrm>
            <a:off x="548640" y="5897880"/>
            <a:ext cx="649224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화면 </a:t>
            </a:r>
            <a:r>
              <a:rPr lang="en-US" sz="1000" dirty="0" err="1">
                <a:solidFill>
                  <a:srgbClr val="767D88"/>
                </a:solidFill>
                <a:latin typeface="Apple SD Gothic Neo" pitchFamily="34" charset="0"/>
                <a:ea typeface="Apple SD Gothic Neo" pitchFamily="34" charset="-122"/>
                <a:cs typeface="Apple SD Gothic Neo" pitchFamily="34" charset="-120"/>
              </a:rPr>
              <a:t>목업</a:t>
            </a:r>
            <a:r>
              <a:rPr lang="en-US" sz="1000" dirty="0">
                <a:solidFill>
                  <a:srgbClr val="767D88"/>
                </a:solidFill>
                <a:latin typeface="Apple SD Gothic Neo" pitchFamily="34" charset="0"/>
                <a:ea typeface="Apple SD Gothic Neo" pitchFamily="34" charset="-122"/>
                <a:cs typeface="Apple SD Gothic Neo" pitchFamily="34" charset="-120"/>
              </a:rPr>
              <a:t> </a:t>
            </a:r>
            <a:endParaRPr lang="en-US" sz="1000" dirty="0"/>
          </a:p>
        </p:txBody>
      </p:sp>
      <p:sp>
        <p:nvSpPr>
          <p:cNvPr id="86" name="Shape 84"/>
          <p:cNvSpPr/>
          <p:nvPr/>
        </p:nvSpPr>
        <p:spPr>
          <a:xfrm>
            <a:off x="7315200" y="1481328"/>
            <a:ext cx="292608" cy="292608"/>
          </a:xfrm>
          <a:prstGeom prst="ellipse">
            <a:avLst/>
          </a:prstGeom>
          <a:solidFill>
            <a:srgbClr val="D9482B"/>
          </a:solidFill>
          <a:ln w="12700">
            <a:solidFill>
              <a:srgbClr val="FFFFFF"/>
            </a:solidFill>
            <a:prstDash val="solid"/>
          </a:ln>
        </p:spPr>
        <p:txBody>
          <a:bodyPr/>
          <a:lstStyle/>
          <a:p>
            <a:endParaRPr lang="en-KR"/>
          </a:p>
        </p:txBody>
      </p:sp>
      <p:sp>
        <p:nvSpPr>
          <p:cNvPr id="87" name="Text 85"/>
          <p:cNvSpPr txBox="1"/>
          <p:nvPr/>
        </p:nvSpPr>
        <p:spPr>
          <a:xfrm>
            <a:off x="7315200" y="148132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1</a:t>
            </a:r>
            <a:endParaRPr lang="en-US" sz="1000" dirty="0"/>
          </a:p>
        </p:txBody>
      </p:sp>
      <p:sp>
        <p:nvSpPr>
          <p:cNvPr id="88" name="Text 86"/>
          <p:cNvSpPr txBox="1"/>
          <p:nvPr/>
        </p:nvSpPr>
        <p:spPr>
          <a:xfrm>
            <a:off x="7726680" y="1463040"/>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흑건 노트</a:t>
            </a:r>
            <a:endParaRPr lang="en-US" sz="1300" dirty="0"/>
          </a:p>
        </p:txBody>
      </p:sp>
      <p:sp>
        <p:nvSpPr>
          <p:cNvPr id="89" name="Text 87"/>
          <p:cNvSpPr txBox="1"/>
          <p:nvPr/>
        </p:nvSpPr>
        <p:spPr>
          <a:xfrm>
            <a:off x="7726680" y="1719072"/>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좁은 흑요석 육각 결정. 위쪽 판정선(흑현)에서 친다</a:t>
            </a:r>
            <a:endParaRPr lang="en-US" sz="1100" dirty="0"/>
          </a:p>
        </p:txBody>
      </p:sp>
      <p:sp>
        <p:nvSpPr>
          <p:cNvPr id="90" name="Shape 88"/>
          <p:cNvSpPr/>
          <p:nvPr/>
        </p:nvSpPr>
        <p:spPr>
          <a:xfrm>
            <a:off x="7315200" y="2057400"/>
            <a:ext cx="292608" cy="292608"/>
          </a:xfrm>
          <a:prstGeom prst="ellipse">
            <a:avLst/>
          </a:prstGeom>
          <a:solidFill>
            <a:srgbClr val="D9482B"/>
          </a:solidFill>
          <a:ln w="12700">
            <a:solidFill>
              <a:srgbClr val="FFFFFF"/>
            </a:solidFill>
            <a:prstDash val="solid"/>
          </a:ln>
        </p:spPr>
        <p:txBody>
          <a:bodyPr/>
          <a:lstStyle/>
          <a:p>
            <a:endParaRPr lang="en-KR"/>
          </a:p>
        </p:txBody>
      </p:sp>
      <p:sp>
        <p:nvSpPr>
          <p:cNvPr id="91" name="Text 89"/>
          <p:cNvSpPr txBox="1"/>
          <p:nvPr/>
        </p:nvSpPr>
        <p:spPr>
          <a:xfrm>
            <a:off x="7315200" y="20574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2</a:t>
            </a:r>
            <a:endParaRPr lang="en-US" sz="1000" dirty="0"/>
          </a:p>
        </p:txBody>
      </p:sp>
      <p:sp>
        <p:nvSpPr>
          <p:cNvPr id="92" name="Text 90"/>
          <p:cNvSpPr txBox="1"/>
          <p:nvPr/>
        </p:nvSpPr>
        <p:spPr>
          <a:xfrm>
            <a:off x="7726680" y="2039112"/>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백건 노트</a:t>
            </a:r>
            <a:endParaRPr lang="en-US" sz="1300" dirty="0"/>
          </a:p>
        </p:txBody>
      </p:sp>
      <p:sp>
        <p:nvSpPr>
          <p:cNvPr id="93" name="Text 91"/>
          <p:cNvSpPr txBox="1"/>
          <p:nvPr/>
        </p:nvSpPr>
        <p:spPr>
          <a:xfrm>
            <a:off x="7726680" y="2295144"/>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넓은 상아 막대. 아래 판정선(백현)에서 친다</a:t>
            </a:r>
            <a:endParaRPr lang="en-US" sz="1100" dirty="0"/>
          </a:p>
        </p:txBody>
      </p:sp>
      <p:sp>
        <p:nvSpPr>
          <p:cNvPr id="94" name="Shape 92"/>
          <p:cNvSpPr/>
          <p:nvPr/>
        </p:nvSpPr>
        <p:spPr>
          <a:xfrm>
            <a:off x="7315200" y="2633472"/>
            <a:ext cx="292608" cy="292608"/>
          </a:xfrm>
          <a:prstGeom prst="ellipse">
            <a:avLst/>
          </a:prstGeom>
          <a:solidFill>
            <a:srgbClr val="D9482B"/>
          </a:solidFill>
          <a:ln w="12700">
            <a:solidFill>
              <a:srgbClr val="FFFFFF"/>
            </a:solidFill>
            <a:prstDash val="solid"/>
          </a:ln>
        </p:spPr>
        <p:txBody>
          <a:bodyPr/>
          <a:lstStyle/>
          <a:p>
            <a:endParaRPr lang="en-KR"/>
          </a:p>
        </p:txBody>
      </p:sp>
      <p:sp>
        <p:nvSpPr>
          <p:cNvPr id="95" name="Text 93"/>
          <p:cNvSpPr txBox="1"/>
          <p:nvPr/>
        </p:nvSpPr>
        <p:spPr>
          <a:xfrm>
            <a:off x="7315200" y="263347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3</a:t>
            </a:r>
            <a:endParaRPr lang="en-US" sz="1000" dirty="0"/>
          </a:p>
        </p:txBody>
      </p:sp>
      <p:sp>
        <p:nvSpPr>
          <p:cNvPr id="96" name="Text 94"/>
          <p:cNvSpPr txBox="1"/>
          <p:nvPr/>
        </p:nvSpPr>
        <p:spPr>
          <a:xfrm>
            <a:off x="7726680" y="2615184"/>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홀드</a:t>
            </a:r>
            <a:endParaRPr lang="en-US" sz="1300" dirty="0"/>
          </a:p>
        </p:txBody>
      </p:sp>
      <p:sp>
        <p:nvSpPr>
          <p:cNvPr id="97" name="Text 95"/>
          <p:cNvSpPr txBox="1"/>
          <p:nvPr/>
        </p:nvSpPr>
        <p:spPr>
          <a:xfrm>
            <a:off x="7726680" y="2871216"/>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빛나는 실 꼬리 — 끝날 때까지 누르고 있는다</a:t>
            </a:r>
            <a:endParaRPr lang="en-US" sz="1100" dirty="0"/>
          </a:p>
        </p:txBody>
      </p:sp>
      <p:sp>
        <p:nvSpPr>
          <p:cNvPr id="98" name="Shape 96"/>
          <p:cNvSpPr/>
          <p:nvPr/>
        </p:nvSpPr>
        <p:spPr>
          <a:xfrm>
            <a:off x="7315200" y="3209544"/>
            <a:ext cx="292608" cy="292608"/>
          </a:xfrm>
          <a:prstGeom prst="ellipse">
            <a:avLst/>
          </a:prstGeom>
          <a:solidFill>
            <a:srgbClr val="D9482B"/>
          </a:solidFill>
          <a:ln w="12700">
            <a:solidFill>
              <a:srgbClr val="FFFFFF"/>
            </a:solidFill>
            <a:prstDash val="solid"/>
          </a:ln>
        </p:spPr>
        <p:txBody>
          <a:bodyPr/>
          <a:lstStyle/>
          <a:p>
            <a:endParaRPr lang="en-KR"/>
          </a:p>
        </p:txBody>
      </p:sp>
      <p:sp>
        <p:nvSpPr>
          <p:cNvPr id="99" name="Text 97"/>
          <p:cNvSpPr txBox="1"/>
          <p:nvPr/>
        </p:nvSpPr>
        <p:spPr>
          <a:xfrm>
            <a:off x="7315200" y="320954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4</a:t>
            </a:r>
            <a:endParaRPr lang="en-US" sz="1000" dirty="0"/>
          </a:p>
        </p:txBody>
      </p:sp>
      <p:sp>
        <p:nvSpPr>
          <p:cNvPr id="100" name="Text 98"/>
          <p:cNvSpPr txBox="1"/>
          <p:nvPr/>
        </p:nvSpPr>
        <p:spPr>
          <a:xfrm>
            <a:off x="7726680" y="3191256"/>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세기 노트</a:t>
            </a:r>
            <a:endParaRPr lang="en-US" sz="1300" dirty="0"/>
          </a:p>
        </p:txBody>
      </p:sp>
      <p:sp>
        <p:nvSpPr>
          <p:cNvPr id="101" name="Text 99"/>
          <p:cNvSpPr txBox="1"/>
          <p:nvPr/>
        </p:nvSpPr>
        <p:spPr>
          <a:xfrm>
            <a:off x="7726680" y="3447288"/>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f는 두꺼운 주홍 테두리, p는 옅은 하늘색</a:t>
            </a:r>
            <a:endParaRPr lang="en-US" sz="1100" dirty="0"/>
          </a:p>
        </p:txBody>
      </p:sp>
      <p:sp>
        <p:nvSpPr>
          <p:cNvPr id="102" name="Shape 100"/>
          <p:cNvSpPr/>
          <p:nvPr/>
        </p:nvSpPr>
        <p:spPr>
          <a:xfrm>
            <a:off x="7315200" y="3785616"/>
            <a:ext cx="292608" cy="292608"/>
          </a:xfrm>
          <a:prstGeom prst="ellipse">
            <a:avLst/>
          </a:prstGeom>
          <a:solidFill>
            <a:srgbClr val="D9482B"/>
          </a:solidFill>
          <a:ln w="12700">
            <a:solidFill>
              <a:srgbClr val="FFFFFF"/>
            </a:solidFill>
            <a:prstDash val="solid"/>
          </a:ln>
        </p:spPr>
        <p:txBody>
          <a:bodyPr/>
          <a:lstStyle/>
          <a:p>
            <a:endParaRPr lang="en-KR"/>
          </a:p>
        </p:txBody>
      </p:sp>
      <p:sp>
        <p:nvSpPr>
          <p:cNvPr id="103" name="Text 101"/>
          <p:cNvSpPr txBox="1"/>
          <p:nvPr/>
        </p:nvSpPr>
        <p:spPr>
          <a:xfrm>
            <a:off x="7315200" y="37856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5</a:t>
            </a:r>
            <a:endParaRPr lang="en-US" sz="1000" dirty="0"/>
          </a:p>
        </p:txBody>
      </p:sp>
      <p:sp>
        <p:nvSpPr>
          <p:cNvPr id="104" name="Text 102"/>
          <p:cNvSpPr txBox="1"/>
          <p:nvPr/>
        </p:nvSpPr>
        <p:spPr>
          <a:xfrm>
            <a:off x="7726680" y="3767328"/>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판정선 · 화면 건반</a:t>
            </a:r>
            <a:endParaRPr lang="en-US" sz="1300" dirty="0"/>
          </a:p>
        </p:txBody>
      </p:sp>
      <p:sp>
        <p:nvSpPr>
          <p:cNvPr id="105" name="Text 103"/>
          <p:cNvSpPr txBox="1"/>
          <p:nvPr/>
        </p:nvSpPr>
        <p:spPr>
          <a:xfrm>
            <a:off x="7726680" y="4023360"/>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흑현(금색 짧은 줄)과 백현(긴 줄), 실제 건반 배치</a:t>
            </a:r>
            <a:endParaRPr lang="en-US" sz="1100" dirty="0"/>
          </a:p>
        </p:txBody>
      </p:sp>
      <p:sp>
        <p:nvSpPr>
          <p:cNvPr id="106" name="Shape 104"/>
          <p:cNvSpPr/>
          <p:nvPr/>
        </p:nvSpPr>
        <p:spPr>
          <a:xfrm>
            <a:off x="7315200" y="4361688"/>
            <a:ext cx="292608" cy="292608"/>
          </a:xfrm>
          <a:prstGeom prst="ellipse">
            <a:avLst/>
          </a:prstGeom>
          <a:solidFill>
            <a:srgbClr val="D9482B"/>
          </a:solidFill>
          <a:ln w="12700">
            <a:solidFill>
              <a:srgbClr val="FFFFFF"/>
            </a:solidFill>
            <a:prstDash val="solid"/>
          </a:ln>
        </p:spPr>
        <p:txBody>
          <a:bodyPr/>
          <a:lstStyle/>
          <a:p>
            <a:endParaRPr lang="en-KR"/>
          </a:p>
        </p:txBody>
      </p:sp>
      <p:sp>
        <p:nvSpPr>
          <p:cNvPr id="107" name="Text 105"/>
          <p:cNvSpPr txBox="1"/>
          <p:nvPr/>
        </p:nvSpPr>
        <p:spPr>
          <a:xfrm>
            <a:off x="7315200" y="436168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6</a:t>
            </a:r>
            <a:endParaRPr lang="en-US" sz="1000" dirty="0"/>
          </a:p>
        </p:txBody>
      </p:sp>
      <p:sp>
        <p:nvSpPr>
          <p:cNvPr id="108" name="Text 106"/>
          <p:cNvSpPr txBox="1"/>
          <p:nvPr/>
        </p:nvSpPr>
        <p:spPr>
          <a:xfrm>
            <a:off x="7726680" y="4343400"/>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게이지 · 페달</a:t>
            </a:r>
            <a:endParaRPr lang="en-US" sz="1300" dirty="0"/>
          </a:p>
        </p:txBody>
      </p:sp>
      <p:sp>
        <p:nvSpPr>
          <p:cNvPr id="109" name="Text 107"/>
          <p:cNvSpPr txBox="1"/>
          <p:nvPr/>
        </p:nvSpPr>
        <p:spPr>
          <a:xfrm>
            <a:off x="7726680" y="4599432"/>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왼쪽 울림 게이지(현), 오른쪽 댐퍼 페달 레인</a:t>
            </a:r>
            <a:endParaRPr lang="en-US" sz="1100" dirty="0"/>
          </a:p>
        </p:txBody>
      </p:sp>
      <p:sp>
        <p:nvSpPr>
          <p:cNvPr id="110" name="Shape 108"/>
          <p:cNvSpPr/>
          <p:nvPr/>
        </p:nvSpPr>
        <p:spPr>
          <a:xfrm>
            <a:off x="7315200" y="4983480"/>
            <a:ext cx="4327855" cy="868680"/>
          </a:xfrm>
          <a:prstGeom prst="roundRect">
            <a:avLst>
              <a:gd name="adj" fmla="val 8421"/>
            </a:avLst>
          </a:prstGeom>
          <a:solidFill>
            <a:srgbClr val="F3F4F6"/>
          </a:solidFill>
          <a:ln w="12700">
            <a:solidFill>
              <a:srgbClr val="F3F4F6"/>
            </a:solidFill>
            <a:prstDash val="solid"/>
          </a:ln>
        </p:spPr>
        <p:txBody>
          <a:bodyPr/>
          <a:lstStyle/>
          <a:p>
            <a:endParaRPr lang="en-KR"/>
          </a:p>
        </p:txBody>
      </p:sp>
      <p:sp>
        <p:nvSpPr>
          <p:cNvPr id="111" name="Text 109"/>
          <p:cNvSpPr txBox="1"/>
          <p:nvPr/>
        </p:nvSpPr>
        <p:spPr>
          <a:xfrm>
            <a:off x="7498080" y="4983480"/>
            <a:ext cx="4144975" cy="868680"/>
          </a:xfrm>
          <a:prstGeom prst="rect">
            <a:avLst/>
          </a:prstGeom>
          <a:noFill/>
          <a:ln/>
        </p:spPr>
        <p:txBody>
          <a:bodyPr wrap="square" lIns="0" tIns="0" rIns="0" bIns="0" rtlCol="0" anchor="ctr"/>
          <a:lstStyle/>
          <a:p>
            <a:pPr marL="0" indent="0">
              <a:lnSpc>
                <a:spcPct val="110000"/>
              </a:lnSpc>
              <a:buNone/>
            </a:pPr>
            <a:r>
              <a:rPr lang="en-US" sz="1150" b="1" dirty="0">
                <a:solidFill>
                  <a:srgbClr val="D9482B"/>
                </a:solidFill>
                <a:latin typeface="Apple SD Gothic Neo" pitchFamily="34" charset="0"/>
                <a:ea typeface="Apple SD Gothic Neo" pitchFamily="34" charset="-122"/>
                <a:cs typeface="Apple SD Gothic Neo" pitchFamily="34" charset="-120"/>
              </a:rPr>
              <a:t>88레인은 ‘음역 창’으로  </a:t>
            </a:r>
            <a:r>
              <a:rPr lang="en-US" sz="1150" dirty="0">
                <a:solidFill>
                  <a:srgbClr val="444A54"/>
                </a:solidFill>
                <a:latin typeface="Apple SD Gothic Neo" pitchFamily="34" charset="0"/>
                <a:ea typeface="Apple SD Gothic Neo" pitchFamily="34" charset="-122"/>
                <a:cs typeface="Apple SD Gothic Neo" pitchFamily="34" charset="-120"/>
              </a:rPr>
              <a:t>1 · 2(기본) · 4옥타브 · 88 파노라마. 곡을 따라 창이 움직이고, 맨 위 미니맵이 </a:t>
            </a:r>
            <a:r>
              <a:rPr lang="en-US" sz="1150" dirty="0" err="1">
                <a:solidFill>
                  <a:srgbClr val="444A54"/>
                </a:solidFill>
                <a:latin typeface="Apple SD Gothic Neo" pitchFamily="34" charset="0"/>
                <a:ea typeface="Apple SD Gothic Neo" pitchFamily="34" charset="-122"/>
                <a:cs typeface="Apple SD Gothic Neo" pitchFamily="34" charset="-120"/>
              </a:rPr>
              <a:t>위치를</a:t>
            </a:r>
            <a:r>
              <a:rPr lang="en-US" sz="1150" dirty="0">
                <a:solidFill>
                  <a:srgbClr val="444A54"/>
                </a:solidFill>
                <a:latin typeface="Apple SD Gothic Neo" pitchFamily="34" charset="0"/>
                <a:ea typeface="Apple SD Gothic Neo" pitchFamily="34" charset="-122"/>
                <a:cs typeface="Apple SD Gothic Neo" pitchFamily="34" charset="-120"/>
              </a:rPr>
              <a:t> </a:t>
            </a:r>
            <a:r>
              <a:rPr lang="en-US" sz="1150" dirty="0" err="1">
                <a:solidFill>
                  <a:srgbClr val="444A54"/>
                </a:solidFill>
                <a:latin typeface="Apple SD Gothic Neo" pitchFamily="34" charset="0"/>
                <a:ea typeface="Apple SD Gothic Neo" pitchFamily="34" charset="-122"/>
                <a:cs typeface="Apple SD Gothic Neo" pitchFamily="34" charset="-120"/>
              </a:rPr>
              <a:t>알려</a:t>
            </a:r>
            <a:r>
              <a:rPr lang="ko-KR" altLang="en-US" sz="1150" dirty="0">
                <a:solidFill>
                  <a:srgbClr val="444A54"/>
                </a:solidFill>
                <a:latin typeface="Apple SD Gothic Neo" pitchFamily="34" charset="0"/>
                <a:ea typeface="Apple SD Gothic Neo" pitchFamily="34" charset="-122"/>
                <a:cs typeface="Apple SD Gothic Neo" pitchFamily="34" charset="-120"/>
              </a:rPr>
              <a:t>줘서 알맞은 위치를 누를 수 있도록 함</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15</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② — </a:t>
            </a:r>
            <a:r>
              <a:rPr lang="en-US" sz="2800" b="1" dirty="0" err="1">
                <a:solidFill>
                  <a:srgbClr val="16181D"/>
                </a:solidFill>
                <a:latin typeface="Apple SD Gothic Neo" pitchFamily="34" charset="0"/>
                <a:ea typeface="Apple SD Gothic Neo" pitchFamily="34" charset="-122"/>
                <a:cs typeface="Apple SD Gothic Neo" pitchFamily="34" charset="-120"/>
              </a:rPr>
              <a:t>노트와</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sz="2800" b="1" dirty="0" err="1">
                <a:solidFill>
                  <a:srgbClr val="16181D"/>
                </a:solidFill>
                <a:latin typeface="Apple SD Gothic Neo" pitchFamily="34" charset="0"/>
                <a:ea typeface="Apple SD Gothic Neo" pitchFamily="34" charset="-122"/>
                <a:cs typeface="Apple SD Gothic Neo" pitchFamily="34" charset="-120"/>
              </a:rPr>
              <a:t>기믹</a:t>
            </a:r>
            <a:endParaRPr lang="en-US" sz="2800" dirty="0"/>
          </a:p>
        </p:txBody>
      </p:sp>
      <p:sp>
        <p:nvSpPr>
          <p:cNvPr id="7" name="Shape 5"/>
          <p:cNvSpPr/>
          <p:nvPr/>
        </p:nvSpPr>
        <p:spPr>
          <a:xfrm>
            <a:off x="548640" y="1652609"/>
            <a:ext cx="3515258" cy="2834640"/>
          </a:xfrm>
          <a:prstGeom prst="roundRect">
            <a:avLst>
              <a:gd name="adj" fmla="val 2581"/>
            </a:avLst>
          </a:prstGeom>
          <a:solidFill>
            <a:srgbClr val="F3F4F6"/>
          </a:solidFill>
          <a:ln w="12700">
            <a:solidFill>
              <a:srgbClr val="F3F4F6"/>
            </a:solidFill>
            <a:prstDash val="solid"/>
          </a:ln>
        </p:spPr>
        <p:txBody>
          <a:bodyPr/>
          <a:lstStyle/>
          <a:p>
            <a:endParaRPr lang="en-KR"/>
          </a:p>
        </p:txBody>
      </p:sp>
      <p:sp>
        <p:nvSpPr>
          <p:cNvPr id="8" name="Text 6"/>
          <p:cNvSpPr txBox="1"/>
          <p:nvPr/>
        </p:nvSpPr>
        <p:spPr>
          <a:xfrm>
            <a:off x="777240" y="1789769"/>
            <a:ext cx="3058058" cy="320040"/>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기본 노트</a:t>
            </a:r>
            <a:endParaRPr lang="en-US" sz="1500" dirty="0"/>
          </a:p>
        </p:txBody>
      </p:sp>
      <p:sp>
        <p:nvSpPr>
          <p:cNvPr id="9" name="Text 7"/>
          <p:cNvSpPr txBox="1"/>
          <p:nvPr/>
        </p:nvSpPr>
        <p:spPr>
          <a:xfrm>
            <a:off x="777240" y="2219537"/>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탭</a:t>
            </a:r>
            <a:endParaRPr lang="en-US" sz="1200" dirty="0"/>
          </a:p>
        </p:txBody>
      </p:sp>
      <p:sp>
        <p:nvSpPr>
          <p:cNvPr id="10" name="Text 8"/>
          <p:cNvSpPr txBox="1"/>
          <p:nvPr/>
        </p:nvSpPr>
        <p:spPr>
          <a:xfrm>
            <a:off x="2011680" y="2219537"/>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한 번 누른다</a:t>
            </a:r>
            <a:endParaRPr lang="en-US" sz="1100" dirty="0"/>
          </a:p>
        </p:txBody>
      </p:sp>
      <p:sp>
        <p:nvSpPr>
          <p:cNvPr id="11" name="Text 9"/>
          <p:cNvSpPr txBox="1"/>
          <p:nvPr/>
        </p:nvSpPr>
        <p:spPr>
          <a:xfrm>
            <a:off x="777240" y="2658449"/>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화음</a:t>
            </a:r>
            <a:endParaRPr lang="en-US" sz="1200" dirty="0"/>
          </a:p>
        </p:txBody>
      </p:sp>
      <p:sp>
        <p:nvSpPr>
          <p:cNvPr id="12" name="Text 10"/>
          <p:cNvSpPr txBox="1"/>
          <p:nvPr/>
        </p:nvSpPr>
        <p:spPr>
          <a:xfrm>
            <a:off x="2011680" y="2658449"/>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여러 건반을 동시에</a:t>
            </a:r>
            <a:endParaRPr lang="en-US" sz="1100" dirty="0"/>
          </a:p>
        </p:txBody>
      </p:sp>
      <p:sp>
        <p:nvSpPr>
          <p:cNvPr id="13" name="Text 11"/>
          <p:cNvSpPr txBox="1"/>
          <p:nvPr/>
        </p:nvSpPr>
        <p:spPr>
          <a:xfrm>
            <a:off x="777240" y="3097361"/>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연타</a:t>
            </a:r>
            <a:endParaRPr lang="en-US" sz="1200" dirty="0"/>
          </a:p>
        </p:txBody>
      </p:sp>
      <p:sp>
        <p:nvSpPr>
          <p:cNvPr id="14" name="Text 12"/>
          <p:cNvSpPr txBox="1"/>
          <p:nvPr/>
        </p:nvSpPr>
        <p:spPr>
          <a:xfrm>
            <a:off x="2011680" y="3097361"/>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같은 건반을 여러 번 (재타건)</a:t>
            </a:r>
            <a:endParaRPr lang="en-US" sz="1100" dirty="0"/>
          </a:p>
        </p:txBody>
      </p:sp>
      <p:sp>
        <p:nvSpPr>
          <p:cNvPr id="15" name="Text 13"/>
          <p:cNvSpPr txBox="1"/>
          <p:nvPr/>
        </p:nvSpPr>
        <p:spPr>
          <a:xfrm>
            <a:off x="777240" y="3536273"/>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트릴</a:t>
            </a:r>
            <a:endParaRPr lang="en-US" sz="1200" dirty="0"/>
          </a:p>
        </p:txBody>
      </p:sp>
      <p:sp>
        <p:nvSpPr>
          <p:cNvPr id="16" name="Text 14"/>
          <p:cNvSpPr txBox="1"/>
          <p:nvPr/>
        </p:nvSpPr>
        <p:spPr>
          <a:xfrm>
            <a:off x="2011680" y="3536273"/>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이웃한 두 건반을 번갈아</a:t>
            </a:r>
            <a:endParaRPr lang="en-US" sz="1100" dirty="0"/>
          </a:p>
        </p:txBody>
      </p:sp>
      <p:sp>
        <p:nvSpPr>
          <p:cNvPr id="17" name="Text 15"/>
          <p:cNvSpPr txBox="1"/>
          <p:nvPr/>
        </p:nvSpPr>
        <p:spPr>
          <a:xfrm>
            <a:off x="777240" y="3975185"/>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아르페지오</a:t>
            </a:r>
            <a:endParaRPr lang="en-US" sz="1200" dirty="0"/>
          </a:p>
        </p:txBody>
      </p:sp>
      <p:sp>
        <p:nvSpPr>
          <p:cNvPr id="18" name="Text 16"/>
          <p:cNvSpPr txBox="1"/>
          <p:nvPr/>
        </p:nvSpPr>
        <p:spPr>
          <a:xfrm>
            <a:off x="2011680" y="3975185"/>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표시 순서대로 빠르게</a:t>
            </a:r>
            <a:endParaRPr lang="en-US" sz="1100" dirty="0"/>
          </a:p>
        </p:txBody>
      </p:sp>
      <p:sp>
        <p:nvSpPr>
          <p:cNvPr id="19" name="Shape 17"/>
          <p:cNvSpPr/>
          <p:nvPr/>
        </p:nvSpPr>
        <p:spPr>
          <a:xfrm>
            <a:off x="4338218" y="1652609"/>
            <a:ext cx="3515258" cy="2834640"/>
          </a:xfrm>
          <a:prstGeom prst="roundRect">
            <a:avLst>
              <a:gd name="adj" fmla="val 2581"/>
            </a:avLst>
          </a:prstGeom>
          <a:solidFill>
            <a:srgbClr val="FBE9E4"/>
          </a:solidFill>
          <a:ln w="12700">
            <a:solidFill>
              <a:srgbClr val="FBE9E4"/>
            </a:solidFill>
            <a:prstDash val="solid"/>
          </a:ln>
        </p:spPr>
        <p:txBody>
          <a:bodyPr/>
          <a:lstStyle/>
          <a:p>
            <a:endParaRPr lang="en-KR"/>
          </a:p>
        </p:txBody>
      </p:sp>
      <p:sp>
        <p:nvSpPr>
          <p:cNvPr id="20" name="Text 18"/>
          <p:cNvSpPr txBox="1"/>
          <p:nvPr/>
        </p:nvSpPr>
        <p:spPr>
          <a:xfrm>
            <a:off x="4566818" y="1789769"/>
            <a:ext cx="3058058" cy="320040"/>
          </a:xfrm>
          <a:prstGeom prst="rect">
            <a:avLst/>
          </a:prstGeom>
          <a:noFill/>
          <a:ln/>
        </p:spPr>
        <p:txBody>
          <a:bodyPr wrap="square" lIns="0" tIns="0" rIns="0" bIns="0" rtlCol="0" anchor="t"/>
          <a:lstStyle/>
          <a:p>
            <a:pPr marL="0" indent="0">
              <a:buNone/>
            </a:pPr>
            <a:r>
              <a:rPr lang="en-US" sz="1500" b="1" dirty="0">
                <a:solidFill>
                  <a:srgbClr val="D9482B"/>
                </a:solidFill>
                <a:latin typeface="Apple SD Gothic Neo" pitchFamily="34" charset="0"/>
                <a:ea typeface="Apple SD Gothic Neo" pitchFamily="34" charset="-122"/>
                <a:cs typeface="Apple SD Gothic Neo" pitchFamily="34" charset="-120"/>
              </a:rPr>
              <a:t>계속 누르기 (홀드)</a:t>
            </a:r>
            <a:endParaRPr lang="en-US" sz="1500" dirty="0"/>
          </a:p>
        </p:txBody>
      </p:sp>
      <p:sp>
        <p:nvSpPr>
          <p:cNvPr id="21" name="Text 19"/>
          <p:cNvSpPr txBox="1"/>
          <p:nvPr/>
        </p:nvSpPr>
        <p:spPr>
          <a:xfrm>
            <a:off x="4566818" y="2219537"/>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기본 홀드</a:t>
            </a:r>
            <a:endParaRPr lang="en-US" sz="1200" dirty="0"/>
          </a:p>
        </p:txBody>
      </p:sp>
      <p:sp>
        <p:nvSpPr>
          <p:cNvPr id="22" name="Text 20"/>
          <p:cNvSpPr txBox="1"/>
          <p:nvPr/>
        </p:nvSpPr>
        <p:spPr>
          <a:xfrm>
            <a:off x="5801258" y="2219537"/>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꼬리 끝까지 누르고 있는다</a:t>
            </a:r>
            <a:endParaRPr lang="en-US" sz="1100" dirty="0"/>
          </a:p>
        </p:txBody>
      </p:sp>
      <p:sp>
        <p:nvSpPr>
          <p:cNvPr id="23" name="Text 21"/>
          <p:cNvSpPr txBox="1"/>
          <p:nvPr/>
        </p:nvSpPr>
        <p:spPr>
          <a:xfrm>
            <a:off x="4566818" y="2658449"/>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매듭 홀드</a:t>
            </a:r>
            <a:endParaRPr lang="en-US" sz="1200" dirty="0"/>
          </a:p>
        </p:txBody>
      </p:sp>
      <p:sp>
        <p:nvSpPr>
          <p:cNvPr id="24" name="Text 22"/>
          <p:cNvSpPr txBox="1"/>
          <p:nvPr/>
        </p:nvSpPr>
        <p:spPr>
          <a:xfrm>
            <a:off x="5801258" y="2658449"/>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끝의 매듭에서 정확히 놓는다</a:t>
            </a:r>
            <a:endParaRPr lang="en-US" sz="1100" dirty="0"/>
          </a:p>
        </p:txBody>
      </p:sp>
      <p:sp>
        <p:nvSpPr>
          <p:cNvPr id="25" name="Text 23"/>
          <p:cNvSpPr txBox="1"/>
          <p:nvPr/>
        </p:nvSpPr>
        <p:spPr>
          <a:xfrm>
            <a:off x="4566818" y="3097361"/>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모으기 홀드</a:t>
            </a:r>
            <a:endParaRPr lang="en-US" sz="1200" dirty="0"/>
          </a:p>
        </p:txBody>
      </p:sp>
      <p:sp>
        <p:nvSpPr>
          <p:cNvPr id="26" name="Text 24"/>
          <p:cNvSpPr txBox="1"/>
          <p:nvPr/>
        </p:nvSpPr>
        <p:spPr>
          <a:xfrm>
            <a:off x="5801258" y="3097361"/>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누른 만큼 차오르고, 떼면 발동</a:t>
            </a:r>
            <a:endParaRPr lang="en-US" sz="1100" dirty="0"/>
          </a:p>
        </p:txBody>
      </p:sp>
      <p:sp>
        <p:nvSpPr>
          <p:cNvPr id="27" name="Text 25"/>
          <p:cNvSpPr txBox="1"/>
          <p:nvPr/>
        </p:nvSpPr>
        <p:spPr>
          <a:xfrm>
            <a:off x="4566818" y="3536273"/>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레가토 사슬</a:t>
            </a:r>
            <a:endParaRPr lang="en-US" sz="1200" dirty="0"/>
          </a:p>
        </p:txBody>
      </p:sp>
      <p:sp>
        <p:nvSpPr>
          <p:cNvPr id="28" name="Text 26"/>
          <p:cNvSpPr txBox="1"/>
          <p:nvPr/>
        </p:nvSpPr>
        <p:spPr>
          <a:xfrm>
            <a:off x="5801258" y="3536273"/>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앞 건반을 떼기 전에 다음 건반</a:t>
            </a:r>
            <a:endParaRPr lang="en-US" sz="1100" dirty="0"/>
          </a:p>
        </p:txBody>
      </p:sp>
      <p:sp>
        <p:nvSpPr>
          <p:cNvPr id="29" name="Text 27"/>
          <p:cNvSpPr txBox="1"/>
          <p:nvPr/>
        </p:nvSpPr>
        <p:spPr>
          <a:xfrm>
            <a:off x="4566818" y="3975185"/>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쉼표 노트</a:t>
            </a:r>
            <a:endParaRPr lang="en-US" sz="1200" dirty="0"/>
          </a:p>
        </p:txBody>
      </p:sp>
      <p:sp>
        <p:nvSpPr>
          <p:cNvPr id="30" name="Text 28"/>
          <p:cNvSpPr txBox="1"/>
          <p:nvPr/>
        </p:nvSpPr>
        <p:spPr>
          <a:xfrm>
            <a:off x="5801258" y="3975185"/>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그 구간 동안 누르지 않는다</a:t>
            </a:r>
            <a:endParaRPr lang="en-US" sz="1100" dirty="0"/>
          </a:p>
        </p:txBody>
      </p:sp>
      <p:sp>
        <p:nvSpPr>
          <p:cNvPr id="31" name="Shape 29"/>
          <p:cNvSpPr/>
          <p:nvPr/>
        </p:nvSpPr>
        <p:spPr>
          <a:xfrm>
            <a:off x="8127797" y="1652609"/>
            <a:ext cx="3515258" cy="2834640"/>
          </a:xfrm>
          <a:prstGeom prst="roundRect">
            <a:avLst>
              <a:gd name="adj" fmla="val 2581"/>
            </a:avLst>
          </a:prstGeom>
          <a:solidFill>
            <a:srgbClr val="FBE9E4"/>
          </a:solidFill>
          <a:ln w="12700">
            <a:solidFill>
              <a:srgbClr val="FBE9E4"/>
            </a:solidFill>
            <a:prstDash val="solid"/>
          </a:ln>
        </p:spPr>
        <p:txBody>
          <a:bodyPr/>
          <a:lstStyle/>
          <a:p>
            <a:endParaRPr lang="en-KR"/>
          </a:p>
        </p:txBody>
      </p:sp>
      <p:sp>
        <p:nvSpPr>
          <p:cNvPr id="32" name="Text 30"/>
          <p:cNvSpPr txBox="1"/>
          <p:nvPr/>
        </p:nvSpPr>
        <p:spPr>
          <a:xfrm>
            <a:off x="8356397" y="1789769"/>
            <a:ext cx="3058058" cy="320040"/>
          </a:xfrm>
          <a:prstGeom prst="rect">
            <a:avLst/>
          </a:prstGeom>
          <a:noFill/>
          <a:ln/>
        </p:spPr>
        <p:txBody>
          <a:bodyPr wrap="square" lIns="0" tIns="0" rIns="0" bIns="0" rtlCol="0" anchor="t"/>
          <a:lstStyle/>
          <a:p>
            <a:pPr marL="0" indent="0">
              <a:buNone/>
            </a:pPr>
            <a:r>
              <a:rPr lang="en-US" sz="1500" b="1" dirty="0">
                <a:solidFill>
                  <a:srgbClr val="D9482B"/>
                </a:solidFill>
                <a:latin typeface="Apple SD Gothic Neo" pitchFamily="34" charset="0"/>
                <a:ea typeface="Apple SD Gothic Neo" pitchFamily="34" charset="-122"/>
                <a:cs typeface="Apple SD Gothic Neo" pitchFamily="34" charset="-120"/>
              </a:rPr>
              <a:t>누르는 세기 (벨로시티)</a:t>
            </a:r>
            <a:endParaRPr lang="en-US" sz="1500" dirty="0"/>
          </a:p>
        </p:txBody>
      </p:sp>
      <p:sp>
        <p:nvSpPr>
          <p:cNvPr id="33" name="Text 31"/>
          <p:cNvSpPr txBox="1"/>
          <p:nvPr/>
        </p:nvSpPr>
        <p:spPr>
          <a:xfrm>
            <a:off x="8356397" y="2219537"/>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강약 노트</a:t>
            </a:r>
            <a:endParaRPr lang="en-US" sz="1200" dirty="0"/>
          </a:p>
        </p:txBody>
      </p:sp>
      <p:sp>
        <p:nvSpPr>
          <p:cNvPr id="34" name="Text 32"/>
          <p:cNvSpPr txBox="1"/>
          <p:nvPr/>
        </p:nvSpPr>
        <p:spPr>
          <a:xfrm>
            <a:off x="9590837" y="2219537"/>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표시된 p 또는 f 세기로 친다</a:t>
            </a:r>
            <a:endParaRPr lang="en-US" sz="1100" dirty="0"/>
          </a:p>
        </p:txBody>
      </p:sp>
      <p:sp>
        <p:nvSpPr>
          <p:cNvPr id="35" name="Text 33"/>
          <p:cNvSpPr txBox="1"/>
          <p:nvPr/>
        </p:nvSpPr>
        <p:spPr>
          <a:xfrm>
            <a:off x="8356397" y="2658449"/>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깨기 노트</a:t>
            </a:r>
            <a:endParaRPr lang="en-US" sz="1200" dirty="0"/>
          </a:p>
        </p:txBody>
      </p:sp>
      <p:sp>
        <p:nvSpPr>
          <p:cNvPr id="36" name="Text 34"/>
          <p:cNvSpPr txBox="1"/>
          <p:nvPr/>
        </p:nvSpPr>
        <p:spPr>
          <a:xfrm>
            <a:off x="9590837" y="2658449"/>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91 이상으로 세게 쳐야 깨진다</a:t>
            </a:r>
            <a:endParaRPr lang="en-US" sz="1100" dirty="0"/>
          </a:p>
        </p:txBody>
      </p:sp>
      <p:sp>
        <p:nvSpPr>
          <p:cNvPr id="37" name="Text 35"/>
          <p:cNvSpPr txBox="1"/>
          <p:nvPr/>
        </p:nvSpPr>
        <p:spPr>
          <a:xfrm>
            <a:off x="8356397" y="3097361"/>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유리 노트</a:t>
            </a:r>
            <a:endParaRPr lang="en-US" sz="1200" dirty="0"/>
          </a:p>
        </p:txBody>
      </p:sp>
      <p:sp>
        <p:nvSpPr>
          <p:cNvPr id="38" name="Text 36"/>
          <p:cNvSpPr txBox="1"/>
          <p:nvPr/>
        </p:nvSpPr>
        <p:spPr>
          <a:xfrm>
            <a:off x="9590837" y="3097361"/>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50 이하로 살며시 쳐야 산다</a:t>
            </a:r>
            <a:endParaRPr lang="en-US" sz="1100" dirty="0"/>
          </a:p>
        </p:txBody>
      </p:sp>
      <p:sp>
        <p:nvSpPr>
          <p:cNvPr id="39" name="Text 37"/>
          <p:cNvSpPr txBox="1"/>
          <p:nvPr/>
        </p:nvSpPr>
        <p:spPr>
          <a:xfrm>
            <a:off x="8356397" y="3536273"/>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크레셴도 사슬</a:t>
            </a:r>
            <a:endParaRPr lang="en-US" sz="1200" dirty="0"/>
          </a:p>
        </p:txBody>
      </p:sp>
      <p:sp>
        <p:nvSpPr>
          <p:cNvPr id="40" name="Text 38"/>
          <p:cNvSpPr txBox="1"/>
          <p:nvPr/>
        </p:nvSpPr>
        <p:spPr>
          <a:xfrm>
            <a:off x="9590837" y="3536273"/>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3~8음을 점점 세게</a:t>
            </a:r>
            <a:endParaRPr lang="en-US" sz="1100" dirty="0"/>
          </a:p>
        </p:txBody>
      </p:sp>
      <p:sp>
        <p:nvSpPr>
          <p:cNvPr id="41" name="Text 39"/>
          <p:cNvSpPr txBox="1"/>
          <p:nvPr/>
        </p:nvSpPr>
        <p:spPr>
          <a:xfrm>
            <a:off x="8356397" y="3975185"/>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강조 화음</a:t>
            </a:r>
            <a:endParaRPr lang="en-US" sz="1200" dirty="0"/>
          </a:p>
        </p:txBody>
      </p:sp>
      <p:sp>
        <p:nvSpPr>
          <p:cNvPr id="42" name="Text 40"/>
          <p:cNvSpPr txBox="1"/>
          <p:nvPr/>
        </p:nvSpPr>
        <p:spPr>
          <a:xfrm>
            <a:off x="9590837" y="3975185"/>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화음 속 한 음만 더 세게</a:t>
            </a:r>
            <a:endParaRPr lang="en-US" sz="1100" dirty="0"/>
          </a:p>
        </p:txBody>
      </p:sp>
      <p:sp>
        <p:nvSpPr>
          <p:cNvPr id="43" name="Text 41"/>
          <p:cNvSpPr txBox="1"/>
          <p:nvPr/>
        </p:nvSpPr>
        <p:spPr>
          <a:xfrm>
            <a:off x="548640" y="4829146"/>
            <a:ext cx="2743200" cy="228600"/>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세기 구간 (잠정)</a:t>
            </a:r>
            <a:endParaRPr lang="en-US" sz="1150" dirty="0"/>
          </a:p>
        </p:txBody>
      </p:sp>
      <p:sp>
        <p:nvSpPr>
          <p:cNvPr id="44" name="Shape 42"/>
          <p:cNvSpPr/>
          <p:nvPr/>
        </p:nvSpPr>
        <p:spPr>
          <a:xfrm>
            <a:off x="548640" y="5140042"/>
            <a:ext cx="2304000" cy="457200"/>
          </a:xfrm>
          <a:prstGeom prst="rect">
            <a:avLst/>
          </a:prstGeom>
          <a:solidFill>
            <a:srgbClr val="A9D8FF"/>
          </a:solidFill>
          <a:ln w="12700">
            <a:solidFill>
              <a:srgbClr val="A9D8FF"/>
            </a:solidFill>
            <a:prstDash val="solid"/>
          </a:ln>
        </p:spPr>
        <p:txBody>
          <a:bodyPr/>
          <a:lstStyle/>
          <a:p>
            <a:endParaRPr lang="en-KR"/>
          </a:p>
        </p:txBody>
      </p:sp>
      <p:sp>
        <p:nvSpPr>
          <p:cNvPr id="45" name="Text 43"/>
          <p:cNvSpPr txBox="1"/>
          <p:nvPr/>
        </p:nvSpPr>
        <p:spPr>
          <a:xfrm>
            <a:off x="621792" y="5140042"/>
            <a:ext cx="2194272"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p  여리게</a:t>
            </a:r>
            <a:endParaRPr lang="en-US" sz="1050" dirty="0"/>
          </a:p>
          <a:p>
            <a:pPr marL="0" indent="0">
              <a:buNone/>
            </a:pPr>
            <a:r>
              <a:rPr lang="en-US" sz="950" dirty="0">
                <a:solidFill>
                  <a:srgbClr val="16181D"/>
                </a:solidFill>
                <a:latin typeface="Apple SD Gothic Neo" pitchFamily="34" charset="0"/>
                <a:ea typeface="Apple SD Gothic Neo" pitchFamily="34" charset="-122"/>
                <a:cs typeface="Apple SD Gothic Neo" pitchFamily="34" charset="-120"/>
              </a:rPr>
              <a:t>1–50</a:t>
            </a:r>
            <a:endParaRPr lang="en-US" sz="1050" dirty="0"/>
          </a:p>
        </p:txBody>
      </p:sp>
      <p:sp>
        <p:nvSpPr>
          <p:cNvPr id="46" name="Shape 44"/>
          <p:cNvSpPr/>
          <p:nvPr/>
        </p:nvSpPr>
        <p:spPr>
          <a:xfrm>
            <a:off x="2852640" y="5140042"/>
            <a:ext cx="1843200" cy="457200"/>
          </a:xfrm>
          <a:prstGeom prst="rect">
            <a:avLst/>
          </a:prstGeom>
          <a:solidFill>
            <a:srgbClr val="D5D8DE"/>
          </a:solidFill>
          <a:ln w="12700">
            <a:solidFill>
              <a:srgbClr val="D5D8DE"/>
            </a:solidFill>
            <a:prstDash val="solid"/>
          </a:ln>
        </p:spPr>
        <p:txBody>
          <a:bodyPr/>
          <a:lstStyle/>
          <a:p>
            <a:endParaRPr lang="en-KR"/>
          </a:p>
        </p:txBody>
      </p:sp>
      <p:sp>
        <p:nvSpPr>
          <p:cNvPr id="47" name="Text 45"/>
          <p:cNvSpPr txBox="1"/>
          <p:nvPr/>
        </p:nvSpPr>
        <p:spPr>
          <a:xfrm>
            <a:off x="2925792" y="5140042"/>
            <a:ext cx="1733472"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mf  보통 (요구 없음)</a:t>
            </a:r>
            <a:endParaRPr lang="en-US" sz="1050" dirty="0"/>
          </a:p>
          <a:p>
            <a:pPr marL="0" indent="0">
              <a:buNone/>
            </a:pPr>
            <a:r>
              <a:rPr lang="en-US" sz="950" dirty="0">
                <a:solidFill>
                  <a:srgbClr val="16181D"/>
                </a:solidFill>
                <a:latin typeface="Apple SD Gothic Neo" pitchFamily="34" charset="0"/>
                <a:ea typeface="Apple SD Gothic Neo" pitchFamily="34" charset="-122"/>
                <a:cs typeface="Apple SD Gothic Neo" pitchFamily="34" charset="-120"/>
              </a:rPr>
              <a:t>51–90</a:t>
            </a:r>
            <a:endParaRPr lang="en-US" sz="1050" dirty="0"/>
          </a:p>
        </p:txBody>
      </p:sp>
      <p:sp>
        <p:nvSpPr>
          <p:cNvPr id="48" name="Shape 46"/>
          <p:cNvSpPr/>
          <p:nvPr/>
        </p:nvSpPr>
        <p:spPr>
          <a:xfrm>
            <a:off x="4695840" y="5140042"/>
            <a:ext cx="1704960" cy="457200"/>
          </a:xfrm>
          <a:prstGeom prst="rect">
            <a:avLst/>
          </a:prstGeom>
          <a:solidFill>
            <a:srgbClr val="FF6B3D"/>
          </a:solidFill>
          <a:ln w="12700">
            <a:solidFill>
              <a:srgbClr val="FF6B3D"/>
            </a:solidFill>
            <a:prstDash val="solid"/>
          </a:ln>
        </p:spPr>
        <p:txBody>
          <a:bodyPr/>
          <a:lstStyle/>
          <a:p>
            <a:endParaRPr lang="en-KR"/>
          </a:p>
        </p:txBody>
      </p:sp>
      <p:sp>
        <p:nvSpPr>
          <p:cNvPr id="49" name="Text 47"/>
          <p:cNvSpPr txBox="1"/>
          <p:nvPr/>
        </p:nvSpPr>
        <p:spPr>
          <a:xfrm>
            <a:off x="4768992" y="5140042"/>
            <a:ext cx="1595232" cy="457200"/>
          </a:xfrm>
          <a:prstGeom prst="rect">
            <a:avLst/>
          </a:prstGeom>
          <a:noFill/>
          <a:ln/>
        </p:spPr>
        <p:txBody>
          <a:bodyPr wrap="square" lIns="0" tIns="0" rIns="0" bIns="0" rtlCol="0" anchor="ct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f  세게</a:t>
            </a:r>
            <a:endParaRPr lang="en-US" sz="1050" dirty="0"/>
          </a:p>
          <a:p>
            <a:pPr marL="0" indent="0">
              <a:buNone/>
            </a:pPr>
            <a:r>
              <a:rPr lang="en-US" sz="950" dirty="0">
                <a:solidFill>
                  <a:srgbClr val="FFFFFF"/>
                </a:solidFill>
                <a:latin typeface="Apple SD Gothic Neo" pitchFamily="34" charset="0"/>
                <a:ea typeface="Apple SD Gothic Neo" pitchFamily="34" charset="-122"/>
                <a:cs typeface="Apple SD Gothic Neo" pitchFamily="34" charset="-120"/>
              </a:rPr>
              <a:t>91–127</a:t>
            </a:r>
            <a:endParaRPr lang="en-US" sz="1050" dirty="0"/>
          </a:p>
        </p:txBody>
      </p:sp>
      <p:sp>
        <p:nvSpPr>
          <p:cNvPr id="51" name="Text 49"/>
          <p:cNvSpPr txBox="1"/>
          <p:nvPr/>
        </p:nvSpPr>
        <p:spPr>
          <a:xfrm>
            <a:off x="6720840" y="4829146"/>
            <a:ext cx="2743200" cy="228600"/>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판정 · 점수 (잠정)</a:t>
            </a:r>
            <a:endParaRPr lang="en-US" sz="1150" dirty="0"/>
          </a:p>
        </p:txBody>
      </p:sp>
      <p:sp>
        <p:nvSpPr>
          <p:cNvPr id="52" name="Shape 50"/>
          <p:cNvSpPr/>
          <p:nvPr/>
        </p:nvSpPr>
        <p:spPr>
          <a:xfrm>
            <a:off x="6720840" y="5140042"/>
            <a:ext cx="1579778" cy="457200"/>
          </a:xfrm>
          <a:prstGeom prst="roundRect">
            <a:avLst>
              <a:gd name="adj" fmla="val 16000"/>
            </a:avLst>
          </a:prstGeom>
          <a:solidFill>
            <a:srgbClr val="121317"/>
          </a:solidFill>
          <a:ln w="12700">
            <a:solidFill>
              <a:srgbClr val="121317"/>
            </a:solidFill>
            <a:prstDash val="solid"/>
          </a:ln>
        </p:spPr>
        <p:txBody>
          <a:bodyPr/>
          <a:lstStyle/>
          <a:p>
            <a:endParaRPr lang="en-KR"/>
          </a:p>
        </p:txBody>
      </p:sp>
      <p:sp>
        <p:nvSpPr>
          <p:cNvPr id="53" name="Text 51"/>
          <p:cNvSpPr txBox="1"/>
          <p:nvPr/>
        </p:nvSpPr>
        <p:spPr>
          <a:xfrm>
            <a:off x="6812280" y="5140042"/>
            <a:ext cx="1396898" cy="457200"/>
          </a:xfrm>
          <a:prstGeom prst="rect">
            <a:avLst/>
          </a:prstGeom>
          <a:noFill/>
          <a:ln/>
        </p:spPr>
        <p:txBody>
          <a:bodyPr wrap="square" lIns="0" tIns="0" rIns="0" bIns="0" rtlCol="0" anchor="ct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PERFECT</a:t>
            </a:r>
            <a:endParaRPr lang="en-US" sz="1050" dirty="0"/>
          </a:p>
          <a:p>
            <a:pPr marL="0" indent="0">
              <a:buNone/>
            </a:pPr>
            <a:r>
              <a:rPr lang="en-US" sz="950" dirty="0">
                <a:solidFill>
                  <a:srgbClr val="B9BEC7"/>
                </a:solidFill>
                <a:latin typeface="Apple SD Gothic Neo" pitchFamily="34" charset="0"/>
                <a:ea typeface="Apple SD Gothic Neo" pitchFamily="34" charset="-122"/>
                <a:cs typeface="Apple SD Gothic Neo" pitchFamily="34" charset="-120"/>
              </a:rPr>
              <a:t>±35 ms</a:t>
            </a:r>
            <a:endParaRPr lang="en-US" sz="1050" dirty="0"/>
          </a:p>
        </p:txBody>
      </p:sp>
      <p:sp>
        <p:nvSpPr>
          <p:cNvPr id="54" name="Shape 52"/>
          <p:cNvSpPr/>
          <p:nvPr/>
        </p:nvSpPr>
        <p:spPr>
          <a:xfrm>
            <a:off x="8392058" y="5140042"/>
            <a:ext cx="1579778" cy="457200"/>
          </a:xfrm>
          <a:prstGeom prst="roundRect">
            <a:avLst>
              <a:gd name="adj" fmla="val 16000"/>
            </a:avLst>
          </a:prstGeom>
          <a:solidFill>
            <a:srgbClr val="F3F4F6"/>
          </a:solidFill>
          <a:ln w="12700">
            <a:solidFill>
              <a:srgbClr val="F3F4F6"/>
            </a:solidFill>
            <a:prstDash val="solid"/>
          </a:ln>
        </p:spPr>
        <p:txBody>
          <a:bodyPr/>
          <a:lstStyle/>
          <a:p>
            <a:endParaRPr lang="en-KR"/>
          </a:p>
        </p:txBody>
      </p:sp>
      <p:sp>
        <p:nvSpPr>
          <p:cNvPr id="55" name="Text 53"/>
          <p:cNvSpPr txBox="1"/>
          <p:nvPr/>
        </p:nvSpPr>
        <p:spPr>
          <a:xfrm>
            <a:off x="8483498" y="5140042"/>
            <a:ext cx="1396898"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GREAT</a:t>
            </a:r>
            <a:endParaRPr lang="en-US" sz="1050" dirty="0"/>
          </a:p>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±70 ms</a:t>
            </a:r>
            <a:endParaRPr lang="en-US" sz="1050" dirty="0"/>
          </a:p>
        </p:txBody>
      </p:sp>
      <p:sp>
        <p:nvSpPr>
          <p:cNvPr id="56" name="Shape 54"/>
          <p:cNvSpPr/>
          <p:nvPr/>
        </p:nvSpPr>
        <p:spPr>
          <a:xfrm>
            <a:off x="10063277" y="5140042"/>
            <a:ext cx="1579778" cy="457200"/>
          </a:xfrm>
          <a:prstGeom prst="roundRect">
            <a:avLst>
              <a:gd name="adj" fmla="val 16000"/>
            </a:avLst>
          </a:prstGeom>
          <a:solidFill>
            <a:srgbClr val="F3F4F6"/>
          </a:solidFill>
          <a:ln w="12700">
            <a:solidFill>
              <a:srgbClr val="F3F4F6"/>
            </a:solidFill>
            <a:prstDash val="solid"/>
          </a:ln>
        </p:spPr>
        <p:txBody>
          <a:bodyPr/>
          <a:lstStyle/>
          <a:p>
            <a:endParaRPr lang="en-KR"/>
          </a:p>
        </p:txBody>
      </p:sp>
      <p:sp>
        <p:nvSpPr>
          <p:cNvPr id="57" name="Text 55"/>
          <p:cNvSpPr txBox="1"/>
          <p:nvPr/>
        </p:nvSpPr>
        <p:spPr>
          <a:xfrm>
            <a:off x="10154717" y="5140042"/>
            <a:ext cx="1396898"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GOOD</a:t>
            </a:r>
            <a:endParaRPr lang="en-US" sz="1050" dirty="0"/>
          </a:p>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±110 ms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16</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센서 — </a:t>
            </a:r>
            <a:r>
              <a:rPr lang="en-US" sz="2800" b="1" dirty="0" err="1">
                <a:solidFill>
                  <a:srgbClr val="16181D"/>
                </a:solidFill>
                <a:latin typeface="Apple SD Gothic Neo" pitchFamily="34" charset="0"/>
                <a:ea typeface="Apple SD Gothic Neo" pitchFamily="34" charset="-122"/>
                <a:cs typeface="Apple SD Gothic Neo" pitchFamily="34" charset="-120"/>
              </a:rPr>
              <a:t>누름을</a:t>
            </a:r>
            <a:r>
              <a:rPr lang="en-US" sz="2800" b="1" dirty="0">
                <a:solidFill>
                  <a:srgbClr val="16181D"/>
                </a:solidFill>
                <a:latin typeface="Apple SD Gothic Neo" pitchFamily="34" charset="0"/>
                <a:ea typeface="Apple SD Gothic Neo" pitchFamily="34" charset="-122"/>
                <a:cs typeface="Apple SD Gothic Neo" pitchFamily="34" charset="-120"/>
              </a:rPr>
              <a:t> </a:t>
            </a:r>
            <a:r>
              <a:rPr lang="ko-KR" altLang="en-US" sz="2800" b="1" dirty="0">
                <a:solidFill>
                  <a:srgbClr val="16181D"/>
                </a:solidFill>
                <a:latin typeface="Apple SD Gothic Neo" pitchFamily="34" charset="0"/>
                <a:ea typeface="Apple SD Gothic Neo" pitchFamily="34" charset="-122"/>
                <a:cs typeface="Apple SD Gothic Neo" pitchFamily="34" charset="-120"/>
              </a:rPr>
              <a:t>확인하는 핵심</a:t>
            </a:r>
            <a:r>
              <a:rPr lang="en-US" sz="2800" b="1" dirty="0">
                <a:solidFill>
                  <a:srgbClr val="16181D"/>
                </a:solidFill>
                <a:latin typeface="Apple SD Gothic Neo" pitchFamily="34" charset="0"/>
                <a:ea typeface="Apple SD Gothic Neo" pitchFamily="34" charset="-122"/>
                <a:cs typeface="Apple SD Gothic Neo" pitchFamily="34" charset="-120"/>
              </a:rPr>
              <a:t> 4가지 부품</a:t>
            </a:r>
            <a:endParaRPr lang="en-US" sz="2800" dirty="0"/>
          </a:p>
        </p:txBody>
      </p:sp>
      <p:sp>
        <p:nvSpPr>
          <p:cNvPr id="7" name="Shape 5"/>
          <p:cNvSpPr/>
          <p:nvPr/>
        </p:nvSpPr>
        <p:spPr>
          <a:xfrm>
            <a:off x="548640"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8" name="Image 0" descr="/private/tmp/claude-501/-Users-kwg-Desktop-mydrive-project-Toccata/78323d34-2a2b-4f50-ae4c-82ce3905c7c6/scratchpad/ppt4/assets/p_L20.jpg"/>
          <p:cNvPicPr>
            <a:picLocks noChangeAspect="1"/>
          </p:cNvPicPr>
          <p:nvPr/>
        </p:nvPicPr>
        <p:blipFill>
          <a:blip r:embed="rId3"/>
          <a:stretch>
            <a:fillRect/>
          </a:stretch>
        </p:blipFill>
        <p:spPr>
          <a:xfrm>
            <a:off x="1146772" y="1737360"/>
            <a:ext cx="1371600" cy="1371600"/>
          </a:xfrm>
          <a:prstGeom prst="rect">
            <a:avLst/>
          </a:prstGeom>
        </p:spPr>
      </p:pic>
      <p:sp>
        <p:nvSpPr>
          <p:cNvPr id="9" name="Text 6"/>
          <p:cNvSpPr txBox="1"/>
          <p:nvPr/>
        </p:nvSpPr>
        <p:spPr>
          <a:xfrm>
            <a:off x="749808"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홀센서</a:t>
            </a:r>
            <a:endParaRPr lang="en-US" sz="1150" dirty="0"/>
          </a:p>
        </p:txBody>
      </p:sp>
      <p:sp>
        <p:nvSpPr>
          <p:cNvPr id="10" name="Text 7"/>
          <p:cNvSpPr txBox="1"/>
          <p:nvPr/>
        </p:nvSpPr>
        <p:spPr>
          <a:xfrm>
            <a:off x="749808"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TI DRV5055A2</a:t>
            </a:r>
            <a:endParaRPr lang="en-US" sz="1500" dirty="0"/>
          </a:p>
        </p:txBody>
      </p:sp>
      <p:sp>
        <p:nvSpPr>
          <p:cNvPr id="11" name="Text 8"/>
          <p:cNvSpPr txBox="1"/>
          <p:nvPr/>
        </p:nvSpPr>
        <p:spPr>
          <a:xfrm>
            <a:off x="749808"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선형 홀센서: 자기장 → 전압</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3.3 V · 30 mV/mT · ±44 mT</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온도 보상, 건반마다 1개</a:t>
            </a:r>
            <a:endParaRPr lang="en-US" sz="1150" dirty="0"/>
          </a:p>
        </p:txBody>
      </p:sp>
      <p:sp>
        <p:nvSpPr>
          <p:cNvPr id="12" name="Text 9"/>
          <p:cNvSpPr txBox="1"/>
          <p:nvPr/>
        </p:nvSpPr>
        <p:spPr>
          <a:xfrm>
            <a:off x="749808"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100개 구매 · 개당 891원</a:t>
            </a:r>
            <a:endParaRPr lang="en-US" sz="1100" dirty="0"/>
          </a:p>
        </p:txBody>
      </p:sp>
      <p:sp>
        <p:nvSpPr>
          <p:cNvPr id="13" name="Shape 10"/>
          <p:cNvSpPr/>
          <p:nvPr/>
        </p:nvSpPr>
        <p:spPr>
          <a:xfrm>
            <a:off x="3390824"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14" name="Image 1" descr="/private/tmp/claude-501/-Users-kwg-Desktop-mydrive-project-Toccata/78323d34-2a2b-4f50-ae4c-82ce3905c7c6/scratchpad/ppt4/assets/p_L21.jpg"/>
          <p:cNvPicPr>
            <a:picLocks noChangeAspect="1"/>
          </p:cNvPicPr>
          <p:nvPr/>
        </p:nvPicPr>
        <p:blipFill>
          <a:blip r:embed="rId4"/>
          <a:stretch>
            <a:fillRect/>
          </a:stretch>
        </p:blipFill>
        <p:spPr>
          <a:xfrm>
            <a:off x="3988956" y="1737360"/>
            <a:ext cx="1371600" cy="1371600"/>
          </a:xfrm>
          <a:prstGeom prst="rect">
            <a:avLst/>
          </a:prstGeom>
        </p:spPr>
      </p:pic>
      <p:sp>
        <p:nvSpPr>
          <p:cNvPr id="15" name="Text 11"/>
          <p:cNvSpPr txBox="1"/>
          <p:nvPr/>
        </p:nvSpPr>
        <p:spPr>
          <a:xfrm>
            <a:off x="3591992"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자석</a:t>
            </a:r>
            <a:endParaRPr lang="en-US" sz="1150" dirty="0"/>
          </a:p>
        </p:txBody>
      </p:sp>
      <p:sp>
        <p:nvSpPr>
          <p:cNvPr id="16" name="Text 12"/>
          <p:cNvSpPr txBox="1"/>
          <p:nvPr/>
        </p:nvSpPr>
        <p:spPr>
          <a:xfrm>
            <a:off x="3591992"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네오디뮴 Ø5 × 2 mm N35</a:t>
            </a:r>
            <a:endParaRPr lang="en-US" sz="1500" dirty="0"/>
          </a:p>
        </p:txBody>
      </p:sp>
      <p:sp>
        <p:nvSpPr>
          <p:cNvPr id="17" name="Text 13"/>
          <p:cNvSpPr txBox="1"/>
          <p:nvPr/>
        </p:nvSpPr>
        <p:spPr>
          <a:xfrm>
            <a:off x="3591992"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건반 밑면 포켓에 1개씩</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누르면 센서 쪽으로 다가감</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페달에도 1개</a:t>
            </a:r>
            <a:endParaRPr lang="en-US" sz="1150" dirty="0"/>
          </a:p>
        </p:txBody>
      </p:sp>
      <p:sp>
        <p:nvSpPr>
          <p:cNvPr id="18" name="Text 14"/>
          <p:cNvSpPr txBox="1"/>
          <p:nvPr/>
        </p:nvSpPr>
        <p:spPr>
          <a:xfrm>
            <a:off x="3591992"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89개 구매 · 개당 80원</a:t>
            </a:r>
            <a:endParaRPr lang="en-US" sz="1100" dirty="0"/>
          </a:p>
        </p:txBody>
      </p:sp>
      <p:sp>
        <p:nvSpPr>
          <p:cNvPr id="19" name="Shape 15"/>
          <p:cNvSpPr/>
          <p:nvPr/>
        </p:nvSpPr>
        <p:spPr>
          <a:xfrm>
            <a:off x="6233008"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20" name="Image 2" descr="/private/tmp/claude-501/-Users-kwg-Desktop-mydrive-project-Toccata/78323d34-2a2b-4f50-ae4c-82ce3905c7c6/scratchpad/ppt4/assets/p_L18.jpg"/>
          <p:cNvPicPr>
            <a:picLocks noChangeAspect="1"/>
          </p:cNvPicPr>
          <p:nvPr/>
        </p:nvPicPr>
        <p:blipFill>
          <a:blip r:embed="rId5"/>
          <a:stretch>
            <a:fillRect/>
          </a:stretch>
        </p:blipFill>
        <p:spPr>
          <a:xfrm>
            <a:off x="6831140" y="1737360"/>
            <a:ext cx="1371600" cy="1371600"/>
          </a:xfrm>
          <a:prstGeom prst="rect">
            <a:avLst/>
          </a:prstGeom>
        </p:spPr>
      </p:pic>
      <p:sp>
        <p:nvSpPr>
          <p:cNvPr id="21" name="Text 16"/>
          <p:cNvSpPr txBox="1"/>
          <p:nvPr/>
        </p:nvSpPr>
        <p:spPr>
          <a:xfrm>
            <a:off x="6434176"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마이크로컨트롤러</a:t>
            </a:r>
            <a:endParaRPr lang="en-US" sz="1150" dirty="0"/>
          </a:p>
        </p:txBody>
      </p:sp>
      <p:sp>
        <p:nvSpPr>
          <p:cNvPr id="22" name="Text 17"/>
          <p:cNvSpPr txBox="1"/>
          <p:nvPr/>
        </p:nvSpPr>
        <p:spPr>
          <a:xfrm>
            <a:off x="6434176"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RP2040-Zero</a:t>
            </a:r>
            <a:endParaRPr lang="en-US" sz="1500" dirty="0"/>
          </a:p>
        </p:txBody>
      </p:sp>
      <p:sp>
        <p:nvSpPr>
          <p:cNvPr id="23" name="Text 18"/>
          <p:cNvSpPr txBox="1"/>
          <p:nvPr/>
        </p:nvSpPr>
        <p:spPr>
          <a:xfrm>
            <a:off x="6434176"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ADC로 센서 전압 읽기</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세기 계산 + USB-MIDI 전송</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 7 + 페달 1</a:t>
            </a:r>
            <a:endParaRPr lang="en-US" sz="1150" dirty="0"/>
          </a:p>
        </p:txBody>
      </p:sp>
      <p:sp>
        <p:nvSpPr>
          <p:cNvPr id="24" name="Text 19"/>
          <p:cNvSpPr txBox="1"/>
          <p:nvPr/>
        </p:nvSpPr>
        <p:spPr>
          <a:xfrm>
            <a:off x="6434176"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8개 · 개당 3,300원</a:t>
            </a:r>
            <a:endParaRPr lang="en-US" sz="1100" dirty="0"/>
          </a:p>
        </p:txBody>
      </p:sp>
      <p:sp>
        <p:nvSpPr>
          <p:cNvPr id="25" name="Shape 20"/>
          <p:cNvSpPr/>
          <p:nvPr/>
        </p:nvSpPr>
        <p:spPr>
          <a:xfrm>
            <a:off x="9075191"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26" name="Image 3" descr="/private/tmp/claude-501/-Users-kwg-Desktop-mydrive-project-Toccata/78323d34-2a2b-4f50-ae4c-82ce3905c7c6/scratchpad/ppt4/assets/p_L19.jpg"/>
          <p:cNvPicPr>
            <a:picLocks noChangeAspect="1"/>
          </p:cNvPicPr>
          <p:nvPr/>
        </p:nvPicPr>
        <p:blipFill>
          <a:blip r:embed="rId6"/>
          <a:stretch>
            <a:fillRect/>
          </a:stretch>
        </p:blipFill>
        <p:spPr>
          <a:xfrm>
            <a:off x="9673323" y="1737360"/>
            <a:ext cx="1371600" cy="1371600"/>
          </a:xfrm>
          <a:prstGeom prst="rect">
            <a:avLst/>
          </a:prstGeom>
        </p:spPr>
      </p:pic>
      <p:sp>
        <p:nvSpPr>
          <p:cNvPr id="27" name="Text 21"/>
          <p:cNvSpPr txBox="1"/>
          <p:nvPr/>
        </p:nvSpPr>
        <p:spPr>
          <a:xfrm>
            <a:off x="9276359"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멀티플렉서</a:t>
            </a:r>
            <a:endParaRPr lang="en-US" sz="1150" dirty="0"/>
          </a:p>
        </p:txBody>
      </p:sp>
      <p:sp>
        <p:nvSpPr>
          <p:cNvPr id="28" name="Text 22"/>
          <p:cNvSpPr txBox="1"/>
          <p:nvPr/>
        </p:nvSpPr>
        <p:spPr>
          <a:xfrm>
            <a:off x="9276359"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CD74HC4067 16채널</a:t>
            </a:r>
            <a:endParaRPr lang="en-US" sz="1500" dirty="0"/>
          </a:p>
        </p:txBody>
      </p:sp>
      <p:sp>
        <p:nvSpPr>
          <p:cNvPr id="29" name="Text 23"/>
          <p:cNvSpPr txBox="1"/>
          <p:nvPr/>
        </p:nvSpPr>
        <p:spPr>
          <a:xfrm>
            <a:off x="9276359"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센서 12 + 끝 부속 4를</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 1개로 차례로 읽게 함</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모듈마다 1개</a:t>
            </a:r>
            <a:endParaRPr lang="en-US" sz="1150" dirty="0"/>
          </a:p>
        </p:txBody>
      </p:sp>
      <p:sp>
        <p:nvSpPr>
          <p:cNvPr id="30" name="Text 24"/>
          <p:cNvSpPr txBox="1"/>
          <p:nvPr/>
        </p:nvSpPr>
        <p:spPr>
          <a:xfrm>
            <a:off x="9276359"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7개 · 개당 500원</a:t>
            </a:r>
            <a:endParaRPr lang="en-US" sz="1100" dirty="0"/>
          </a:p>
        </p:txBody>
      </p:sp>
      <p:sp>
        <p:nvSpPr>
          <p:cNvPr id="31" name="Shape 25"/>
          <p:cNvSpPr/>
          <p:nvPr/>
        </p:nvSpPr>
        <p:spPr>
          <a:xfrm>
            <a:off x="548640" y="5669280"/>
            <a:ext cx="11094415" cy="658368"/>
          </a:xfrm>
          <a:prstGeom prst="roundRect">
            <a:avLst>
              <a:gd name="adj" fmla="val 11111"/>
            </a:avLst>
          </a:prstGeom>
          <a:solidFill>
            <a:srgbClr val="F3F4F6"/>
          </a:solidFill>
          <a:ln w="12700">
            <a:solidFill>
              <a:srgbClr val="F3F4F6"/>
            </a:solidFill>
            <a:prstDash val="solid"/>
          </a:ln>
        </p:spPr>
        <p:txBody>
          <a:bodyPr/>
          <a:lstStyle/>
          <a:p>
            <a:endParaRPr lang="en-KR"/>
          </a:p>
        </p:txBody>
      </p:sp>
      <p:sp>
        <p:nvSpPr>
          <p:cNvPr id="32" name="Text 26"/>
          <p:cNvSpPr txBox="1"/>
          <p:nvPr/>
        </p:nvSpPr>
        <p:spPr>
          <a:xfrm>
            <a:off x="777240" y="5669280"/>
            <a:ext cx="10637215" cy="658368"/>
          </a:xfrm>
          <a:prstGeom prst="rect">
            <a:avLst/>
          </a:prstGeom>
          <a:noFill/>
          <a:ln/>
        </p:spPr>
        <p:txBody>
          <a:bodyPr wrap="square" lIns="0" tIns="0" rIns="0" bIns="0" rtlCol="0" anchor="ctr"/>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왜 홀센서인가  </a:t>
            </a:r>
            <a:r>
              <a:rPr lang="en-US" sz="1300" dirty="0">
                <a:solidFill>
                  <a:srgbClr val="444A54"/>
                </a:solidFill>
                <a:latin typeface="Apple SD Gothic Neo" pitchFamily="34" charset="0"/>
                <a:ea typeface="Apple SD Gothic Neo" pitchFamily="34" charset="-122"/>
                <a:cs typeface="Apple SD Gothic Neo" pitchFamily="34" charset="-120"/>
              </a:rPr>
              <a:t>닿지 않고 재서 마모가 없고, 주변 빛이나 색의 영향을 받지 않으며, 건반 </a:t>
            </a:r>
            <a:r>
              <a:rPr lang="en-US" sz="1300" dirty="0" err="1">
                <a:solidFill>
                  <a:srgbClr val="444A54"/>
                </a:solidFill>
                <a:latin typeface="Apple SD Gothic Neo" pitchFamily="34" charset="0"/>
                <a:ea typeface="Apple SD Gothic Neo" pitchFamily="34" charset="-122"/>
                <a:cs typeface="Apple SD Gothic Neo" pitchFamily="34" charset="-120"/>
              </a:rPr>
              <a:t>위치를</a:t>
            </a:r>
            <a:r>
              <a:rPr lang="en-US" sz="1300" dirty="0">
                <a:solidFill>
                  <a:srgbClr val="444A54"/>
                </a:solidFill>
                <a:latin typeface="Apple SD Gothic Neo" pitchFamily="34" charset="0"/>
                <a:ea typeface="Apple SD Gothic Neo" pitchFamily="34" charset="-122"/>
                <a:cs typeface="Apple SD Gothic Neo" pitchFamily="34" charset="-120"/>
              </a:rPr>
              <a:t> </a:t>
            </a:r>
            <a:r>
              <a:rPr lang="en-US" sz="1300" dirty="0" err="1">
                <a:solidFill>
                  <a:srgbClr val="444A54"/>
                </a:solidFill>
                <a:latin typeface="Apple SD Gothic Neo" pitchFamily="34" charset="0"/>
                <a:ea typeface="Apple SD Gothic Neo" pitchFamily="34" charset="-122"/>
                <a:cs typeface="Apple SD Gothic Neo" pitchFamily="34" charset="-120"/>
              </a:rPr>
              <a:t>연속으로</a:t>
            </a:r>
            <a:r>
              <a:rPr lang="en-US" sz="1300" dirty="0">
                <a:solidFill>
                  <a:srgbClr val="444A54"/>
                </a:solidFill>
                <a:latin typeface="Apple SD Gothic Neo" pitchFamily="34" charset="0"/>
                <a:ea typeface="Apple SD Gothic Neo" pitchFamily="34" charset="-122"/>
                <a:cs typeface="Apple SD Gothic Neo" pitchFamily="34" charset="-120"/>
              </a:rPr>
              <a:t> 재서 세기를 계산할 수 있다.</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17</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부품 — 건반 </a:t>
            </a:r>
            <a:r>
              <a:rPr lang="en-US" sz="2800" b="1" dirty="0" err="1">
                <a:solidFill>
                  <a:srgbClr val="16181D"/>
                </a:solidFill>
                <a:latin typeface="Apple SD Gothic Neo" pitchFamily="34" charset="0"/>
                <a:ea typeface="Apple SD Gothic Neo" pitchFamily="34" charset="-122"/>
                <a:cs typeface="Apple SD Gothic Neo" pitchFamily="34" charset="-120"/>
              </a:rPr>
              <a:t>액션</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altLang="ko-KR" sz="2800" b="1" dirty="0">
                <a:solidFill>
                  <a:srgbClr val="16181D"/>
                </a:solidFill>
                <a:latin typeface="Apple SD Gothic Neo" pitchFamily="34" charset="0"/>
                <a:ea typeface="Apple SD Gothic Neo" pitchFamily="34" charset="-122"/>
                <a:cs typeface="Apple SD Gothic Neo" pitchFamily="34" charset="-120"/>
              </a:rPr>
              <a:t>(</a:t>
            </a:r>
            <a:r>
              <a:rPr lang="en-US" sz="2800" b="1" dirty="0" err="1">
                <a:solidFill>
                  <a:srgbClr val="16181D"/>
                </a:solidFill>
                <a:latin typeface="Apple SD Gothic Neo" pitchFamily="34" charset="0"/>
                <a:ea typeface="Apple SD Gothic Neo" pitchFamily="34" charset="-122"/>
                <a:cs typeface="Apple SD Gothic Neo" pitchFamily="34" charset="-120"/>
              </a:rPr>
              <a:t>시소</a:t>
            </a:r>
            <a:r>
              <a:rPr lang="en-US" sz="2800" b="1" dirty="0">
                <a:solidFill>
                  <a:srgbClr val="16181D"/>
                </a:solidFill>
                <a:latin typeface="Apple SD Gothic Neo" pitchFamily="34" charset="0"/>
                <a:ea typeface="Apple SD Gothic Neo" pitchFamily="34" charset="-122"/>
                <a:cs typeface="Apple SD Gothic Neo" pitchFamily="34" charset="-120"/>
              </a:rPr>
              <a:t> 건반 + 무게 레버)</a:t>
            </a:r>
            <a:endParaRPr lang="en-US" sz="2800" dirty="0"/>
          </a:p>
        </p:txBody>
      </p:sp>
      <p:sp>
        <p:nvSpPr>
          <p:cNvPr id="7" name="Shape 5"/>
          <p:cNvSpPr/>
          <p:nvPr/>
        </p:nvSpPr>
        <p:spPr>
          <a:xfrm>
            <a:off x="548640" y="1463040"/>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8" name="Image 0" descr="/private/tmp/claude-501/-Users-kwg-Desktop-mydrive-project-Toccata/78323d34-2a2b-4f50-ae4c-82ce3905c7c6/scratchpad/ppt4/assets/w_weight.jpg"/>
          <p:cNvPicPr>
            <a:picLocks noChangeAspect="1"/>
          </p:cNvPicPr>
          <p:nvPr/>
        </p:nvPicPr>
        <p:blipFill>
          <a:blip r:embed="rId3"/>
          <a:stretch>
            <a:fillRect/>
          </a:stretch>
        </p:blipFill>
        <p:spPr>
          <a:xfrm>
            <a:off x="731520" y="1783080"/>
            <a:ext cx="1325880" cy="1325880"/>
          </a:xfrm>
          <a:prstGeom prst="rect">
            <a:avLst/>
          </a:prstGeom>
        </p:spPr>
      </p:pic>
      <p:sp>
        <p:nvSpPr>
          <p:cNvPr id="9" name="Text 6"/>
          <p:cNvSpPr txBox="1"/>
          <p:nvPr/>
        </p:nvSpPr>
        <p:spPr>
          <a:xfrm>
            <a:off x="2194560" y="1737360"/>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34,440원</a:t>
            </a:r>
            <a:endParaRPr lang="en-US" sz="1600" dirty="0"/>
          </a:p>
        </p:txBody>
      </p:sp>
      <p:sp>
        <p:nvSpPr>
          <p:cNvPr id="10" name="Text 7"/>
          <p:cNvSpPr txBox="1"/>
          <p:nvPr/>
        </p:nvSpPr>
        <p:spPr>
          <a:xfrm>
            <a:off x="2194560" y="2194560"/>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강철 평철 9T×19, 4 m</a:t>
            </a:r>
            <a:endParaRPr lang="en-US" sz="1350" dirty="0"/>
          </a:p>
        </p:txBody>
      </p:sp>
      <p:sp>
        <p:nvSpPr>
          <p:cNvPr id="11" name="Text 8"/>
          <p:cNvSpPr txBox="1"/>
          <p:nvPr/>
        </p:nvSpPr>
        <p:spPr>
          <a:xfrm>
            <a:off x="2194560" y="2743200"/>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40 mm씩 잘라 추 90개</a:t>
            </a:r>
            <a:endParaRPr lang="en-US" sz="1150" dirty="0"/>
          </a:p>
        </p:txBody>
      </p:sp>
      <p:sp>
        <p:nvSpPr>
          <p:cNvPr id="12" name="Shape 9"/>
          <p:cNvSpPr/>
          <p:nvPr/>
        </p:nvSpPr>
        <p:spPr>
          <a:xfrm>
            <a:off x="4338218" y="1463040"/>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13" name="Image 1" descr="/private/tmp/claude-501/-Users-kwg-Desktop-mydrive-project-Toccata/78323d34-2a2b-4f50-ae4c-82ce3905c7c6/scratchpad/ppt4/assets/w_rod.jpg"/>
          <p:cNvPicPr>
            <a:picLocks noChangeAspect="1"/>
          </p:cNvPicPr>
          <p:nvPr/>
        </p:nvPicPr>
        <p:blipFill>
          <a:blip r:embed="rId4"/>
          <a:stretch>
            <a:fillRect/>
          </a:stretch>
        </p:blipFill>
        <p:spPr>
          <a:xfrm>
            <a:off x="4521098" y="1783080"/>
            <a:ext cx="1325880" cy="1325880"/>
          </a:xfrm>
          <a:prstGeom prst="rect">
            <a:avLst/>
          </a:prstGeom>
        </p:spPr>
      </p:pic>
      <p:sp>
        <p:nvSpPr>
          <p:cNvPr id="14" name="Text 10"/>
          <p:cNvSpPr txBox="1"/>
          <p:nvPr/>
        </p:nvSpPr>
        <p:spPr>
          <a:xfrm>
            <a:off x="5984138" y="1737360"/>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6,000원</a:t>
            </a:r>
            <a:endParaRPr lang="en-US" sz="1600" dirty="0"/>
          </a:p>
        </p:txBody>
      </p:sp>
      <p:sp>
        <p:nvSpPr>
          <p:cNvPr id="15" name="Text 11"/>
          <p:cNvSpPr txBox="1"/>
          <p:nvPr/>
        </p:nvSpPr>
        <p:spPr>
          <a:xfrm>
            <a:off x="5984138" y="2194560"/>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스테인리스 봉 Ø4, 4 m</a:t>
            </a:r>
            <a:endParaRPr lang="en-US" sz="1350" dirty="0"/>
          </a:p>
        </p:txBody>
      </p:sp>
      <p:sp>
        <p:nvSpPr>
          <p:cNvPr id="16" name="Text 12"/>
          <p:cNvSpPr txBox="1"/>
          <p:nvPr/>
        </p:nvSpPr>
        <p:spPr>
          <a:xfrm>
            <a:off x="5984138" y="2743200"/>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 레버 봉 20토막</a:t>
            </a:r>
            <a:endParaRPr lang="en-US" sz="1150" dirty="0"/>
          </a:p>
        </p:txBody>
      </p:sp>
      <p:sp>
        <p:nvSpPr>
          <p:cNvPr id="17" name="Shape 13"/>
          <p:cNvSpPr/>
          <p:nvPr/>
        </p:nvSpPr>
        <p:spPr>
          <a:xfrm>
            <a:off x="8127797" y="1463040"/>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18" name="Image 2" descr="/private/tmp/claude-501/-Users-kwg-Desktop-mydrive-project-Toccata/78323d34-2a2b-4f50-ae4c-82ce3905c7c6/scratchpad/ppt4/assets/w_capstan.jpg"/>
          <p:cNvPicPr>
            <a:picLocks noChangeAspect="1"/>
          </p:cNvPicPr>
          <p:nvPr/>
        </p:nvPicPr>
        <p:blipFill>
          <a:blip r:embed="rId5"/>
          <a:stretch>
            <a:fillRect/>
          </a:stretch>
        </p:blipFill>
        <p:spPr>
          <a:xfrm>
            <a:off x="8310677" y="1783080"/>
            <a:ext cx="1325880" cy="1325880"/>
          </a:xfrm>
          <a:prstGeom prst="rect">
            <a:avLst/>
          </a:prstGeom>
        </p:spPr>
      </p:pic>
      <p:sp>
        <p:nvSpPr>
          <p:cNvPr id="19" name="Text 14"/>
          <p:cNvSpPr txBox="1"/>
          <p:nvPr/>
        </p:nvSpPr>
        <p:spPr>
          <a:xfrm>
            <a:off x="9773717" y="1737360"/>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1,100원</a:t>
            </a:r>
            <a:endParaRPr lang="en-US" sz="1600" dirty="0"/>
          </a:p>
        </p:txBody>
      </p:sp>
      <p:sp>
        <p:nvSpPr>
          <p:cNvPr id="20" name="Text 15"/>
          <p:cNvSpPr txBox="1"/>
          <p:nvPr/>
        </p:nvSpPr>
        <p:spPr>
          <a:xfrm>
            <a:off x="9773717" y="2194560"/>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캡스턴 나사 M3×6</a:t>
            </a:r>
            <a:endParaRPr lang="en-US" sz="1350" dirty="0"/>
          </a:p>
        </p:txBody>
      </p:sp>
      <p:sp>
        <p:nvSpPr>
          <p:cNvPr id="21" name="Text 16"/>
          <p:cNvSpPr txBox="1"/>
          <p:nvPr/>
        </p:nvSpPr>
        <p:spPr>
          <a:xfrm>
            <a:off x="9773717" y="2743200"/>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레버를 들어 올리고 높이 조정 (100개)</a:t>
            </a:r>
            <a:endParaRPr lang="en-US" sz="1150" dirty="0"/>
          </a:p>
        </p:txBody>
      </p:sp>
      <p:sp>
        <p:nvSpPr>
          <p:cNvPr id="22" name="Shape 17"/>
          <p:cNvSpPr/>
          <p:nvPr/>
        </p:nvSpPr>
        <p:spPr>
          <a:xfrm>
            <a:off x="548640" y="3675888"/>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23" name="Image 3" descr="/private/tmp/claude-501/-Users-kwg-Desktop-mydrive-project-Toccata/78323d34-2a2b-4f50-ae4c-82ce3905c7c6/scratchpad/ppt4/assets/w_pins.jpg"/>
          <p:cNvPicPr>
            <a:picLocks noChangeAspect="1"/>
          </p:cNvPicPr>
          <p:nvPr/>
        </p:nvPicPr>
        <p:blipFill>
          <a:blip r:embed="rId6"/>
          <a:stretch>
            <a:fillRect/>
          </a:stretch>
        </p:blipFill>
        <p:spPr>
          <a:xfrm>
            <a:off x="731520" y="3995928"/>
            <a:ext cx="1325880" cy="1325880"/>
          </a:xfrm>
          <a:prstGeom prst="rect">
            <a:avLst/>
          </a:prstGeom>
        </p:spPr>
      </p:pic>
      <p:sp>
        <p:nvSpPr>
          <p:cNvPr id="24" name="Text 18"/>
          <p:cNvSpPr txBox="1"/>
          <p:nvPr/>
        </p:nvSpPr>
        <p:spPr>
          <a:xfrm>
            <a:off x="2194560" y="3950208"/>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16,600원</a:t>
            </a:r>
            <a:endParaRPr lang="en-US" sz="1600" dirty="0"/>
          </a:p>
        </p:txBody>
      </p:sp>
      <p:sp>
        <p:nvSpPr>
          <p:cNvPr id="25" name="Text 19"/>
          <p:cNvSpPr txBox="1"/>
          <p:nvPr/>
        </p:nvSpPr>
        <p:spPr>
          <a:xfrm>
            <a:off x="2194560" y="4407408"/>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밸런스 핀 Ø2×12</a:t>
            </a:r>
            <a:endParaRPr lang="en-US" sz="1350" dirty="0"/>
          </a:p>
        </p:txBody>
      </p:sp>
      <p:sp>
        <p:nvSpPr>
          <p:cNvPr id="26" name="Text 20"/>
          <p:cNvSpPr txBox="1"/>
          <p:nvPr/>
        </p:nvSpPr>
        <p:spPr>
          <a:xfrm>
            <a:off x="2194560" y="4956048"/>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뒤쪽 좌우 위치 잡기 (100개)</a:t>
            </a:r>
            <a:endParaRPr lang="en-US" sz="1150" dirty="0"/>
          </a:p>
        </p:txBody>
      </p:sp>
      <p:sp>
        <p:nvSpPr>
          <p:cNvPr id="27" name="Shape 21"/>
          <p:cNvSpPr/>
          <p:nvPr/>
        </p:nvSpPr>
        <p:spPr>
          <a:xfrm>
            <a:off x="4338218" y="3675888"/>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28" name="Image 4" descr="/private/tmp/claude-501/-Users-kwg-Desktop-mydrive-project-Toccata/78323d34-2a2b-4f50-ae4c-82ce3905c7c6/scratchpad/ppt4/assets/w_tspring.jpg"/>
          <p:cNvPicPr>
            <a:picLocks noChangeAspect="1"/>
          </p:cNvPicPr>
          <p:nvPr/>
        </p:nvPicPr>
        <p:blipFill>
          <a:blip r:embed="rId7"/>
          <a:stretch>
            <a:fillRect/>
          </a:stretch>
        </p:blipFill>
        <p:spPr>
          <a:xfrm>
            <a:off x="4521098" y="3995928"/>
            <a:ext cx="1325880" cy="1325880"/>
          </a:xfrm>
          <a:prstGeom prst="rect">
            <a:avLst/>
          </a:prstGeom>
        </p:spPr>
      </p:pic>
      <p:sp>
        <p:nvSpPr>
          <p:cNvPr id="29" name="Text 22"/>
          <p:cNvSpPr txBox="1"/>
          <p:nvPr/>
        </p:nvSpPr>
        <p:spPr>
          <a:xfrm>
            <a:off x="5984138" y="3950208"/>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31,000원</a:t>
            </a:r>
            <a:endParaRPr lang="en-US" sz="1600" dirty="0"/>
          </a:p>
        </p:txBody>
      </p:sp>
      <p:sp>
        <p:nvSpPr>
          <p:cNvPr id="30" name="Text 23"/>
          <p:cNvSpPr txBox="1"/>
          <p:nvPr/>
        </p:nvSpPr>
        <p:spPr>
          <a:xfrm>
            <a:off x="5984138" y="4407408"/>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미스미 토션 스프링</a:t>
            </a:r>
            <a:endParaRPr lang="en-US" sz="1350" dirty="0"/>
          </a:p>
        </p:txBody>
      </p:sp>
      <p:sp>
        <p:nvSpPr>
          <p:cNvPr id="31" name="Text 24"/>
          <p:cNvSpPr txBox="1"/>
          <p:nvPr/>
        </p:nvSpPr>
        <p:spPr>
          <a:xfrm>
            <a:off x="5984138" y="4956048"/>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C-UA90R5-3-0.5 100개, 다리 잘라 씀</a:t>
            </a:r>
            <a:endParaRPr lang="en-US" sz="1150" dirty="0"/>
          </a:p>
        </p:txBody>
      </p:sp>
      <p:sp>
        <p:nvSpPr>
          <p:cNvPr id="32" name="Shape 25"/>
          <p:cNvSpPr/>
          <p:nvPr/>
        </p:nvSpPr>
        <p:spPr>
          <a:xfrm>
            <a:off x="8127797" y="3675888"/>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33" name="Image 5" descr="/private/tmp/claude-501/-Users-kwg-Desktop-mydrive-project-Toccata/78323d34-2a2b-4f50-ae4c-82ce3905c7c6/scratchpad/ppt4/assets/w_pu.jpg"/>
          <p:cNvPicPr>
            <a:picLocks noChangeAspect="1"/>
          </p:cNvPicPr>
          <p:nvPr/>
        </p:nvPicPr>
        <p:blipFill>
          <a:blip r:embed="rId8"/>
          <a:stretch>
            <a:fillRect/>
          </a:stretch>
        </p:blipFill>
        <p:spPr>
          <a:xfrm>
            <a:off x="8310677" y="3995928"/>
            <a:ext cx="1325880" cy="1325880"/>
          </a:xfrm>
          <a:prstGeom prst="rect">
            <a:avLst/>
          </a:prstGeom>
        </p:spPr>
      </p:pic>
      <p:sp>
        <p:nvSpPr>
          <p:cNvPr id="34" name="Text 26"/>
          <p:cNvSpPr txBox="1"/>
          <p:nvPr/>
        </p:nvSpPr>
        <p:spPr>
          <a:xfrm>
            <a:off x="9773717" y="3950208"/>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19,888원</a:t>
            </a:r>
            <a:endParaRPr lang="en-US" sz="1600" dirty="0"/>
          </a:p>
        </p:txBody>
      </p:sp>
      <p:sp>
        <p:nvSpPr>
          <p:cNvPr id="35" name="Text 27"/>
          <p:cNvSpPr txBox="1"/>
          <p:nvPr/>
        </p:nvSpPr>
        <p:spPr>
          <a:xfrm>
            <a:off x="9773717" y="4407408"/>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포론 폼 · 완충재</a:t>
            </a:r>
            <a:endParaRPr lang="en-US" sz="1350" dirty="0"/>
          </a:p>
        </p:txBody>
      </p:sp>
      <p:sp>
        <p:nvSpPr>
          <p:cNvPr id="36" name="Text 28"/>
          <p:cNvSpPr txBox="1"/>
          <p:nvPr/>
        </p:nvSpPr>
        <p:spPr>
          <a:xfrm>
            <a:off x="9773717" y="4956048"/>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업스톱 패드와 앞 펠트 밑 완충</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18</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부품 — 제어 · 소리 · 전원 · 페달</a:t>
            </a:r>
            <a:endParaRPr lang="en-US" sz="2800" dirty="0"/>
          </a:p>
        </p:txBody>
      </p:sp>
      <p:sp>
        <p:nvSpPr>
          <p:cNvPr id="7" name="Shape 5"/>
          <p:cNvSpPr/>
          <p:nvPr/>
        </p:nvSpPr>
        <p:spPr>
          <a:xfrm>
            <a:off x="548640"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8" name="Shape 6"/>
          <p:cNvSpPr/>
          <p:nvPr/>
        </p:nvSpPr>
        <p:spPr>
          <a:xfrm>
            <a:off x="685800"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9" name="Image 0" descr="/private/tmp/claude-501/-Users-kwg-Desktop-mydrive-project-Toccata/78323d34-2a2b-4f50-ae4c-82ce3905c7c6/scratchpad/ppt4/assets/p_L01.jpg"/>
          <p:cNvPicPr>
            <a:picLocks noChangeAspect="1"/>
          </p:cNvPicPr>
          <p:nvPr/>
        </p:nvPicPr>
        <p:blipFill>
          <a:blip r:embed="rId3"/>
          <a:stretch>
            <a:fillRect/>
          </a:stretch>
        </p:blipFill>
        <p:spPr>
          <a:xfrm>
            <a:off x="731520" y="1709928"/>
            <a:ext cx="1005840" cy="1005840"/>
          </a:xfrm>
          <a:prstGeom prst="rect">
            <a:avLst/>
          </a:prstGeom>
        </p:spPr>
      </p:pic>
      <p:sp>
        <p:nvSpPr>
          <p:cNvPr id="10" name="Text 7"/>
          <p:cNvSpPr txBox="1"/>
          <p:nvPr/>
        </p:nvSpPr>
        <p:spPr>
          <a:xfrm>
            <a:off x="1901952"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119,900원</a:t>
            </a:r>
            <a:endParaRPr lang="en-US" sz="1400" dirty="0"/>
          </a:p>
        </p:txBody>
      </p:sp>
      <p:sp>
        <p:nvSpPr>
          <p:cNvPr id="11" name="Text 8"/>
          <p:cNvSpPr txBox="1"/>
          <p:nvPr/>
        </p:nvSpPr>
        <p:spPr>
          <a:xfrm>
            <a:off x="731520"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Raspberry Pi 5 (2GB)</a:t>
            </a:r>
            <a:endParaRPr lang="en-US" sz="1300" dirty="0"/>
          </a:p>
        </p:txBody>
      </p:sp>
      <p:sp>
        <p:nvSpPr>
          <p:cNvPr id="12" name="Text 9"/>
          <p:cNvSpPr txBox="1"/>
          <p:nvPr/>
        </p:nvSpPr>
        <p:spPr>
          <a:xfrm>
            <a:off x="731520"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음원 + 리듬게임 컴퓨터</a:t>
            </a:r>
            <a:endParaRPr lang="en-US" sz="1100" dirty="0"/>
          </a:p>
        </p:txBody>
      </p:sp>
      <p:sp>
        <p:nvSpPr>
          <p:cNvPr id="13" name="Shape 10"/>
          <p:cNvSpPr/>
          <p:nvPr/>
        </p:nvSpPr>
        <p:spPr>
          <a:xfrm>
            <a:off x="3379394"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14" name="Shape 11"/>
          <p:cNvSpPr/>
          <p:nvPr/>
        </p:nvSpPr>
        <p:spPr>
          <a:xfrm>
            <a:off x="3516554"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15" name="Image 1" descr="/private/tmp/claude-501/-Users-kwg-Desktop-mydrive-project-Toccata/78323d34-2a2b-4f50-ae4c-82ce3905c7c6/scratchpad/ppt4/assets/p_L17.jpg"/>
          <p:cNvPicPr>
            <a:picLocks noChangeAspect="1"/>
          </p:cNvPicPr>
          <p:nvPr/>
        </p:nvPicPr>
        <p:blipFill>
          <a:blip r:embed="rId4"/>
          <a:stretch>
            <a:fillRect/>
          </a:stretch>
        </p:blipFill>
        <p:spPr>
          <a:xfrm>
            <a:off x="3562274" y="1709928"/>
            <a:ext cx="1005840" cy="1005840"/>
          </a:xfrm>
          <a:prstGeom prst="rect">
            <a:avLst/>
          </a:prstGeom>
        </p:spPr>
      </p:pic>
      <p:sp>
        <p:nvSpPr>
          <p:cNvPr id="16" name="Text 12"/>
          <p:cNvSpPr txBox="1"/>
          <p:nvPr/>
        </p:nvSpPr>
        <p:spPr>
          <a:xfrm>
            <a:off x="4732706"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보유</a:t>
            </a:r>
            <a:endParaRPr lang="en-US" sz="1400" dirty="0"/>
          </a:p>
        </p:txBody>
      </p:sp>
      <p:sp>
        <p:nvSpPr>
          <p:cNvPr id="17" name="Text 13"/>
          <p:cNvSpPr txBox="1"/>
          <p:nvPr/>
        </p:nvSpPr>
        <p:spPr>
          <a:xfrm>
            <a:off x="3562274"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USB 허브 10포트</a:t>
            </a:r>
            <a:endParaRPr lang="en-US" sz="1300" dirty="0"/>
          </a:p>
        </p:txBody>
      </p:sp>
      <p:sp>
        <p:nvSpPr>
          <p:cNvPr id="18" name="Text 14"/>
          <p:cNvSpPr txBox="1"/>
          <p:nvPr/>
        </p:nvSpPr>
        <p:spPr>
          <a:xfrm>
            <a:off x="3562274"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모듈 7 + 페달 연결 · 전원형</a:t>
            </a:r>
            <a:endParaRPr lang="en-US" sz="1100" dirty="0"/>
          </a:p>
        </p:txBody>
      </p:sp>
      <p:sp>
        <p:nvSpPr>
          <p:cNvPr id="19" name="Shape 15"/>
          <p:cNvSpPr/>
          <p:nvPr/>
        </p:nvSpPr>
        <p:spPr>
          <a:xfrm>
            <a:off x="6210148"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20" name="Shape 16"/>
          <p:cNvSpPr/>
          <p:nvPr/>
        </p:nvSpPr>
        <p:spPr>
          <a:xfrm>
            <a:off x="6347308"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21" name="Image 2" descr="/private/tmp/claude-501/-Users-kwg-Desktop-mydrive-project-Toccata/78323d34-2a2b-4f50-ae4c-82ce3905c7c6/scratchpad/ppt4/assets/p_L51.jpg"/>
          <p:cNvPicPr>
            <a:picLocks noChangeAspect="1"/>
          </p:cNvPicPr>
          <p:nvPr/>
        </p:nvPicPr>
        <p:blipFill>
          <a:blip r:embed="rId5"/>
          <a:stretch>
            <a:fillRect/>
          </a:stretch>
        </p:blipFill>
        <p:spPr>
          <a:xfrm>
            <a:off x="6393028" y="1709928"/>
            <a:ext cx="1005840" cy="1005840"/>
          </a:xfrm>
          <a:prstGeom prst="rect">
            <a:avLst/>
          </a:prstGeom>
        </p:spPr>
      </p:pic>
      <p:sp>
        <p:nvSpPr>
          <p:cNvPr id="22" name="Text 17"/>
          <p:cNvSpPr txBox="1"/>
          <p:nvPr/>
        </p:nvSpPr>
        <p:spPr>
          <a:xfrm>
            <a:off x="7563460"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14,900원</a:t>
            </a:r>
            <a:endParaRPr lang="en-US" sz="1400" dirty="0"/>
          </a:p>
        </p:txBody>
      </p:sp>
      <p:sp>
        <p:nvSpPr>
          <p:cNvPr id="23" name="Text 18"/>
          <p:cNvSpPr txBox="1"/>
          <p:nvPr/>
        </p:nvSpPr>
        <p:spPr>
          <a:xfrm>
            <a:off x="6393028"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Apple USB-C 동글</a:t>
            </a:r>
            <a:endParaRPr lang="en-US" sz="1300" dirty="0"/>
          </a:p>
        </p:txBody>
      </p:sp>
      <p:sp>
        <p:nvSpPr>
          <p:cNvPr id="24" name="Text 19"/>
          <p:cNvSpPr txBox="1"/>
          <p:nvPr/>
        </p:nvSpPr>
        <p:spPr>
          <a:xfrm>
            <a:off x="6393028"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DAC + 헤드폰 앰프</a:t>
            </a:r>
            <a:endParaRPr lang="en-US" sz="1100" dirty="0"/>
          </a:p>
        </p:txBody>
      </p:sp>
      <p:sp>
        <p:nvSpPr>
          <p:cNvPr id="25" name="Shape 20"/>
          <p:cNvSpPr/>
          <p:nvPr/>
        </p:nvSpPr>
        <p:spPr>
          <a:xfrm>
            <a:off x="9040901"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26" name="Shape 21"/>
          <p:cNvSpPr/>
          <p:nvPr/>
        </p:nvSpPr>
        <p:spPr>
          <a:xfrm>
            <a:off x="9178061"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27" name="Image 3" descr="/private/tmp/claude-501/-Users-kwg-Desktop-mydrive-project-Toccata/78323d34-2a2b-4f50-ae4c-82ce3905c7c6/scratchpad/ppt4/assets/p_L53.jpg"/>
          <p:cNvPicPr>
            <a:picLocks noChangeAspect="1"/>
          </p:cNvPicPr>
          <p:nvPr/>
        </p:nvPicPr>
        <p:blipFill>
          <a:blip r:embed="rId6"/>
          <a:stretch>
            <a:fillRect/>
          </a:stretch>
        </p:blipFill>
        <p:spPr>
          <a:xfrm>
            <a:off x="9223781" y="1709928"/>
            <a:ext cx="1005840" cy="1005840"/>
          </a:xfrm>
          <a:prstGeom prst="rect">
            <a:avLst/>
          </a:prstGeom>
        </p:spPr>
      </p:pic>
      <p:sp>
        <p:nvSpPr>
          <p:cNvPr id="28" name="Text 22"/>
          <p:cNvSpPr txBox="1"/>
          <p:nvPr/>
        </p:nvSpPr>
        <p:spPr>
          <a:xfrm>
            <a:off x="10394213"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보유</a:t>
            </a:r>
            <a:endParaRPr lang="en-US" sz="1400" dirty="0"/>
          </a:p>
        </p:txBody>
      </p:sp>
      <p:sp>
        <p:nvSpPr>
          <p:cNvPr id="29" name="Text 23"/>
          <p:cNvSpPr txBox="1"/>
          <p:nvPr/>
        </p:nvSpPr>
        <p:spPr>
          <a:xfrm>
            <a:off x="9223781"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XH-A232 앰프 보드</a:t>
            </a:r>
            <a:endParaRPr lang="en-US" sz="1300" dirty="0"/>
          </a:p>
        </p:txBody>
      </p:sp>
      <p:sp>
        <p:nvSpPr>
          <p:cNvPr id="30" name="Text 24"/>
          <p:cNvSpPr txBox="1"/>
          <p:nvPr/>
        </p:nvSpPr>
        <p:spPr>
          <a:xfrm>
            <a:off x="9223781"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TPA3110 · 20 V · 채널당 약 21 W</a:t>
            </a:r>
            <a:endParaRPr lang="en-US" sz="1100" dirty="0"/>
          </a:p>
        </p:txBody>
      </p:sp>
      <p:sp>
        <p:nvSpPr>
          <p:cNvPr id="31" name="Shape 25"/>
          <p:cNvSpPr/>
          <p:nvPr/>
        </p:nvSpPr>
        <p:spPr>
          <a:xfrm>
            <a:off x="548640"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32" name="Shape 26"/>
          <p:cNvSpPr/>
          <p:nvPr/>
        </p:nvSpPr>
        <p:spPr>
          <a:xfrm>
            <a:off x="685800"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33" name="Image 4" descr="/private/tmp/claude-501/-Users-kwg-Desktop-mydrive-project-Toccata/78323d34-2a2b-4f50-ae4c-82ce3905c7c6/scratchpad/ppt4/assets/p_L07.jpg"/>
          <p:cNvPicPr>
            <a:picLocks noChangeAspect="1"/>
          </p:cNvPicPr>
          <p:nvPr/>
        </p:nvPicPr>
        <p:blipFill>
          <a:blip r:embed="rId7"/>
          <a:stretch>
            <a:fillRect/>
          </a:stretch>
        </p:blipFill>
        <p:spPr>
          <a:xfrm>
            <a:off x="731520" y="3968496"/>
            <a:ext cx="1005840" cy="1005840"/>
          </a:xfrm>
          <a:prstGeom prst="rect">
            <a:avLst/>
          </a:prstGeom>
        </p:spPr>
      </p:pic>
      <p:sp>
        <p:nvSpPr>
          <p:cNvPr id="34" name="Text 27"/>
          <p:cNvSpPr txBox="1"/>
          <p:nvPr/>
        </p:nvSpPr>
        <p:spPr>
          <a:xfrm>
            <a:off x="1901952"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19,200원</a:t>
            </a:r>
            <a:endParaRPr lang="en-US" sz="1400" dirty="0"/>
          </a:p>
        </p:txBody>
      </p:sp>
      <p:sp>
        <p:nvSpPr>
          <p:cNvPr id="35" name="Text 28"/>
          <p:cNvSpPr txBox="1"/>
          <p:nvPr/>
        </p:nvSpPr>
        <p:spPr>
          <a:xfrm>
            <a:off x="731520"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삼미 CW-100B25 × 2</a:t>
            </a:r>
            <a:endParaRPr lang="en-US" sz="1300" dirty="0"/>
          </a:p>
        </p:txBody>
      </p:sp>
      <p:sp>
        <p:nvSpPr>
          <p:cNvPr id="36" name="Text 29"/>
          <p:cNvSpPr txBox="1"/>
          <p:nvPr/>
        </p:nvSpPr>
        <p:spPr>
          <a:xfrm>
            <a:off x="731520"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4인치 8 Ω 풀레인지 스피커</a:t>
            </a:r>
            <a:endParaRPr lang="en-US" sz="1100" dirty="0"/>
          </a:p>
        </p:txBody>
      </p:sp>
      <p:sp>
        <p:nvSpPr>
          <p:cNvPr id="37" name="Shape 30"/>
          <p:cNvSpPr/>
          <p:nvPr/>
        </p:nvSpPr>
        <p:spPr>
          <a:xfrm>
            <a:off x="3379394"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38" name="Shape 31"/>
          <p:cNvSpPr/>
          <p:nvPr/>
        </p:nvSpPr>
        <p:spPr>
          <a:xfrm>
            <a:off x="3516554"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39" name="Image 5" descr="/private/tmp/claude-501/-Users-kwg-Desktop-mydrive-project-Toccata/78323d34-2a2b-4f50-ae4c-82ce3905c7c6/scratchpad/ppt4/assets/p_L57.jpg"/>
          <p:cNvPicPr>
            <a:picLocks noChangeAspect="1"/>
          </p:cNvPicPr>
          <p:nvPr/>
        </p:nvPicPr>
        <p:blipFill>
          <a:blip r:embed="rId8"/>
          <a:stretch>
            <a:fillRect/>
          </a:stretch>
        </p:blipFill>
        <p:spPr>
          <a:xfrm>
            <a:off x="3562274" y="3968496"/>
            <a:ext cx="1005840" cy="1005840"/>
          </a:xfrm>
          <a:prstGeom prst="rect">
            <a:avLst/>
          </a:prstGeom>
        </p:spPr>
      </p:pic>
      <p:sp>
        <p:nvSpPr>
          <p:cNvPr id="40" name="Text 32"/>
          <p:cNvSpPr txBox="1"/>
          <p:nvPr/>
        </p:nvSpPr>
        <p:spPr>
          <a:xfrm>
            <a:off x="4732706"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4,950원</a:t>
            </a:r>
            <a:endParaRPr lang="en-US" sz="1400" dirty="0"/>
          </a:p>
        </p:txBody>
      </p:sp>
      <p:sp>
        <p:nvSpPr>
          <p:cNvPr id="41" name="Text 33"/>
          <p:cNvSpPr txBox="1"/>
          <p:nvPr/>
        </p:nvSpPr>
        <p:spPr>
          <a:xfrm>
            <a:off x="3562274"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PD 트리거 (HUSB238)</a:t>
            </a:r>
            <a:endParaRPr lang="en-US" sz="1300" dirty="0"/>
          </a:p>
        </p:txBody>
      </p:sp>
      <p:sp>
        <p:nvSpPr>
          <p:cNvPr id="42" name="Text 34"/>
          <p:cNvSpPr txBox="1"/>
          <p:nvPr/>
        </p:nvSpPr>
        <p:spPr>
          <a:xfrm>
            <a:off x="3562274"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USB-C 입력 → 20 V</a:t>
            </a:r>
            <a:endParaRPr lang="en-US" sz="1100" dirty="0"/>
          </a:p>
        </p:txBody>
      </p:sp>
      <p:sp>
        <p:nvSpPr>
          <p:cNvPr id="43" name="Shape 35"/>
          <p:cNvSpPr/>
          <p:nvPr/>
        </p:nvSpPr>
        <p:spPr>
          <a:xfrm>
            <a:off x="6210148"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44" name="Shape 36"/>
          <p:cNvSpPr/>
          <p:nvPr/>
        </p:nvSpPr>
        <p:spPr>
          <a:xfrm>
            <a:off x="6347308"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45" name="Image 6" descr="/private/tmp/claude-501/-Users-kwg-Desktop-mydrive-project-Toccata/78323d34-2a2b-4f50-ae4c-82ce3905c7c6/scratchpad/ppt4/assets/p_L58.jpg"/>
          <p:cNvPicPr>
            <a:picLocks noChangeAspect="1"/>
          </p:cNvPicPr>
          <p:nvPr/>
        </p:nvPicPr>
        <p:blipFill>
          <a:blip r:embed="rId9"/>
          <a:stretch>
            <a:fillRect/>
          </a:stretch>
        </p:blipFill>
        <p:spPr>
          <a:xfrm>
            <a:off x="6393028" y="3968496"/>
            <a:ext cx="1005840" cy="1005840"/>
          </a:xfrm>
          <a:prstGeom prst="rect">
            <a:avLst/>
          </a:prstGeom>
        </p:spPr>
      </p:pic>
      <p:sp>
        <p:nvSpPr>
          <p:cNvPr id="46" name="Text 37"/>
          <p:cNvSpPr txBox="1"/>
          <p:nvPr/>
        </p:nvSpPr>
        <p:spPr>
          <a:xfrm>
            <a:off x="7563460"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보유</a:t>
            </a:r>
            <a:endParaRPr lang="en-US" sz="1400" dirty="0"/>
          </a:p>
        </p:txBody>
      </p:sp>
      <p:sp>
        <p:nvSpPr>
          <p:cNvPr id="47" name="Text 38"/>
          <p:cNvSpPr txBox="1"/>
          <p:nvPr/>
        </p:nvSpPr>
        <p:spPr>
          <a:xfrm>
            <a:off x="6393028"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XL4016 강압 모듈</a:t>
            </a:r>
            <a:endParaRPr lang="en-US" sz="1300" dirty="0"/>
          </a:p>
        </p:txBody>
      </p:sp>
      <p:sp>
        <p:nvSpPr>
          <p:cNvPr id="48" name="Text 39"/>
          <p:cNvSpPr txBox="1"/>
          <p:nvPr/>
        </p:nvSpPr>
        <p:spPr>
          <a:xfrm>
            <a:off x="6393028"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 5.1 V (Pi 5 · 허브)</a:t>
            </a:r>
            <a:endParaRPr lang="en-US" sz="1100" dirty="0"/>
          </a:p>
        </p:txBody>
      </p:sp>
      <p:sp>
        <p:nvSpPr>
          <p:cNvPr id="49" name="Shape 40"/>
          <p:cNvSpPr/>
          <p:nvPr/>
        </p:nvSpPr>
        <p:spPr>
          <a:xfrm>
            <a:off x="9040901"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50" name="Shape 41"/>
          <p:cNvSpPr/>
          <p:nvPr/>
        </p:nvSpPr>
        <p:spPr>
          <a:xfrm>
            <a:off x="9178061"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51" name="Image 7" descr="/private/tmp/claude-501/-Users-kwg-Desktop-mydrive-project-Toccata/78323d34-2a2b-4f50-ae4c-82ce3905c7c6/scratchpad/ppt4/assets/p_L43.jpg"/>
          <p:cNvPicPr>
            <a:picLocks noChangeAspect="1"/>
          </p:cNvPicPr>
          <p:nvPr/>
        </p:nvPicPr>
        <p:blipFill>
          <a:blip r:embed="rId10"/>
          <a:stretch>
            <a:fillRect/>
          </a:stretch>
        </p:blipFill>
        <p:spPr>
          <a:xfrm>
            <a:off x="9223781" y="3968496"/>
            <a:ext cx="1005840" cy="1005840"/>
          </a:xfrm>
          <a:prstGeom prst="rect">
            <a:avLst/>
          </a:prstGeom>
        </p:spPr>
      </p:pic>
      <p:sp>
        <p:nvSpPr>
          <p:cNvPr id="52" name="Text 42"/>
          <p:cNvSpPr txBox="1"/>
          <p:nvPr/>
        </p:nvSpPr>
        <p:spPr>
          <a:xfrm>
            <a:off x="10394213"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보유</a:t>
            </a:r>
            <a:endParaRPr lang="en-US" sz="1400" dirty="0"/>
          </a:p>
        </p:txBody>
      </p:sp>
      <p:sp>
        <p:nvSpPr>
          <p:cNvPr id="53" name="Text 43"/>
          <p:cNvSpPr txBox="1"/>
          <p:nvPr/>
        </p:nvSpPr>
        <p:spPr>
          <a:xfrm>
            <a:off x="9223781"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서스테인 페달 (듀로)</a:t>
            </a:r>
            <a:endParaRPr lang="en-US" sz="1300" dirty="0"/>
          </a:p>
        </p:txBody>
      </p:sp>
      <p:sp>
        <p:nvSpPr>
          <p:cNvPr id="54" name="Text 44"/>
          <p:cNvSpPr txBox="1"/>
          <p:nvPr/>
        </p:nvSpPr>
        <p:spPr>
          <a:xfrm>
            <a:off x="9223781"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홀센서로 개조</a:t>
            </a:r>
            <a:endParaRPr lang="en-US" sz="1100" dirty="0"/>
          </a:p>
        </p:txBody>
      </p:sp>
      <p:sp>
        <p:nvSpPr>
          <p:cNvPr id="55" name="Text 45"/>
          <p:cNvSpPr txBox="1"/>
          <p:nvPr/>
        </p:nvSpPr>
        <p:spPr>
          <a:xfrm>
            <a:off x="548640" y="5943600"/>
            <a:ext cx="11094415" cy="320040"/>
          </a:xfrm>
          <a:prstGeom prst="rect">
            <a:avLst/>
          </a:prstGeom>
          <a:noFill/>
          <a:ln/>
        </p:spPr>
        <p:txBody>
          <a:bodyPr wrap="square" lIns="0" tIns="0" rIns="0" bIns="0" rtlCol="0" anchor="t"/>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2단계 게임  </a:t>
            </a:r>
            <a:r>
              <a:rPr lang="en-US" sz="1200" dirty="0">
                <a:solidFill>
                  <a:srgbClr val="444A54"/>
                </a:solidFill>
                <a:latin typeface="Apple SD Gothic Neo" pitchFamily="34" charset="0"/>
                <a:ea typeface="Apple SD Gothic Neo" pitchFamily="34" charset="-122"/>
                <a:cs typeface="Apple SD Gothic Neo" pitchFamily="34" charset="-120"/>
              </a:rPr>
              <a:t>Micro HDMI → HDMI 케이블 (보유)</a:t>
            </a:r>
            <a:r>
              <a:rPr lang="en-US" sz="1200" dirty="0" err="1">
                <a:solidFill>
                  <a:srgbClr val="444A54"/>
                </a:solidFill>
                <a:latin typeface="Apple SD Gothic Neo" pitchFamily="34" charset="0"/>
                <a:ea typeface="Apple SD Gothic Neo" pitchFamily="34" charset="-122"/>
                <a:cs typeface="Apple SD Gothic Neo" pitchFamily="34" charset="-120"/>
              </a:rPr>
              <a:t/>
            </a:r>
            <a:r>
              <a:rPr lang="en-US" sz="1200" dirty="0">
                <a:solidFill>
                  <a:srgbClr val="444A54"/>
                </a:solidFill>
                <a:latin typeface="Apple SD Gothic Neo" pitchFamily="34" charset="0"/>
                <a:ea typeface="Apple SD Gothic Neo" pitchFamily="34" charset="-122"/>
                <a:cs typeface="Apple SD Gothic Neo" pitchFamily="34" charset="-120"/>
              </a:rPr>
              <a:t>      </a:t>
            </a:r>
            <a:r>
              <a:rPr lang="en-US" sz="1200" b="1" dirty="0" err="1">
                <a:solidFill>
                  <a:srgbClr val="D9482B"/>
                </a:solidFill>
                <a:latin typeface="Apple SD Gothic Neo" pitchFamily="34" charset="0"/>
                <a:ea typeface="Apple SD Gothic Neo" pitchFamily="34" charset="-122"/>
                <a:cs typeface="Apple SD Gothic Neo" pitchFamily="34" charset="-120"/>
              </a:rPr>
              <a:t>음원</a:t>
            </a:r>
            <a:r>
              <a:rPr lang="en-US" sz="1200" b="1" dirty="0">
                <a:solidFill>
                  <a:srgbClr val="D9482B"/>
                </a:solidFill>
                <a:latin typeface="Apple SD Gothic Neo" pitchFamily="34" charset="0"/>
                <a:ea typeface="Apple SD Gothic Neo" pitchFamily="34" charset="-122"/>
                <a:cs typeface="Apple SD Gothic Neo" pitchFamily="34" charset="-120"/>
              </a:rPr>
              <a:t>  </a:t>
            </a:r>
            <a:r>
              <a:rPr lang="en-US" sz="1200" dirty="0">
                <a:solidFill>
                  <a:srgbClr val="444A54"/>
                </a:solidFill>
                <a:latin typeface="Apple SD Gothic Neo" pitchFamily="34" charset="0"/>
                <a:ea typeface="Apple SD Gothic Neo" pitchFamily="34" charset="-122"/>
                <a:cs typeface="Apple SD Gothic Neo" pitchFamily="34" charset="-120"/>
              </a:rPr>
              <a:t>FluidSynth + Salamander Grand Piano</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19</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err="1">
                <a:solidFill>
                  <a:srgbClr val="16181D"/>
                </a:solidFill>
                <a:latin typeface="Apple SD Gothic Neo" pitchFamily="34" charset="0"/>
                <a:ea typeface="Apple SD Gothic Neo" pitchFamily="34" charset="-122"/>
                <a:cs typeface="Apple SD Gothic Neo" pitchFamily="34" charset="-120"/>
              </a:rPr>
              <a:t>비용</a:t>
            </a:r>
            <a:endParaRPr lang="en-US" sz="2800" dirty="0"/>
          </a:p>
        </p:txBody>
      </p:sp>
      <p:sp>
        <p:nvSpPr>
          <p:cNvPr id="7" name="Text 5"/>
          <p:cNvSpPr txBox="1"/>
          <p:nvPr/>
        </p:nvSpPr>
        <p:spPr>
          <a:xfrm>
            <a:off x="548640" y="1463040"/>
            <a:ext cx="6583680"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부품 599,961원의 구성</a:t>
            </a:r>
            <a:endParaRPr lang="en-US" sz="1400" dirty="0"/>
          </a:p>
        </p:txBody>
      </p:sp>
      <p:graphicFrame>
        <p:nvGraphicFramePr>
          <p:cNvPr id="8" name="Chart 0"/>
          <p:cNvGraphicFramePr/>
          <p:nvPr>
            <p:extLst>
              <p:ext uri="{D42A27DB-BD31-4B8C-83A1-F6EECF244321}">
                <p14:modId xmlns:p14="http://schemas.microsoft.com/office/powerpoint/2010/main" val="2988853116"/>
              </p:ext>
            </p:extLst>
          </p:nvPr>
        </p:nvGraphicFramePr>
        <p:xfrm>
          <a:off x="457200" y="1783080"/>
          <a:ext cx="68580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7726680" y="2183491"/>
            <a:ext cx="3916375" cy="694944"/>
          </a:xfrm>
          <a:prstGeom prst="roundRect">
            <a:avLst>
              <a:gd name="adj" fmla="val 10526"/>
            </a:avLst>
          </a:prstGeom>
          <a:solidFill>
            <a:srgbClr val="F3F4F6"/>
          </a:solidFill>
          <a:ln w="12700">
            <a:solidFill>
              <a:srgbClr val="F3F4F6"/>
            </a:solidFill>
            <a:prstDash val="solid"/>
          </a:ln>
        </p:spPr>
        <p:txBody>
          <a:bodyPr/>
          <a:lstStyle/>
          <a:p>
            <a:endParaRPr lang="en-KR"/>
          </a:p>
        </p:txBody>
      </p:sp>
      <p:sp>
        <p:nvSpPr>
          <p:cNvPr id="11" name="Text 8"/>
          <p:cNvSpPr txBox="1"/>
          <p:nvPr/>
        </p:nvSpPr>
        <p:spPr>
          <a:xfrm>
            <a:off x="7955280" y="2256643"/>
            <a:ext cx="109728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부품</a:t>
            </a:r>
            <a:endParaRPr lang="en-US" sz="1300" dirty="0"/>
          </a:p>
        </p:txBody>
      </p:sp>
      <p:sp>
        <p:nvSpPr>
          <p:cNvPr id="12" name="Text 9"/>
          <p:cNvSpPr txBox="1"/>
          <p:nvPr/>
        </p:nvSpPr>
        <p:spPr>
          <a:xfrm>
            <a:off x="8961120" y="2229211"/>
            <a:ext cx="2453335" cy="347472"/>
          </a:xfrm>
          <a:prstGeom prst="rect">
            <a:avLst/>
          </a:prstGeom>
          <a:noFill/>
          <a:ln/>
        </p:spPr>
        <p:txBody>
          <a:bodyPr wrap="square" lIns="0" tIns="0" rIns="0" bIns="0" rtlCol="0" anchor="t"/>
          <a:lstStyle/>
          <a:p>
            <a:pPr marL="0" indent="0" algn="r">
              <a:buNone/>
            </a:pPr>
            <a:r>
              <a:rPr lang="en-US" altLang="ko-KR" sz="1700" b="1" dirty="0">
                <a:solidFill>
                  <a:srgbClr val="16181D"/>
                </a:solidFill>
                <a:latin typeface="Apple SD Gothic Neo" pitchFamily="34" charset="0"/>
                <a:ea typeface="Apple SD Gothic Neo" pitchFamily="34" charset="-122"/>
                <a:cs typeface="Apple SD Gothic Neo" pitchFamily="34" charset="-120"/>
              </a:rPr>
              <a:t>599,961원</a:t>
            </a:r>
            <a:r>
              <a:rPr lang="en-US" sz="1700" b="1" dirty="0">
                <a:solidFill>
                  <a:srgbClr val="16181D"/>
                </a:solidFill>
                <a:latin typeface="Apple SD Gothic Neo" pitchFamily="34" charset="0"/>
                <a:ea typeface="Apple SD Gothic Neo" pitchFamily="34" charset="-122"/>
                <a:cs typeface="Apple SD Gothic Neo" pitchFamily="34" charset="-120"/>
              </a:rPr>
              <a:t/>
            </a:r>
            <a:endParaRPr lang="en-US" sz="1700" dirty="0"/>
          </a:p>
        </p:txBody>
      </p:sp>
      <p:sp>
        <p:nvSpPr>
          <p:cNvPr id="13" name="Text 10"/>
          <p:cNvSpPr txBox="1"/>
          <p:nvPr/>
        </p:nvSpPr>
        <p:spPr>
          <a:xfrm>
            <a:off x="7955280" y="2576683"/>
            <a:ext cx="3459175" cy="256032"/>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68가지 · 가진 부품 39가지는 뺌</a:t>
            </a:r>
            <a:endParaRPr lang="en-US" sz="1050" dirty="0"/>
          </a:p>
        </p:txBody>
      </p:sp>
      <p:sp>
        <p:nvSpPr>
          <p:cNvPr id="14" name="Shape 11"/>
          <p:cNvSpPr/>
          <p:nvPr/>
        </p:nvSpPr>
        <p:spPr>
          <a:xfrm>
            <a:off x="7726680" y="2969875"/>
            <a:ext cx="3916375" cy="694944"/>
          </a:xfrm>
          <a:prstGeom prst="roundRect">
            <a:avLst>
              <a:gd name="adj" fmla="val 10526"/>
            </a:avLst>
          </a:prstGeom>
          <a:solidFill>
            <a:srgbClr val="F3F4F6"/>
          </a:solidFill>
          <a:ln w="12700">
            <a:solidFill>
              <a:srgbClr val="F3F4F6"/>
            </a:solidFill>
            <a:prstDash val="solid"/>
          </a:ln>
        </p:spPr>
        <p:txBody>
          <a:bodyPr/>
          <a:lstStyle/>
          <a:p>
            <a:endParaRPr lang="en-KR"/>
          </a:p>
        </p:txBody>
      </p:sp>
      <p:sp>
        <p:nvSpPr>
          <p:cNvPr id="15" name="Text 12"/>
          <p:cNvSpPr txBox="1"/>
          <p:nvPr/>
        </p:nvSpPr>
        <p:spPr>
          <a:xfrm>
            <a:off x="7955280" y="3043027"/>
            <a:ext cx="109728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배송비</a:t>
            </a:r>
            <a:endParaRPr lang="en-US" sz="1300" dirty="0"/>
          </a:p>
        </p:txBody>
      </p:sp>
      <p:sp>
        <p:nvSpPr>
          <p:cNvPr id="16" name="Text 13"/>
          <p:cNvSpPr txBox="1"/>
          <p:nvPr/>
        </p:nvSpPr>
        <p:spPr>
          <a:xfrm>
            <a:off x="8961120" y="3015595"/>
            <a:ext cx="2453335" cy="347472"/>
          </a:xfrm>
          <a:prstGeom prst="rect">
            <a:avLst/>
          </a:prstGeom>
          <a:noFill/>
          <a:ln/>
        </p:spPr>
        <p:txBody>
          <a:bodyPr wrap="square" lIns="0" tIns="0" rIns="0" bIns="0" rtlCol="0" anchor="t"/>
          <a:lstStyle/>
          <a:p>
            <a:pPr marL="0" indent="0" algn="r">
              <a:buNone/>
            </a:pPr>
            <a:r>
              <a:rPr lang="en-US" sz="1700" b="1" dirty="0">
                <a:solidFill>
                  <a:srgbClr val="16181D"/>
                </a:solidFill>
                <a:latin typeface="Apple SD Gothic Neo" pitchFamily="34" charset="0"/>
                <a:ea typeface="Apple SD Gothic Neo" pitchFamily="34" charset="-122"/>
                <a:cs typeface="Apple SD Gothic Neo" pitchFamily="34" charset="-120"/>
              </a:rPr>
              <a:t>54,100원</a:t>
            </a:r>
            <a:endParaRPr lang="en-US" sz="1700" dirty="0"/>
          </a:p>
        </p:txBody>
      </p:sp>
      <p:sp>
        <p:nvSpPr>
          <p:cNvPr id="17" name="Text 14"/>
          <p:cNvSpPr txBox="1"/>
          <p:nvPr/>
        </p:nvSpPr>
        <p:spPr>
          <a:xfrm>
            <a:off x="7955280" y="3363067"/>
            <a:ext cx="3459175" cy="256032"/>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판매처 17곳 · 배송비가 적게 나오게 판매처 조정</a:t>
            </a:r>
            <a:endParaRPr lang="en-US" sz="1050" dirty="0"/>
          </a:p>
        </p:txBody>
      </p:sp>
      <p:sp>
        <p:nvSpPr>
          <p:cNvPr id="26" name="Shape 23"/>
          <p:cNvSpPr/>
          <p:nvPr/>
        </p:nvSpPr>
        <p:spPr>
          <a:xfrm>
            <a:off x="7726680" y="3966571"/>
            <a:ext cx="3916375" cy="1188720"/>
          </a:xfrm>
          <a:prstGeom prst="roundRect">
            <a:avLst>
              <a:gd name="adj" fmla="val 6154"/>
            </a:avLst>
          </a:prstGeom>
          <a:solidFill>
            <a:srgbClr val="121317"/>
          </a:solidFill>
          <a:ln w="12700">
            <a:solidFill>
              <a:srgbClr val="121317"/>
            </a:solidFill>
            <a:prstDash val="solid"/>
          </a:ln>
        </p:spPr>
        <p:txBody>
          <a:bodyPr/>
          <a:lstStyle/>
          <a:p>
            <a:endParaRPr lang="en-KR"/>
          </a:p>
        </p:txBody>
      </p:sp>
      <p:sp>
        <p:nvSpPr>
          <p:cNvPr id="27" name="Text 24"/>
          <p:cNvSpPr txBox="1"/>
          <p:nvPr/>
        </p:nvSpPr>
        <p:spPr>
          <a:xfrm>
            <a:off x="7955280" y="4103731"/>
            <a:ext cx="3459175" cy="274320"/>
          </a:xfrm>
          <a:prstGeom prst="rect">
            <a:avLst/>
          </a:prstGeom>
          <a:noFill/>
          <a:ln/>
        </p:spPr>
        <p:txBody>
          <a:bodyPr wrap="square" lIns="0" tIns="0" rIns="0" bIns="0" rtlCol="0" anchor="t"/>
          <a:lstStyle/>
          <a:p>
            <a:pPr marL="0" indent="0">
              <a:buNone/>
            </a:pPr>
            <a:r>
              <a:rPr lang="en-US" sz="1150" b="1" dirty="0">
                <a:solidFill>
                  <a:srgbClr val="B9BEC7"/>
                </a:solidFill>
                <a:latin typeface="Apple SD Gothic Neo" pitchFamily="34" charset="0"/>
                <a:ea typeface="Apple SD Gothic Neo" pitchFamily="34" charset="-122"/>
                <a:cs typeface="Apple SD Gothic Neo" pitchFamily="34" charset="-120"/>
              </a:rPr>
              <a:t>전체 구매비 (배송비 포함, 3D 프린터 별도)</a:t>
            </a:r>
            <a:endParaRPr lang="en-US" sz="1150" dirty="0"/>
          </a:p>
        </p:txBody>
      </p:sp>
      <p:sp>
        <p:nvSpPr>
          <p:cNvPr id="28" name="Text 25"/>
          <p:cNvSpPr txBox="1"/>
          <p:nvPr/>
        </p:nvSpPr>
        <p:spPr>
          <a:xfrm>
            <a:off x="7955280" y="4295755"/>
            <a:ext cx="3459175" cy="502920"/>
          </a:xfrm>
          <a:prstGeom prst="rect">
            <a:avLst/>
          </a:prstGeom>
          <a:noFill/>
          <a:ln/>
        </p:spPr>
        <p:txBody>
          <a:bodyPr wrap="square" lIns="0" tIns="0" rIns="0" bIns="0" rtlCol="0" anchor="t"/>
          <a:lstStyle/>
          <a:p>
            <a:pPr marL="0" indent="0">
              <a:buNone/>
            </a:pPr>
            <a:r>
              <a:rPr lang="en-US" altLang="ko-KR" sz="2800" b="1" dirty="0">
                <a:solidFill>
                  <a:srgbClr val="FFFFFF"/>
                </a:solidFill>
                <a:latin typeface="Apple SD Gothic Neo" pitchFamily="34" charset="0"/>
                <a:ea typeface="Apple SD Gothic Neo" pitchFamily="34" charset="-122"/>
                <a:cs typeface="Apple SD Gothic Neo" pitchFamily="34" charset="-120"/>
              </a:rPr>
              <a:t>654,061원</a:t>
            </a:r>
            <a:r>
              <a:rPr lang="en-US" sz="2800" b="1" dirty="0">
                <a:solidFill>
                  <a:srgbClr val="FFFFFF"/>
                </a:solidFill>
                <a:latin typeface="Apple SD Gothic Neo" pitchFamily="34" charset="0"/>
                <a:ea typeface="Apple SD Gothic Neo" pitchFamily="34" charset="-122"/>
                <a:cs typeface="Apple SD Gothic Neo" pitchFamily="34" charset="-120"/>
              </a:rPr>
              <a:t/>
            </a:r>
            <a:endParaRPr lang="en-US" sz="2800" dirty="0"/>
          </a:p>
        </p:txBody>
      </p:sp>
      <p:sp>
        <p:nvSpPr>
          <p:cNvPr id="29" name="Text 26"/>
          <p:cNvSpPr txBox="1"/>
          <p:nvPr/>
        </p:nvSpPr>
        <p:spPr>
          <a:xfrm>
            <a:off x="7955280" y="4807819"/>
            <a:ext cx="3459175" cy="274320"/>
          </a:xfrm>
          <a:prstGeom prst="rect">
            <a:avLst/>
          </a:prstGeom>
          <a:noFill/>
          <a:ln/>
        </p:spPr>
        <p:txBody>
          <a:bodyPr wrap="square" lIns="0" tIns="0" rIns="0" bIns="0" rtlCol="0" anchor="t"/>
          <a:lstStyle/>
          <a:p>
            <a:pPr marL="0" indent="0">
              <a:buNone/>
            </a:pPr>
            <a:r>
              <a:rPr lang="ko-KR" altLang="en-US" sz="1150" dirty="0">
                <a:solidFill>
                  <a:srgbClr val="B9BEC7"/>
                </a:solidFill>
                <a:latin typeface="Apple SD Gothic Neo" pitchFamily="34" charset="0"/>
                <a:ea typeface="Apple SD Gothic Neo" pitchFamily="34" charset="-122"/>
              </a:rPr>
              <a:t>지원비와 사비로 제작할 예정</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20</a:t>
            </a:r>
            <a:endParaRPr lang="en-US" sz="900" dirty="0"/>
          </a:p>
        </p:txBody>
      </p:sp>
      <p:sp>
        <p:nvSpPr>
          <p:cNvPr id="4"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5"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6"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7"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제작 계획</a:t>
            </a:r>
            <a:endParaRPr lang="en-US" sz="2800" dirty="0"/>
          </a:p>
        </p:txBody>
      </p:sp>
      <p:sp>
        <p:nvSpPr>
          <p:cNvPr id="8" name="Shape 5"/>
          <p:cNvSpPr/>
          <p:nvPr/>
        </p:nvSpPr>
        <p:spPr>
          <a:xfrm>
            <a:off x="3671316" y="1353312"/>
            <a:ext cx="2468023" cy="237744"/>
          </a:xfrm>
          <a:prstGeom prst="rect">
            <a:avLst/>
          </a:prstGeom>
          <a:solidFill>
            <a:srgbClr val="F3F4F6"/>
          </a:solidFill>
          <a:ln w="12700">
            <a:solidFill>
              <a:srgbClr val="FFFFFF"/>
            </a:solidFill>
            <a:prstDash val="solid"/>
          </a:ln>
        </p:spPr>
      </p:sp>
      <p:sp>
        <p:nvSpPr>
          <p:cNvPr id="9" name="Text 6"/>
          <p:cNvSpPr txBox="1"/>
          <p:nvPr/>
        </p:nvSpPr>
        <p:spPr>
          <a:xfrm>
            <a:off x="3657600" y="1353312"/>
            <a:ext cx="2495455" cy="237744"/>
          </a:xfrm>
          <a:prstGeom prst="rect">
            <a:avLst/>
          </a:prstGeom>
          <a:noFill/>
          <a:ln/>
        </p:spPr>
        <p:txBody>
          <a:bodyPr wrap="square" lIns="0" tIns="0" rIns="0" bIns="0" rtlCol="0" anchor="ctr"/>
          <a:lstStyle/>
          <a:p>
            <a:pPr algn="ctr" indent="0" marL="0">
              <a:buNone/>
            </a:pPr>
            <a:r>
              <a:rPr lang="en-US" sz="1100" b="1" dirty="0">
                <a:solidFill>
                  <a:srgbClr val="767D88"/>
                </a:solidFill>
                <a:latin typeface="Apple SD Gothic Neo" pitchFamily="34" charset="0"/>
                <a:ea typeface="Apple SD Gothic Neo" pitchFamily="34" charset="-122"/>
                <a:cs typeface="Apple SD Gothic Neo" pitchFamily="34" charset="-120"/>
              </a:rPr>
              <a:t>9월</a:t>
            </a:r>
            <a:endParaRPr lang="en-US" sz="1100" dirty="0"/>
          </a:p>
        </p:txBody>
      </p:sp>
      <p:sp>
        <p:nvSpPr>
          <p:cNvPr id="10" name="Shape 7"/>
          <p:cNvSpPr/>
          <p:nvPr/>
        </p:nvSpPr>
        <p:spPr>
          <a:xfrm>
            <a:off x="6166771" y="1353312"/>
            <a:ext cx="1968932" cy="237744"/>
          </a:xfrm>
          <a:prstGeom prst="rect">
            <a:avLst/>
          </a:prstGeom>
          <a:solidFill>
            <a:srgbClr val="16181D"/>
          </a:solidFill>
          <a:ln w="12700">
            <a:solidFill>
              <a:srgbClr val="FFFFFF"/>
            </a:solidFill>
            <a:prstDash val="solid"/>
          </a:ln>
        </p:spPr>
      </p:sp>
      <p:sp>
        <p:nvSpPr>
          <p:cNvPr id="11" name="Text 8"/>
          <p:cNvSpPr txBox="1"/>
          <p:nvPr/>
        </p:nvSpPr>
        <p:spPr>
          <a:xfrm>
            <a:off x="6153055" y="1353312"/>
            <a:ext cx="199636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10월</a:t>
            </a:r>
            <a:endParaRPr lang="en-US" sz="1100" dirty="0"/>
          </a:p>
        </p:txBody>
      </p:sp>
      <p:sp>
        <p:nvSpPr>
          <p:cNvPr id="12" name="Shape 9"/>
          <p:cNvSpPr/>
          <p:nvPr/>
        </p:nvSpPr>
        <p:spPr>
          <a:xfrm>
            <a:off x="8163135" y="1353312"/>
            <a:ext cx="1968932" cy="237744"/>
          </a:xfrm>
          <a:prstGeom prst="rect">
            <a:avLst/>
          </a:prstGeom>
          <a:solidFill>
            <a:srgbClr val="16181D"/>
          </a:solidFill>
          <a:ln w="12700">
            <a:solidFill>
              <a:srgbClr val="FFFFFF"/>
            </a:solidFill>
            <a:prstDash val="solid"/>
          </a:ln>
        </p:spPr>
      </p:sp>
      <p:sp>
        <p:nvSpPr>
          <p:cNvPr id="13" name="Text 10"/>
          <p:cNvSpPr txBox="1"/>
          <p:nvPr/>
        </p:nvSpPr>
        <p:spPr>
          <a:xfrm>
            <a:off x="8149419" y="1353312"/>
            <a:ext cx="199636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11월</a:t>
            </a:r>
            <a:endParaRPr lang="en-US" sz="1100" dirty="0"/>
          </a:p>
        </p:txBody>
      </p:sp>
      <p:sp>
        <p:nvSpPr>
          <p:cNvPr id="14" name="Shape 11"/>
          <p:cNvSpPr/>
          <p:nvPr/>
        </p:nvSpPr>
        <p:spPr>
          <a:xfrm>
            <a:off x="10159498" y="1353312"/>
            <a:ext cx="1469841" cy="237744"/>
          </a:xfrm>
          <a:prstGeom prst="rect">
            <a:avLst/>
          </a:prstGeom>
          <a:solidFill>
            <a:srgbClr val="16181D"/>
          </a:solidFill>
          <a:ln w="12700">
            <a:solidFill>
              <a:srgbClr val="FFFFFF"/>
            </a:solidFill>
            <a:prstDash val="solid"/>
          </a:ln>
        </p:spPr>
      </p:sp>
      <p:sp>
        <p:nvSpPr>
          <p:cNvPr id="15" name="Text 12"/>
          <p:cNvSpPr txBox="1"/>
          <p:nvPr/>
        </p:nvSpPr>
        <p:spPr>
          <a:xfrm>
            <a:off x="10145782" y="1353312"/>
            <a:ext cx="1497273"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12월</a:t>
            </a:r>
            <a:endParaRPr lang="en-US" sz="1100" dirty="0"/>
          </a:p>
        </p:txBody>
      </p:sp>
      <p:sp>
        <p:nvSpPr>
          <p:cNvPr id="16" name="Text 13"/>
          <p:cNvSpPr txBox="1"/>
          <p:nvPr/>
        </p:nvSpPr>
        <p:spPr>
          <a:xfrm>
            <a:off x="3657600"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8/31</a:t>
            </a:r>
            <a:endParaRPr lang="en-US" sz="850" dirty="0"/>
          </a:p>
        </p:txBody>
      </p:sp>
      <p:sp>
        <p:nvSpPr>
          <p:cNvPr id="17" name="Text 14"/>
          <p:cNvSpPr txBox="1"/>
          <p:nvPr/>
        </p:nvSpPr>
        <p:spPr>
          <a:xfrm>
            <a:off x="4156691"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9/7</a:t>
            </a:r>
            <a:endParaRPr lang="en-US" sz="850" dirty="0"/>
          </a:p>
        </p:txBody>
      </p:sp>
      <p:sp>
        <p:nvSpPr>
          <p:cNvPr id="18" name="Text 15"/>
          <p:cNvSpPr txBox="1"/>
          <p:nvPr/>
        </p:nvSpPr>
        <p:spPr>
          <a:xfrm>
            <a:off x="4655782"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9/14</a:t>
            </a:r>
            <a:endParaRPr lang="en-US" sz="850" dirty="0"/>
          </a:p>
        </p:txBody>
      </p:sp>
      <p:sp>
        <p:nvSpPr>
          <p:cNvPr id="19" name="Text 16"/>
          <p:cNvSpPr txBox="1"/>
          <p:nvPr/>
        </p:nvSpPr>
        <p:spPr>
          <a:xfrm>
            <a:off x="5154873"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9/21</a:t>
            </a:r>
            <a:endParaRPr lang="en-US" sz="850" dirty="0"/>
          </a:p>
        </p:txBody>
      </p:sp>
      <p:sp>
        <p:nvSpPr>
          <p:cNvPr id="20" name="Text 17"/>
          <p:cNvSpPr txBox="1"/>
          <p:nvPr/>
        </p:nvSpPr>
        <p:spPr>
          <a:xfrm>
            <a:off x="5653964"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9/28</a:t>
            </a:r>
            <a:endParaRPr lang="en-US" sz="850" dirty="0"/>
          </a:p>
        </p:txBody>
      </p:sp>
      <p:sp>
        <p:nvSpPr>
          <p:cNvPr id="21" name="Text 18"/>
          <p:cNvSpPr txBox="1"/>
          <p:nvPr/>
        </p:nvSpPr>
        <p:spPr>
          <a:xfrm>
            <a:off x="6153055"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10/5</a:t>
            </a:r>
            <a:endParaRPr lang="en-US" sz="850" dirty="0"/>
          </a:p>
        </p:txBody>
      </p:sp>
      <p:sp>
        <p:nvSpPr>
          <p:cNvPr id="22" name="Text 19"/>
          <p:cNvSpPr txBox="1"/>
          <p:nvPr/>
        </p:nvSpPr>
        <p:spPr>
          <a:xfrm>
            <a:off x="6652146"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10/12</a:t>
            </a:r>
            <a:endParaRPr lang="en-US" sz="850" dirty="0"/>
          </a:p>
        </p:txBody>
      </p:sp>
      <p:sp>
        <p:nvSpPr>
          <p:cNvPr id="23" name="Text 20"/>
          <p:cNvSpPr txBox="1"/>
          <p:nvPr/>
        </p:nvSpPr>
        <p:spPr>
          <a:xfrm>
            <a:off x="7151237"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10/19</a:t>
            </a:r>
            <a:endParaRPr lang="en-US" sz="850" dirty="0"/>
          </a:p>
        </p:txBody>
      </p:sp>
      <p:sp>
        <p:nvSpPr>
          <p:cNvPr id="24" name="Text 21"/>
          <p:cNvSpPr txBox="1"/>
          <p:nvPr/>
        </p:nvSpPr>
        <p:spPr>
          <a:xfrm>
            <a:off x="7650328"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10/26</a:t>
            </a:r>
            <a:endParaRPr lang="en-US" sz="850" dirty="0"/>
          </a:p>
        </p:txBody>
      </p:sp>
      <p:sp>
        <p:nvSpPr>
          <p:cNvPr id="25" name="Text 22"/>
          <p:cNvSpPr txBox="1"/>
          <p:nvPr/>
        </p:nvSpPr>
        <p:spPr>
          <a:xfrm>
            <a:off x="8149419"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11/2</a:t>
            </a:r>
            <a:endParaRPr lang="en-US" sz="850" dirty="0"/>
          </a:p>
        </p:txBody>
      </p:sp>
      <p:sp>
        <p:nvSpPr>
          <p:cNvPr id="26" name="Text 23"/>
          <p:cNvSpPr txBox="1"/>
          <p:nvPr/>
        </p:nvSpPr>
        <p:spPr>
          <a:xfrm>
            <a:off x="8648510"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11/9</a:t>
            </a:r>
            <a:endParaRPr lang="en-US" sz="850" dirty="0"/>
          </a:p>
        </p:txBody>
      </p:sp>
      <p:sp>
        <p:nvSpPr>
          <p:cNvPr id="27" name="Text 24"/>
          <p:cNvSpPr txBox="1"/>
          <p:nvPr/>
        </p:nvSpPr>
        <p:spPr>
          <a:xfrm>
            <a:off x="9147600"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11/16</a:t>
            </a:r>
            <a:endParaRPr lang="en-US" sz="850" dirty="0"/>
          </a:p>
        </p:txBody>
      </p:sp>
      <p:sp>
        <p:nvSpPr>
          <p:cNvPr id="28" name="Text 25"/>
          <p:cNvSpPr txBox="1"/>
          <p:nvPr/>
        </p:nvSpPr>
        <p:spPr>
          <a:xfrm>
            <a:off x="9646691"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11/23</a:t>
            </a:r>
            <a:endParaRPr lang="en-US" sz="850" dirty="0"/>
          </a:p>
        </p:txBody>
      </p:sp>
      <p:sp>
        <p:nvSpPr>
          <p:cNvPr id="29" name="Text 26"/>
          <p:cNvSpPr txBox="1"/>
          <p:nvPr/>
        </p:nvSpPr>
        <p:spPr>
          <a:xfrm>
            <a:off x="10145782"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11/30</a:t>
            </a:r>
            <a:endParaRPr lang="en-US" sz="850" dirty="0"/>
          </a:p>
        </p:txBody>
      </p:sp>
      <p:sp>
        <p:nvSpPr>
          <p:cNvPr id="30" name="Text 27"/>
          <p:cNvSpPr txBox="1"/>
          <p:nvPr/>
        </p:nvSpPr>
        <p:spPr>
          <a:xfrm>
            <a:off x="10644873"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12/7</a:t>
            </a:r>
            <a:endParaRPr lang="en-US" sz="850" dirty="0"/>
          </a:p>
        </p:txBody>
      </p:sp>
      <p:sp>
        <p:nvSpPr>
          <p:cNvPr id="31" name="Text 28"/>
          <p:cNvSpPr txBox="1"/>
          <p:nvPr/>
        </p:nvSpPr>
        <p:spPr>
          <a:xfrm>
            <a:off x="11143964"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12/14</a:t>
            </a:r>
            <a:endParaRPr lang="en-US" sz="850" dirty="0"/>
          </a:p>
        </p:txBody>
      </p:sp>
      <p:sp>
        <p:nvSpPr>
          <p:cNvPr id="32" name="Shape 29"/>
          <p:cNvSpPr/>
          <p:nvPr/>
        </p:nvSpPr>
        <p:spPr>
          <a:xfrm>
            <a:off x="4156691" y="1828800"/>
            <a:ext cx="0" cy="3767328"/>
          </a:xfrm>
          <a:prstGeom prst="line">
            <a:avLst/>
          </a:prstGeom>
          <a:noFill/>
          <a:ln w="6350">
            <a:solidFill>
              <a:srgbClr val="DDE0E5"/>
            </a:solidFill>
            <a:prstDash val="dash"/>
          </a:ln>
        </p:spPr>
      </p:sp>
      <p:sp>
        <p:nvSpPr>
          <p:cNvPr id="33" name="Shape 30"/>
          <p:cNvSpPr/>
          <p:nvPr/>
        </p:nvSpPr>
        <p:spPr>
          <a:xfrm>
            <a:off x="4655782" y="1828800"/>
            <a:ext cx="0" cy="3767328"/>
          </a:xfrm>
          <a:prstGeom prst="line">
            <a:avLst/>
          </a:prstGeom>
          <a:noFill/>
          <a:ln w="6350">
            <a:solidFill>
              <a:srgbClr val="DDE0E5"/>
            </a:solidFill>
            <a:prstDash val="dash"/>
          </a:ln>
        </p:spPr>
      </p:sp>
      <p:sp>
        <p:nvSpPr>
          <p:cNvPr id="34" name="Shape 31"/>
          <p:cNvSpPr/>
          <p:nvPr/>
        </p:nvSpPr>
        <p:spPr>
          <a:xfrm>
            <a:off x="5154873" y="1828800"/>
            <a:ext cx="0" cy="3767328"/>
          </a:xfrm>
          <a:prstGeom prst="line">
            <a:avLst/>
          </a:prstGeom>
          <a:noFill/>
          <a:ln w="6350">
            <a:solidFill>
              <a:srgbClr val="DDE0E5"/>
            </a:solidFill>
            <a:prstDash val="dash"/>
          </a:ln>
        </p:spPr>
      </p:sp>
      <p:sp>
        <p:nvSpPr>
          <p:cNvPr id="35" name="Shape 32"/>
          <p:cNvSpPr/>
          <p:nvPr/>
        </p:nvSpPr>
        <p:spPr>
          <a:xfrm>
            <a:off x="5653964" y="1828800"/>
            <a:ext cx="0" cy="3767328"/>
          </a:xfrm>
          <a:prstGeom prst="line">
            <a:avLst/>
          </a:prstGeom>
          <a:noFill/>
          <a:ln w="6350">
            <a:solidFill>
              <a:srgbClr val="DDE0E5"/>
            </a:solidFill>
            <a:prstDash val="dash"/>
          </a:ln>
        </p:spPr>
      </p:sp>
      <p:sp>
        <p:nvSpPr>
          <p:cNvPr id="36" name="Shape 33"/>
          <p:cNvSpPr/>
          <p:nvPr/>
        </p:nvSpPr>
        <p:spPr>
          <a:xfrm>
            <a:off x="6153055" y="1828800"/>
            <a:ext cx="0" cy="3767328"/>
          </a:xfrm>
          <a:prstGeom prst="line">
            <a:avLst/>
          </a:prstGeom>
          <a:noFill/>
          <a:ln w="9525">
            <a:solidFill>
              <a:srgbClr val="767D88"/>
            </a:solidFill>
            <a:prstDash val="solid"/>
          </a:ln>
        </p:spPr>
      </p:sp>
      <p:sp>
        <p:nvSpPr>
          <p:cNvPr id="37" name="Shape 34"/>
          <p:cNvSpPr/>
          <p:nvPr/>
        </p:nvSpPr>
        <p:spPr>
          <a:xfrm>
            <a:off x="6652146" y="1828800"/>
            <a:ext cx="0" cy="3767328"/>
          </a:xfrm>
          <a:prstGeom prst="line">
            <a:avLst/>
          </a:prstGeom>
          <a:noFill/>
          <a:ln w="6350">
            <a:solidFill>
              <a:srgbClr val="DDE0E5"/>
            </a:solidFill>
            <a:prstDash val="dash"/>
          </a:ln>
        </p:spPr>
      </p:sp>
      <p:sp>
        <p:nvSpPr>
          <p:cNvPr id="38" name="Shape 35"/>
          <p:cNvSpPr/>
          <p:nvPr/>
        </p:nvSpPr>
        <p:spPr>
          <a:xfrm>
            <a:off x="7151237" y="1828800"/>
            <a:ext cx="0" cy="3767328"/>
          </a:xfrm>
          <a:prstGeom prst="line">
            <a:avLst/>
          </a:prstGeom>
          <a:noFill/>
          <a:ln w="6350">
            <a:solidFill>
              <a:srgbClr val="DDE0E5"/>
            </a:solidFill>
            <a:prstDash val="dash"/>
          </a:ln>
        </p:spPr>
      </p:sp>
      <p:sp>
        <p:nvSpPr>
          <p:cNvPr id="39" name="Shape 36"/>
          <p:cNvSpPr/>
          <p:nvPr/>
        </p:nvSpPr>
        <p:spPr>
          <a:xfrm>
            <a:off x="7650328" y="1828800"/>
            <a:ext cx="0" cy="3767328"/>
          </a:xfrm>
          <a:prstGeom prst="line">
            <a:avLst/>
          </a:prstGeom>
          <a:noFill/>
          <a:ln w="6350">
            <a:solidFill>
              <a:srgbClr val="DDE0E5"/>
            </a:solidFill>
            <a:prstDash val="dash"/>
          </a:ln>
        </p:spPr>
      </p:sp>
      <p:sp>
        <p:nvSpPr>
          <p:cNvPr id="40" name="Shape 37"/>
          <p:cNvSpPr/>
          <p:nvPr/>
        </p:nvSpPr>
        <p:spPr>
          <a:xfrm>
            <a:off x="8149419" y="1828800"/>
            <a:ext cx="0" cy="3767328"/>
          </a:xfrm>
          <a:prstGeom prst="line">
            <a:avLst/>
          </a:prstGeom>
          <a:noFill/>
          <a:ln w="9525">
            <a:solidFill>
              <a:srgbClr val="767D88"/>
            </a:solidFill>
            <a:prstDash val="solid"/>
          </a:ln>
        </p:spPr>
      </p:sp>
      <p:sp>
        <p:nvSpPr>
          <p:cNvPr id="41" name="Shape 38"/>
          <p:cNvSpPr/>
          <p:nvPr/>
        </p:nvSpPr>
        <p:spPr>
          <a:xfrm>
            <a:off x="8648510" y="1828800"/>
            <a:ext cx="0" cy="3767328"/>
          </a:xfrm>
          <a:prstGeom prst="line">
            <a:avLst/>
          </a:prstGeom>
          <a:noFill/>
          <a:ln w="6350">
            <a:solidFill>
              <a:srgbClr val="DDE0E5"/>
            </a:solidFill>
            <a:prstDash val="dash"/>
          </a:ln>
        </p:spPr>
      </p:sp>
      <p:sp>
        <p:nvSpPr>
          <p:cNvPr id="42" name="Shape 39"/>
          <p:cNvSpPr/>
          <p:nvPr/>
        </p:nvSpPr>
        <p:spPr>
          <a:xfrm>
            <a:off x="9147600" y="1828800"/>
            <a:ext cx="0" cy="3767328"/>
          </a:xfrm>
          <a:prstGeom prst="line">
            <a:avLst/>
          </a:prstGeom>
          <a:noFill/>
          <a:ln w="6350">
            <a:solidFill>
              <a:srgbClr val="DDE0E5"/>
            </a:solidFill>
            <a:prstDash val="dash"/>
          </a:ln>
        </p:spPr>
      </p:sp>
      <p:sp>
        <p:nvSpPr>
          <p:cNvPr id="43" name="Shape 40"/>
          <p:cNvSpPr/>
          <p:nvPr/>
        </p:nvSpPr>
        <p:spPr>
          <a:xfrm>
            <a:off x="9646691" y="1828800"/>
            <a:ext cx="0" cy="3767328"/>
          </a:xfrm>
          <a:prstGeom prst="line">
            <a:avLst/>
          </a:prstGeom>
          <a:noFill/>
          <a:ln w="6350">
            <a:solidFill>
              <a:srgbClr val="DDE0E5"/>
            </a:solidFill>
            <a:prstDash val="dash"/>
          </a:ln>
        </p:spPr>
      </p:sp>
      <p:sp>
        <p:nvSpPr>
          <p:cNvPr id="44" name="Shape 41"/>
          <p:cNvSpPr/>
          <p:nvPr/>
        </p:nvSpPr>
        <p:spPr>
          <a:xfrm>
            <a:off x="10145782" y="1828800"/>
            <a:ext cx="0" cy="3767328"/>
          </a:xfrm>
          <a:prstGeom prst="line">
            <a:avLst/>
          </a:prstGeom>
          <a:noFill/>
          <a:ln w="9525">
            <a:solidFill>
              <a:srgbClr val="767D88"/>
            </a:solidFill>
            <a:prstDash val="solid"/>
          </a:ln>
        </p:spPr>
      </p:sp>
      <p:sp>
        <p:nvSpPr>
          <p:cNvPr id="45" name="Shape 42"/>
          <p:cNvSpPr/>
          <p:nvPr/>
        </p:nvSpPr>
        <p:spPr>
          <a:xfrm>
            <a:off x="10644873" y="1828800"/>
            <a:ext cx="0" cy="3767328"/>
          </a:xfrm>
          <a:prstGeom prst="line">
            <a:avLst/>
          </a:prstGeom>
          <a:noFill/>
          <a:ln w="6350">
            <a:solidFill>
              <a:srgbClr val="DDE0E5"/>
            </a:solidFill>
            <a:prstDash val="dash"/>
          </a:ln>
        </p:spPr>
      </p:sp>
      <p:sp>
        <p:nvSpPr>
          <p:cNvPr id="46" name="Shape 43"/>
          <p:cNvSpPr/>
          <p:nvPr/>
        </p:nvSpPr>
        <p:spPr>
          <a:xfrm>
            <a:off x="11143964" y="1828800"/>
            <a:ext cx="0" cy="3767328"/>
          </a:xfrm>
          <a:prstGeom prst="line">
            <a:avLst/>
          </a:prstGeom>
          <a:noFill/>
          <a:ln w="6350">
            <a:solidFill>
              <a:srgbClr val="DDE0E5"/>
            </a:solidFill>
            <a:prstDash val="dash"/>
          </a:ln>
        </p:spPr>
      </p:sp>
      <p:sp>
        <p:nvSpPr>
          <p:cNvPr id="47" name="Shape 44"/>
          <p:cNvSpPr/>
          <p:nvPr/>
        </p:nvSpPr>
        <p:spPr>
          <a:xfrm>
            <a:off x="5798700" y="1810512"/>
            <a:ext cx="0" cy="3785616"/>
          </a:xfrm>
          <a:prstGeom prst="line">
            <a:avLst/>
          </a:prstGeom>
          <a:noFill/>
          <a:ln w="19050">
            <a:solidFill>
              <a:srgbClr val="D9482B"/>
            </a:solidFill>
            <a:prstDash val="solid"/>
          </a:ln>
        </p:spPr>
      </p:sp>
      <p:sp>
        <p:nvSpPr>
          <p:cNvPr id="48" name="Text 45"/>
          <p:cNvSpPr txBox="1"/>
          <p:nvPr/>
        </p:nvSpPr>
        <p:spPr>
          <a:xfrm>
            <a:off x="5432940" y="5614416"/>
            <a:ext cx="731520" cy="182880"/>
          </a:xfrm>
          <a:prstGeom prst="rect">
            <a:avLst/>
          </a:prstGeom>
          <a:noFill/>
          <a:ln/>
        </p:spPr>
        <p:txBody>
          <a:bodyPr wrap="square" lIns="0" tIns="0" rIns="0" bIns="0" rtlCol="0" anchor="t"/>
          <a:lstStyle/>
          <a:p>
            <a:pPr algn="ctr" indent="0" marL="0">
              <a:buNone/>
            </a:pPr>
            <a:r>
              <a:rPr lang="en-US" sz="850" b="1" dirty="0">
                <a:solidFill>
                  <a:srgbClr val="D9482B"/>
                </a:solidFill>
                <a:latin typeface="Apple SD Gothic Neo" pitchFamily="34" charset="0"/>
                <a:ea typeface="Apple SD Gothic Neo" pitchFamily="34" charset="-122"/>
                <a:cs typeface="Apple SD Gothic Neo" pitchFamily="34" charset="-120"/>
              </a:rPr>
              <a:t>오늘</a:t>
            </a:r>
            <a:endParaRPr lang="en-US" sz="850" dirty="0"/>
          </a:p>
        </p:txBody>
      </p:sp>
      <p:sp>
        <p:nvSpPr>
          <p:cNvPr id="49" name="Text 46"/>
          <p:cNvSpPr txBox="1"/>
          <p:nvPr/>
        </p:nvSpPr>
        <p:spPr>
          <a:xfrm>
            <a:off x="548640" y="1847088"/>
            <a:ext cx="11002975" cy="196596"/>
          </a:xfrm>
          <a:prstGeom prst="rect">
            <a:avLst/>
          </a:prstGeom>
          <a:noFill/>
          <a:ln/>
        </p:spPr>
        <p:txBody>
          <a:bodyPr wrap="square" lIns="0" tIns="0" rIns="0" bIns="0" rtlCol="0" anchor="ctr"/>
          <a:lstStyle/>
          <a:p>
            <a:pPr indent="0" marL="0">
              <a:buNone/>
            </a:pPr>
            <a:r>
              <a:rPr lang="en-US" sz="1150" b="1" dirty="0">
                <a:solidFill>
                  <a:srgbClr val="767D88"/>
                </a:solidFill>
                <a:latin typeface="Apple SD Gothic Neo" pitchFamily="34" charset="0"/>
                <a:ea typeface="Apple SD Gothic Neo" pitchFamily="34" charset="-122"/>
                <a:cs typeface="Apple SD Gothic Neo" pitchFamily="34" charset="-120"/>
              </a:rPr>
              <a:t>9월 · 준비 (완료)</a:t>
            </a:r>
            <a:endParaRPr lang="en-US" sz="1150" dirty="0"/>
          </a:p>
        </p:txBody>
      </p:sp>
      <p:sp>
        <p:nvSpPr>
          <p:cNvPr id="50" name="Text 47"/>
          <p:cNvSpPr txBox="1"/>
          <p:nvPr/>
        </p:nvSpPr>
        <p:spPr>
          <a:xfrm>
            <a:off x="676656" y="2043684"/>
            <a:ext cx="2889504" cy="193853"/>
          </a:xfrm>
          <a:prstGeom prst="rect">
            <a:avLst/>
          </a:prstGeom>
          <a:noFill/>
          <a:ln/>
        </p:spPr>
        <p:txBody>
          <a:bodyPr wrap="square" lIns="0" tIns="0" rIns="0" bIns="0" rtlCol="0" anchor="ctr"/>
          <a:lstStyle/>
          <a:p>
            <a:pPr indent="0" marL="0">
              <a:buNone/>
            </a:pPr>
            <a:r>
              <a:rPr lang="en-US" sz="1050" dirty="0">
                <a:solidFill>
                  <a:srgbClr val="767D88"/>
                </a:solidFill>
                <a:latin typeface="Apple SD Gothic Neo" pitchFamily="34" charset="0"/>
                <a:ea typeface="Apple SD Gothic Neo" pitchFamily="34" charset="-122"/>
                <a:cs typeface="Apple SD Gothic Neo" pitchFamily="34" charset="-120"/>
              </a:rPr>
              <a:t>설계 · 회로도 · 부품 목록 · 게임 기획</a:t>
            </a:r>
            <a:endParaRPr lang="en-US" sz="1050" dirty="0"/>
          </a:p>
        </p:txBody>
      </p:sp>
      <p:sp>
        <p:nvSpPr>
          <p:cNvPr id="51" name="Shape 48"/>
          <p:cNvSpPr/>
          <p:nvPr/>
        </p:nvSpPr>
        <p:spPr>
          <a:xfrm>
            <a:off x="3680460" y="2093976"/>
            <a:ext cx="1950644" cy="93269"/>
          </a:xfrm>
          <a:prstGeom prst="roundRect">
            <a:avLst>
              <a:gd name="adj" fmla="val 39216"/>
            </a:avLst>
          </a:prstGeom>
          <a:solidFill>
            <a:srgbClr val="AEB3BB"/>
          </a:solidFill>
          <a:ln w="12700">
            <a:solidFill>
              <a:srgbClr val="AEB3BB"/>
            </a:solidFill>
            <a:prstDash val="solid"/>
          </a:ln>
        </p:spPr>
      </p:sp>
      <p:sp>
        <p:nvSpPr>
          <p:cNvPr id="52" name="Text 49"/>
          <p:cNvSpPr txBox="1"/>
          <p:nvPr/>
        </p:nvSpPr>
        <p:spPr>
          <a:xfrm>
            <a:off x="5704256" y="2061972"/>
            <a:ext cx="2871216"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W1 건반 · 본체, 회로도 9장, 시편 STL 34개, 구매 68품목</a:t>
            </a:r>
            <a:endParaRPr lang="en-US" sz="850" dirty="0"/>
          </a:p>
        </p:txBody>
      </p:sp>
      <p:sp>
        <p:nvSpPr>
          <p:cNvPr id="53" name="Text 50"/>
          <p:cNvSpPr txBox="1"/>
          <p:nvPr/>
        </p:nvSpPr>
        <p:spPr>
          <a:xfrm>
            <a:off x="548640" y="2255825"/>
            <a:ext cx="11002975" cy="196596"/>
          </a:xfrm>
          <a:prstGeom prst="rect">
            <a:avLst/>
          </a:prstGeom>
          <a:noFill/>
          <a:ln/>
        </p:spPr>
        <p:txBody>
          <a:bodyPr wrap="square" lIns="0" tIns="0" rIns="0" bIns="0" rtlCol="0" anchor="ctr"/>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1단계 · 피아노 — 프린터 1대, 하루 약 11~13시간 출력 기준</a:t>
            </a:r>
            <a:endParaRPr lang="en-US" sz="1150" dirty="0"/>
          </a:p>
        </p:txBody>
      </p:sp>
      <p:sp>
        <p:nvSpPr>
          <p:cNvPr id="54" name="Text 51"/>
          <p:cNvSpPr txBox="1"/>
          <p:nvPr/>
        </p:nvSpPr>
        <p:spPr>
          <a:xfrm>
            <a:off x="676656" y="2452421"/>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프린터 결정 · 부품 주문</a:t>
            </a:r>
            <a:endParaRPr lang="en-US" sz="1050" dirty="0"/>
          </a:p>
        </p:txBody>
      </p:sp>
      <p:sp>
        <p:nvSpPr>
          <p:cNvPr id="55" name="Shape 52"/>
          <p:cNvSpPr/>
          <p:nvPr/>
        </p:nvSpPr>
        <p:spPr>
          <a:xfrm>
            <a:off x="5676824" y="2502713"/>
            <a:ext cx="453371" cy="93269"/>
          </a:xfrm>
          <a:prstGeom prst="roundRect">
            <a:avLst>
              <a:gd name="adj" fmla="val 39216"/>
            </a:avLst>
          </a:prstGeom>
          <a:solidFill>
            <a:srgbClr val="16181D"/>
          </a:solidFill>
          <a:ln w="12700">
            <a:solidFill>
              <a:srgbClr val="16181D"/>
            </a:solidFill>
            <a:prstDash val="solid"/>
          </a:ln>
        </p:spPr>
      </p:sp>
      <p:sp>
        <p:nvSpPr>
          <p:cNvPr id="56" name="Text 53"/>
          <p:cNvSpPr txBox="1"/>
          <p:nvPr/>
        </p:nvSpPr>
        <p:spPr>
          <a:xfrm>
            <a:off x="6203347" y="2470709"/>
            <a:ext cx="3429914"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9/30 68품목 확정 · 주문 (10/5 · 10/9 택배 휴무) · Pi 5 납기 확인</a:t>
            </a:r>
            <a:endParaRPr lang="en-US" sz="850" dirty="0"/>
          </a:p>
        </p:txBody>
      </p:sp>
      <p:sp>
        <p:nvSpPr>
          <p:cNvPr id="57" name="Text 54"/>
          <p:cNvSpPr txBox="1"/>
          <p:nvPr/>
        </p:nvSpPr>
        <p:spPr>
          <a:xfrm>
            <a:off x="676656" y="2646274"/>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출력용 3D 모델 (STL)</a:t>
            </a:r>
            <a:endParaRPr lang="en-US" sz="1050" dirty="0"/>
          </a:p>
        </p:txBody>
      </p:sp>
      <p:sp>
        <p:nvSpPr>
          <p:cNvPr id="58" name="Shape 55"/>
          <p:cNvSpPr/>
          <p:nvPr/>
        </p:nvSpPr>
        <p:spPr>
          <a:xfrm>
            <a:off x="5676824" y="2696566"/>
            <a:ext cx="1451553" cy="93269"/>
          </a:xfrm>
          <a:prstGeom prst="roundRect">
            <a:avLst>
              <a:gd name="adj" fmla="val 39216"/>
            </a:avLst>
          </a:prstGeom>
          <a:solidFill>
            <a:srgbClr val="16181D"/>
          </a:solidFill>
          <a:ln w="12700">
            <a:solidFill>
              <a:srgbClr val="16181D"/>
            </a:solidFill>
            <a:prstDash val="solid"/>
          </a:ln>
        </p:spPr>
      </p:sp>
      <p:sp>
        <p:nvSpPr>
          <p:cNvPr id="59" name="Text 56"/>
          <p:cNvSpPr txBox="1"/>
          <p:nvPr/>
        </p:nvSpPr>
        <p:spPr>
          <a:xfrm>
            <a:off x="7201529" y="2664562"/>
            <a:ext cx="2071116"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시편 · 공구 완료 → 모듈 · 끝 부속 · 본체</a:t>
            </a:r>
            <a:endParaRPr lang="en-US" sz="850" dirty="0"/>
          </a:p>
        </p:txBody>
      </p:sp>
      <p:sp>
        <p:nvSpPr>
          <p:cNvPr id="60" name="Text 57"/>
          <p:cNvSpPr txBox="1"/>
          <p:nvPr/>
        </p:nvSpPr>
        <p:spPr>
          <a:xfrm>
            <a:off x="676656" y="2840126"/>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단계 0 재료 시험</a:t>
            </a:r>
            <a:endParaRPr lang="en-US" sz="1050" dirty="0"/>
          </a:p>
        </p:txBody>
      </p:sp>
      <p:sp>
        <p:nvSpPr>
          <p:cNvPr id="61" name="Shape 58"/>
          <p:cNvSpPr/>
          <p:nvPr/>
        </p:nvSpPr>
        <p:spPr>
          <a:xfrm>
            <a:off x="6675006" y="2890418"/>
            <a:ext cx="1950644" cy="93269"/>
          </a:xfrm>
          <a:prstGeom prst="roundRect">
            <a:avLst>
              <a:gd name="adj" fmla="val 39216"/>
            </a:avLst>
          </a:prstGeom>
          <a:solidFill>
            <a:srgbClr val="16181D"/>
          </a:solidFill>
          <a:ln w="12700">
            <a:solidFill>
              <a:srgbClr val="16181D"/>
            </a:solidFill>
            <a:prstDash val="solid"/>
          </a:ln>
        </p:spPr>
      </p:sp>
      <p:sp>
        <p:nvSpPr>
          <p:cNvPr id="62" name="Text 59"/>
          <p:cNvSpPr txBox="1"/>
          <p:nvPr/>
        </p:nvSpPr>
        <p:spPr>
          <a:xfrm>
            <a:off x="8698802" y="2858414"/>
            <a:ext cx="2335378"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시편 34개 · 21가지 시험 (9가지는 첫 모듈로)</a:t>
            </a:r>
            <a:endParaRPr lang="en-US" sz="850" dirty="0"/>
          </a:p>
        </p:txBody>
      </p:sp>
      <p:sp>
        <p:nvSpPr>
          <p:cNvPr id="63" name="Text 60"/>
          <p:cNvSpPr txBox="1"/>
          <p:nvPr/>
        </p:nvSpPr>
        <p:spPr>
          <a:xfrm>
            <a:off x="676656" y="3033979"/>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1옥타브 시제품 → 첫 소리</a:t>
            </a:r>
            <a:endParaRPr lang="en-US" sz="1050" dirty="0"/>
          </a:p>
        </p:txBody>
      </p:sp>
      <p:sp>
        <p:nvSpPr>
          <p:cNvPr id="64" name="Shape 61"/>
          <p:cNvSpPr/>
          <p:nvPr/>
        </p:nvSpPr>
        <p:spPr>
          <a:xfrm>
            <a:off x="7174097" y="3084271"/>
            <a:ext cx="1451553" cy="93269"/>
          </a:xfrm>
          <a:prstGeom prst="roundRect">
            <a:avLst>
              <a:gd name="adj" fmla="val 39216"/>
            </a:avLst>
          </a:prstGeom>
          <a:solidFill>
            <a:srgbClr val="16181D"/>
          </a:solidFill>
          <a:ln w="12700">
            <a:solidFill>
              <a:srgbClr val="16181D"/>
            </a:solidFill>
            <a:prstDash val="solid"/>
          </a:ln>
        </p:spPr>
      </p:sp>
      <p:sp>
        <p:nvSpPr>
          <p:cNvPr id="65" name="Text 62"/>
          <p:cNvSpPr txBox="1"/>
          <p:nvPr/>
        </p:nvSpPr>
        <p:spPr>
          <a:xfrm>
            <a:off x="8808530" y="3052267"/>
            <a:ext cx="2074774"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O4 출력 약 47시간 · 납땜 · PC로 첫 소리</a:t>
            </a:r>
            <a:endParaRPr lang="en-US" sz="850" dirty="0"/>
          </a:p>
        </p:txBody>
      </p:sp>
      <p:sp>
        <p:nvSpPr>
          <p:cNvPr id="66" name="Shape 63"/>
          <p:cNvSpPr/>
          <p:nvPr/>
        </p:nvSpPr>
        <p:spPr>
          <a:xfrm>
            <a:off x="8547926" y="3052267"/>
            <a:ext cx="193853" cy="157277"/>
          </a:xfrm>
          <a:prstGeom prst="diamond">
            <a:avLst/>
          </a:prstGeom>
          <a:solidFill>
            <a:srgbClr val="D9482B"/>
          </a:solidFill>
          <a:ln w="12700">
            <a:solidFill>
              <a:srgbClr val="FFFFFF"/>
            </a:solidFill>
            <a:prstDash val="solid"/>
          </a:ln>
        </p:spPr>
      </p:sp>
      <p:sp>
        <p:nvSpPr>
          <p:cNvPr id="67" name="Text 64"/>
          <p:cNvSpPr txBox="1"/>
          <p:nvPr/>
        </p:nvSpPr>
        <p:spPr>
          <a:xfrm>
            <a:off x="676656" y="3227832"/>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펌웨어</a:t>
            </a:r>
            <a:endParaRPr lang="en-US" sz="1050" dirty="0"/>
          </a:p>
        </p:txBody>
      </p:sp>
      <p:sp>
        <p:nvSpPr>
          <p:cNvPr id="68" name="Shape 65"/>
          <p:cNvSpPr/>
          <p:nvPr/>
        </p:nvSpPr>
        <p:spPr>
          <a:xfrm>
            <a:off x="6175915" y="3278124"/>
            <a:ext cx="2449735" cy="93269"/>
          </a:xfrm>
          <a:prstGeom prst="roundRect">
            <a:avLst>
              <a:gd name="adj" fmla="val 39216"/>
            </a:avLst>
          </a:prstGeom>
          <a:solidFill>
            <a:srgbClr val="16181D"/>
          </a:solidFill>
          <a:ln w="12700">
            <a:solidFill>
              <a:srgbClr val="16181D"/>
            </a:solidFill>
            <a:prstDash val="solid"/>
          </a:ln>
        </p:spPr>
      </p:sp>
      <p:sp>
        <p:nvSpPr>
          <p:cNvPr id="69" name="Text 66"/>
          <p:cNvSpPr txBox="1"/>
          <p:nvPr/>
        </p:nvSpPr>
        <p:spPr>
          <a:xfrm>
            <a:off x="8698802" y="3246120"/>
            <a:ext cx="1944929"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MUX 스캔 · 세기 · 튐 거름 · USB-MIDI</a:t>
            </a:r>
            <a:endParaRPr lang="en-US" sz="850" dirty="0"/>
          </a:p>
        </p:txBody>
      </p:sp>
      <p:sp>
        <p:nvSpPr>
          <p:cNvPr id="70" name="Text 67"/>
          <p:cNvSpPr txBox="1"/>
          <p:nvPr/>
        </p:nvSpPr>
        <p:spPr>
          <a:xfrm>
            <a:off x="676656" y="3421685"/>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강철 · 봉 절단 · 스프링 · 납땜</a:t>
            </a:r>
            <a:endParaRPr lang="en-US" sz="1050" dirty="0"/>
          </a:p>
        </p:txBody>
      </p:sp>
      <p:sp>
        <p:nvSpPr>
          <p:cNvPr id="71" name="Shape 68"/>
          <p:cNvSpPr/>
          <p:nvPr/>
        </p:nvSpPr>
        <p:spPr>
          <a:xfrm>
            <a:off x="6675006" y="3471977"/>
            <a:ext cx="2948826" cy="93269"/>
          </a:xfrm>
          <a:prstGeom prst="roundRect">
            <a:avLst>
              <a:gd name="adj" fmla="val 39216"/>
            </a:avLst>
          </a:prstGeom>
          <a:solidFill>
            <a:srgbClr val="16181D"/>
          </a:solidFill>
          <a:ln w="12700">
            <a:solidFill>
              <a:srgbClr val="16181D"/>
            </a:solidFill>
            <a:prstDash val="solid"/>
          </a:ln>
        </p:spPr>
      </p:sp>
      <p:sp>
        <p:nvSpPr>
          <p:cNvPr id="72" name="Text 69"/>
          <p:cNvSpPr txBox="1"/>
          <p:nvPr/>
        </p:nvSpPr>
        <p:spPr>
          <a:xfrm>
            <a:off x="9696983" y="3439973"/>
            <a:ext cx="1776679"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강철 90 · 스프링 100 · 기판 8세트</a:t>
            </a:r>
            <a:endParaRPr lang="en-US" sz="850" dirty="0"/>
          </a:p>
        </p:txBody>
      </p:sp>
      <p:sp>
        <p:nvSpPr>
          <p:cNvPr id="73" name="Text 70"/>
          <p:cNvSpPr txBox="1"/>
          <p:nvPr/>
        </p:nvSpPr>
        <p:spPr>
          <a:xfrm>
            <a:off x="676656" y="3615538"/>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나머지 출력 (6모듈 · 끝 부속 · 예비)</a:t>
            </a:r>
            <a:endParaRPr lang="en-US" sz="1050" dirty="0"/>
          </a:p>
        </p:txBody>
      </p:sp>
      <p:sp>
        <p:nvSpPr>
          <p:cNvPr id="74" name="Shape 71"/>
          <p:cNvSpPr/>
          <p:nvPr/>
        </p:nvSpPr>
        <p:spPr>
          <a:xfrm>
            <a:off x="7673188" y="3665830"/>
            <a:ext cx="2948826" cy="93269"/>
          </a:xfrm>
          <a:prstGeom prst="roundRect">
            <a:avLst>
              <a:gd name="adj" fmla="val 39216"/>
            </a:avLst>
          </a:prstGeom>
          <a:solidFill>
            <a:srgbClr val="16181D"/>
          </a:solidFill>
          <a:ln w="12700">
            <a:solidFill>
              <a:srgbClr val="16181D"/>
            </a:solidFill>
            <a:prstDash val="solid"/>
          </a:ln>
        </p:spPr>
      </p:sp>
      <p:sp>
        <p:nvSpPr>
          <p:cNvPr id="75" name="Text 72"/>
          <p:cNvSpPr txBox="1"/>
          <p:nvPr/>
        </p:nvSpPr>
        <p:spPr>
          <a:xfrm>
            <a:off x="5068062" y="3633826"/>
            <a:ext cx="2531974"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약 380시간: 본체 · 스피커 먼저, 모듈은 11월부터</a:t>
            </a:r>
            <a:endParaRPr lang="en-US" sz="850" dirty="0"/>
          </a:p>
        </p:txBody>
      </p:sp>
      <p:sp>
        <p:nvSpPr>
          <p:cNvPr id="76" name="Text 73"/>
          <p:cNvSpPr txBox="1"/>
          <p:nvPr/>
        </p:nvSpPr>
        <p:spPr>
          <a:xfrm>
            <a:off x="676656" y="3809390"/>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모듈 조립 · 조정</a:t>
            </a:r>
            <a:endParaRPr lang="en-US" sz="1050" dirty="0"/>
          </a:p>
        </p:txBody>
      </p:sp>
      <p:sp>
        <p:nvSpPr>
          <p:cNvPr id="77" name="Shape 74"/>
          <p:cNvSpPr/>
          <p:nvPr/>
        </p:nvSpPr>
        <p:spPr>
          <a:xfrm>
            <a:off x="8671370" y="3859682"/>
            <a:ext cx="2449735" cy="93269"/>
          </a:xfrm>
          <a:prstGeom prst="roundRect">
            <a:avLst>
              <a:gd name="adj" fmla="val 39216"/>
            </a:avLst>
          </a:prstGeom>
          <a:solidFill>
            <a:srgbClr val="16181D"/>
          </a:solidFill>
          <a:ln w="12700">
            <a:solidFill>
              <a:srgbClr val="16181D"/>
            </a:solidFill>
            <a:prstDash val="solid"/>
          </a:ln>
        </p:spPr>
      </p:sp>
      <p:sp>
        <p:nvSpPr>
          <p:cNvPr id="78" name="Text 75"/>
          <p:cNvSpPr txBox="1"/>
          <p:nvPr/>
        </p:nvSpPr>
        <p:spPr>
          <a:xfrm>
            <a:off x="6644145" y="3827678"/>
            <a:ext cx="1954073"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출력되는 대로 조립 · 무게 · 높이 맞춤</a:t>
            </a:r>
            <a:endParaRPr lang="en-US" sz="850" dirty="0"/>
          </a:p>
        </p:txBody>
      </p:sp>
      <p:sp>
        <p:nvSpPr>
          <p:cNvPr id="79" name="Text 76"/>
          <p:cNvSpPr txBox="1"/>
          <p:nvPr/>
        </p:nvSpPr>
        <p:spPr>
          <a:xfrm>
            <a:off x="676656" y="4003243"/>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제어부 · 오디오 · 88건반 통합</a:t>
            </a:r>
            <a:endParaRPr lang="en-US" sz="1050" dirty="0"/>
          </a:p>
        </p:txBody>
      </p:sp>
      <p:sp>
        <p:nvSpPr>
          <p:cNvPr id="80" name="Shape 77"/>
          <p:cNvSpPr/>
          <p:nvPr/>
        </p:nvSpPr>
        <p:spPr>
          <a:xfrm>
            <a:off x="9170460" y="4053535"/>
            <a:ext cx="1950644" cy="93269"/>
          </a:xfrm>
          <a:prstGeom prst="roundRect">
            <a:avLst>
              <a:gd name="adj" fmla="val 39216"/>
            </a:avLst>
          </a:prstGeom>
          <a:solidFill>
            <a:srgbClr val="16181D"/>
          </a:solidFill>
          <a:ln w="12700">
            <a:solidFill>
              <a:srgbClr val="16181D"/>
            </a:solidFill>
            <a:prstDash val="solid"/>
          </a:ln>
        </p:spPr>
      </p:sp>
      <p:sp>
        <p:nvSpPr>
          <p:cNvPr id="81" name="Text 78"/>
          <p:cNvSpPr txBox="1"/>
          <p:nvPr/>
        </p:nvSpPr>
        <p:spPr>
          <a:xfrm>
            <a:off x="7060940" y="4021531"/>
            <a:ext cx="2036369"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합판 상자 · 전원 · 스피커 · 소리 테스트</a:t>
            </a:r>
            <a:endParaRPr lang="en-US" sz="850" dirty="0"/>
          </a:p>
        </p:txBody>
      </p:sp>
      <p:sp>
        <p:nvSpPr>
          <p:cNvPr id="82" name="Shape 79"/>
          <p:cNvSpPr/>
          <p:nvPr/>
        </p:nvSpPr>
        <p:spPr>
          <a:xfrm>
            <a:off x="11043380" y="4021531"/>
            <a:ext cx="193853" cy="157277"/>
          </a:xfrm>
          <a:prstGeom prst="diamond">
            <a:avLst/>
          </a:prstGeom>
          <a:solidFill>
            <a:srgbClr val="D9482B"/>
          </a:solidFill>
          <a:ln w="12700">
            <a:solidFill>
              <a:srgbClr val="FFFFFF"/>
            </a:solidFill>
            <a:prstDash val="solid"/>
          </a:ln>
        </p:spPr>
      </p:sp>
      <p:sp>
        <p:nvSpPr>
          <p:cNvPr id="83" name="Text 80"/>
          <p:cNvSpPr txBox="1"/>
          <p:nvPr/>
        </p:nvSpPr>
        <p:spPr>
          <a:xfrm>
            <a:off x="548640" y="4215384"/>
            <a:ext cx="11002975" cy="196596"/>
          </a:xfrm>
          <a:prstGeom prst="rect">
            <a:avLst/>
          </a:prstGeom>
          <a:noFill/>
          <a:ln/>
        </p:spPr>
        <p:txBody>
          <a:bodyPr wrap="square" lIns="0" tIns="0" rIns="0" bIns="0" rtlCol="0" anchor="ctr"/>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2단계 · 리듬게임 Toccata</a:t>
            </a:r>
            <a:endParaRPr lang="en-US" sz="1150" dirty="0"/>
          </a:p>
        </p:txBody>
      </p:sp>
      <p:sp>
        <p:nvSpPr>
          <p:cNvPr id="84" name="Text 81"/>
          <p:cNvSpPr txBox="1"/>
          <p:nvPr/>
        </p:nvSpPr>
        <p:spPr>
          <a:xfrm>
            <a:off x="676656" y="4411980"/>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입력 · 판정 기본 (PC)</a:t>
            </a:r>
            <a:endParaRPr lang="en-US" sz="1050" dirty="0"/>
          </a:p>
        </p:txBody>
      </p:sp>
      <p:sp>
        <p:nvSpPr>
          <p:cNvPr id="85" name="Shape 82"/>
          <p:cNvSpPr/>
          <p:nvPr/>
        </p:nvSpPr>
        <p:spPr>
          <a:xfrm>
            <a:off x="6175915" y="4462272"/>
            <a:ext cx="1950644" cy="93269"/>
          </a:xfrm>
          <a:prstGeom prst="roundRect">
            <a:avLst>
              <a:gd name="adj" fmla="val 39216"/>
            </a:avLst>
          </a:prstGeom>
          <a:solidFill>
            <a:srgbClr val="D9482B"/>
          </a:solidFill>
          <a:ln w="12700">
            <a:solidFill>
              <a:srgbClr val="D9482B"/>
            </a:solidFill>
            <a:prstDash val="solid"/>
          </a:ln>
        </p:spPr>
      </p:sp>
      <p:sp>
        <p:nvSpPr>
          <p:cNvPr id="86" name="Text 83"/>
          <p:cNvSpPr txBox="1"/>
          <p:nvPr/>
        </p:nvSpPr>
        <p:spPr>
          <a:xfrm>
            <a:off x="8199711" y="4430268"/>
            <a:ext cx="1792224"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12레인 탭 · 홀드 · 판정 · 리플레이</a:t>
            </a:r>
            <a:endParaRPr lang="en-US" sz="850" dirty="0"/>
          </a:p>
        </p:txBody>
      </p:sp>
      <p:sp>
        <p:nvSpPr>
          <p:cNvPr id="87" name="Text 84"/>
          <p:cNvSpPr txBox="1"/>
          <p:nvPr/>
        </p:nvSpPr>
        <p:spPr>
          <a:xfrm>
            <a:off x="676656" y="4605833"/>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1옥타브 연동 · 핵심 루프</a:t>
            </a:r>
            <a:endParaRPr lang="en-US" sz="1050" dirty="0"/>
          </a:p>
        </p:txBody>
      </p:sp>
      <p:sp>
        <p:nvSpPr>
          <p:cNvPr id="88" name="Shape 85"/>
          <p:cNvSpPr/>
          <p:nvPr/>
        </p:nvSpPr>
        <p:spPr>
          <a:xfrm>
            <a:off x="8172279" y="4656125"/>
            <a:ext cx="1451553" cy="93269"/>
          </a:xfrm>
          <a:prstGeom prst="roundRect">
            <a:avLst>
              <a:gd name="adj" fmla="val 39216"/>
            </a:avLst>
          </a:prstGeom>
          <a:solidFill>
            <a:srgbClr val="D9482B"/>
          </a:solidFill>
          <a:ln w="12700">
            <a:solidFill>
              <a:srgbClr val="D9482B"/>
            </a:solidFill>
            <a:prstDash val="solid"/>
          </a:ln>
        </p:spPr>
      </p:sp>
      <p:sp>
        <p:nvSpPr>
          <p:cNvPr id="89" name="Text 86"/>
          <p:cNvSpPr txBox="1"/>
          <p:nvPr/>
        </p:nvSpPr>
        <p:spPr>
          <a:xfrm>
            <a:off x="9696983" y="4624121"/>
            <a:ext cx="1522476"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지연 · 세기 측정, 흑현 · 강약</a:t>
            </a:r>
            <a:endParaRPr lang="en-US" sz="850" dirty="0"/>
          </a:p>
        </p:txBody>
      </p:sp>
      <p:sp>
        <p:nvSpPr>
          <p:cNvPr id="90" name="Text 87"/>
          <p:cNvSpPr txBox="1"/>
          <p:nvPr/>
        </p:nvSpPr>
        <p:spPr>
          <a:xfrm>
            <a:off x="676656" y="4799686"/>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콘텐츠 (서장 + 1장, 곡 3~4개)</a:t>
            </a:r>
            <a:endParaRPr lang="en-US" sz="1050" dirty="0"/>
          </a:p>
        </p:txBody>
      </p:sp>
      <p:sp>
        <p:nvSpPr>
          <p:cNvPr id="91" name="Shape 88"/>
          <p:cNvSpPr/>
          <p:nvPr/>
        </p:nvSpPr>
        <p:spPr>
          <a:xfrm>
            <a:off x="7673188" y="4849978"/>
            <a:ext cx="2948826" cy="93269"/>
          </a:xfrm>
          <a:prstGeom prst="roundRect">
            <a:avLst>
              <a:gd name="adj" fmla="val 39216"/>
            </a:avLst>
          </a:prstGeom>
          <a:solidFill>
            <a:srgbClr val="D9482B"/>
          </a:solidFill>
          <a:ln w="12700">
            <a:solidFill>
              <a:srgbClr val="D9482B"/>
            </a:solidFill>
            <a:prstDash val="solid"/>
          </a:ln>
        </p:spPr>
      </p:sp>
      <p:sp>
        <p:nvSpPr>
          <p:cNvPr id="92" name="Text 89"/>
          <p:cNvSpPr txBox="1"/>
          <p:nvPr/>
        </p:nvSpPr>
        <p:spPr>
          <a:xfrm>
            <a:off x="6375654" y="4817974"/>
            <a:ext cx="1224382"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화면 · 연출 · 결과 화면</a:t>
            </a:r>
            <a:endParaRPr lang="en-US" sz="850" dirty="0"/>
          </a:p>
        </p:txBody>
      </p:sp>
      <p:sp>
        <p:nvSpPr>
          <p:cNvPr id="93" name="Text 90"/>
          <p:cNvSpPr txBox="1"/>
          <p:nvPr/>
        </p:nvSpPr>
        <p:spPr>
          <a:xfrm>
            <a:off x="676656" y="4993538"/>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Pi 5 이식 · 시연 준비</a:t>
            </a:r>
            <a:endParaRPr lang="en-US" sz="1050" dirty="0"/>
          </a:p>
        </p:txBody>
      </p:sp>
      <p:sp>
        <p:nvSpPr>
          <p:cNvPr id="94" name="Shape 91"/>
          <p:cNvSpPr/>
          <p:nvPr/>
        </p:nvSpPr>
        <p:spPr>
          <a:xfrm>
            <a:off x="10168642" y="5043830"/>
            <a:ext cx="952462" cy="93269"/>
          </a:xfrm>
          <a:prstGeom prst="roundRect">
            <a:avLst>
              <a:gd name="adj" fmla="val 39216"/>
            </a:avLst>
          </a:prstGeom>
          <a:solidFill>
            <a:srgbClr val="D9482B"/>
          </a:solidFill>
          <a:ln w="12700">
            <a:solidFill>
              <a:srgbClr val="D9482B"/>
            </a:solidFill>
            <a:prstDash val="solid"/>
          </a:ln>
        </p:spPr>
      </p:sp>
      <p:sp>
        <p:nvSpPr>
          <p:cNvPr id="95" name="Text 92"/>
          <p:cNvSpPr txBox="1"/>
          <p:nvPr/>
        </p:nvSpPr>
        <p:spPr>
          <a:xfrm>
            <a:off x="8677256" y="5011826"/>
            <a:ext cx="1418234"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60 fps · 반주 중 지연 확인</a:t>
            </a:r>
            <a:endParaRPr lang="en-US" sz="850" dirty="0"/>
          </a:p>
        </p:txBody>
      </p:sp>
      <p:sp>
        <p:nvSpPr>
          <p:cNvPr id="96" name="Shape 93"/>
          <p:cNvSpPr/>
          <p:nvPr/>
        </p:nvSpPr>
        <p:spPr>
          <a:xfrm>
            <a:off x="11043380" y="5011826"/>
            <a:ext cx="193853" cy="157277"/>
          </a:xfrm>
          <a:prstGeom prst="diamond">
            <a:avLst/>
          </a:prstGeom>
          <a:solidFill>
            <a:srgbClr val="D9482B"/>
          </a:solidFill>
          <a:ln w="12700">
            <a:solidFill>
              <a:srgbClr val="FFFFFF"/>
            </a:solidFill>
            <a:prstDash val="solid"/>
          </a:ln>
        </p:spPr>
      </p:sp>
      <p:sp>
        <p:nvSpPr>
          <p:cNvPr id="97" name="Text 94"/>
          <p:cNvSpPr txBox="1"/>
          <p:nvPr/>
        </p:nvSpPr>
        <p:spPr>
          <a:xfrm>
            <a:off x="548640" y="5205679"/>
            <a:ext cx="11002975" cy="196596"/>
          </a:xfrm>
          <a:prstGeom prst="rect">
            <a:avLst/>
          </a:prstGeom>
          <a:noFill/>
          <a:ln/>
        </p:spPr>
        <p:txBody>
          <a:bodyPr wrap="square" lIns="0" tIns="0" rIns="0" bIns="0" rtlCol="0" anchor="ctr"/>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12월 · 발표</a:t>
            </a:r>
            <a:endParaRPr lang="en-US" sz="1150" dirty="0"/>
          </a:p>
        </p:txBody>
      </p:sp>
      <p:sp>
        <p:nvSpPr>
          <p:cNvPr id="98" name="Text 95"/>
          <p:cNvSpPr txBox="1"/>
          <p:nvPr/>
        </p:nvSpPr>
        <p:spPr>
          <a:xfrm>
            <a:off x="676656" y="5402275"/>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최종 발표 · 시연</a:t>
            </a:r>
            <a:endParaRPr lang="en-US" sz="1050" dirty="0"/>
          </a:p>
        </p:txBody>
      </p:sp>
      <p:sp>
        <p:nvSpPr>
          <p:cNvPr id="99" name="Shape 96"/>
          <p:cNvSpPr/>
          <p:nvPr/>
        </p:nvSpPr>
        <p:spPr>
          <a:xfrm>
            <a:off x="11166824" y="5452567"/>
            <a:ext cx="453371" cy="93269"/>
          </a:xfrm>
          <a:prstGeom prst="roundRect">
            <a:avLst>
              <a:gd name="adj" fmla="val 39216"/>
            </a:avLst>
          </a:prstGeom>
          <a:solidFill>
            <a:srgbClr val="444A54"/>
          </a:solidFill>
          <a:ln w="12700">
            <a:solidFill>
              <a:srgbClr val="444A54"/>
            </a:solidFill>
            <a:prstDash val="solid"/>
          </a:ln>
        </p:spPr>
      </p:sp>
      <p:sp>
        <p:nvSpPr>
          <p:cNvPr id="100" name="Text 97"/>
          <p:cNvSpPr txBox="1"/>
          <p:nvPr/>
        </p:nvSpPr>
        <p:spPr>
          <a:xfrm>
            <a:off x="9811683" y="5420563"/>
            <a:ext cx="1281989"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88건반 연주 + 게임 시연</a:t>
            </a:r>
            <a:endParaRPr lang="en-US" sz="850" dirty="0"/>
          </a:p>
        </p:txBody>
      </p:sp>
      <p:sp>
        <p:nvSpPr>
          <p:cNvPr id="101" name="Shape 98"/>
          <p:cNvSpPr/>
          <p:nvPr/>
        </p:nvSpPr>
        <p:spPr>
          <a:xfrm>
            <a:off x="11430914" y="5420563"/>
            <a:ext cx="193853" cy="157277"/>
          </a:xfrm>
          <a:prstGeom prst="diamond">
            <a:avLst/>
          </a:prstGeom>
          <a:solidFill>
            <a:srgbClr val="D9482B"/>
          </a:solidFill>
          <a:ln w="12700">
            <a:solidFill>
              <a:srgbClr val="FFFFFF"/>
            </a:solidFill>
            <a:prstDash val="solid"/>
          </a:ln>
        </p:spPr>
      </p:sp>
      <p:sp>
        <p:nvSpPr>
          <p:cNvPr id="102" name="Shape 99"/>
          <p:cNvSpPr/>
          <p:nvPr/>
        </p:nvSpPr>
        <p:spPr>
          <a:xfrm>
            <a:off x="548640" y="5815584"/>
            <a:ext cx="5455768" cy="566928"/>
          </a:xfrm>
          <a:prstGeom prst="roundRect">
            <a:avLst>
              <a:gd name="adj" fmla="val 9677"/>
            </a:avLst>
          </a:prstGeom>
          <a:solidFill>
            <a:srgbClr val="F3F4F6"/>
          </a:solidFill>
          <a:ln w="12700">
            <a:solidFill>
              <a:srgbClr val="F3F4F6"/>
            </a:solidFill>
            <a:prstDash val="solid"/>
          </a:ln>
        </p:spPr>
      </p:sp>
      <p:sp>
        <p:nvSpPr>
          <p:cNvPr id="103" name="Text 100"/>
          <p:cNvSpPr txBox="1"/>
          <p:nvPr/>
        </p:nvSpPr>
        <p:spPr>
          <a:xfrm>
            <a:off x="731520" y="5870448"/>
            <a:ext cx="5090008" cy="237744"/>
          </a:xfrm>
          <a:prstGeom prst="rect">
            <a:avLst/>
          </a:prstGeom>
          <a:noFill/>
          <a:ln/>
        </p:spPr>
        <p:txBody>
          <a:bodyPr wrap="square" lIns="0" tIns="0" rIns="0" bIns="0" rtlCol="0" anchor="t"/>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12월 결과물 ① 88건반 디지털 피아노</a:t>
            </a:r>
            <a:endParaRPr lang="en-US" sz="1150" dirty="0"/>
          </a:p>
        </p:txBody>
      </p:sp>
      <p:sp>
        <p:nvSpPr>
          <p:cNvPr id="104" name="Text 101"/>
          <p:cNvSpPr txBox="1"/>
          <p:nvPr/>
        </p:nvSpPr>
        <p:spPr>
          <a:xfrm>
            <a:off x="731520" y="6108192"/>
            <a:ext cx="5090008" cy="237744"/>
          </a:xfrm>
          <a:prstGeom prst="rect">
            <a:avLst/>
          </a:prstGeom>
          <a:noFill/>
          <a:ln/>
        </p:spPr>
        <p:txBody>
          <a:bodyPr wrap="square" lIns="0" tIns="0" rIns="0" bIns="0" rtlCol="0" anchor="t"/>
          <a:lstStyle/>
          <a:p>
            <a:pPr indent="0" marL="0">
              <a:buNone/>
            </a:pPr>
            <a:r>
              <a:rPr lang="en-US" sz="950" dirty="0">
                <a:solidFill>
                  <a:srgbClr val="444A54"/>
                </a:solidFill>
                <a:latin typeface="Apple SD Gothic Neo" pitchFamily="34" charset="0"/>
                <a:ea typeface="Apple SD Gothic Neo" pitchFamily="34" charset="-122"/>
                <a:cs typeface="Apple SD Gothic Neo" pitchFamily="34" charset="-120"/>
              </a:rPr>
              <a:t>시소 건반 + 무게 레버 · 누르는 세기 · 댐퍼 페달 · 내장 스피커 · 보조배터리, 누르고 10 ms 안에 소리</a:t>
            </a:r>
            <a:endParaRPr lang="en-US" sz="950" dirty="0"/>
          </a:p>
        </p:txBody>
      </p:sp>
      <p:sp>
        <p:nvSpPr>
          <p:cNvPr id="105" name="Shape 102"/>
          <p:cNvSpPr/>
          <p:nvPr/>
        </p:nvSpPr>
        <p:spPr>
          <a:xfrm>
            <a:off x="6187288" y="5815584"/>
            <a:ext cx="5455768" cy="566928"/>
          </a:xfrm>
          <a:prstGeom prst="roundRect">
            <a:avLst>
              <a:gd name="adj" fmla="val 9677"/>
            </a:avLst>
          </a:prstGeom>
          <a:solidFill>
            <a:srgbClr val="FBE9E4"/>
          </a:solidFill>
          <a:ln w="12700">
            <a:solidFill>
              <a:srgbClr val="FBE9E4"/>
            </a:solidFill>
            <a:prstDash val="solid"/>
          </a:ln>
        </p:spPr>
      </p:sp>
      <p:sp>
        <p:nvSpPr>
          <p:cNvPr id="106" name="Text 103"/>
          <p:cNvSpPr txBox="1"/>
          <p:nvPr/>
        </p:nvSpPr>
        <p:spPr>
          <a:xfrm>
            <a:off x="6370168" y="5870448"/>
            <a:ext cx="5090008" cy="237744"/>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12월 결과물 ② 리듬게임 Toccata MVP</a:t>
            </a:r>
            <a:endParaRPr lang="en-US" sz="1150" dirty="0"/>
          </a:p>
        </p:txBody>
      </p:sp>
      <p:sp>
        <p:nvSpPr>
          <p:cNvPr id="107" name="Text 104"/>
          <p:cNvSpPr txBox="1"/>
          <p:nvPr/>
        </p:nvSpPr>
        <p:spPr>
          <a:xfrm>
            <a:off x="6370168" y="6108192"/>
            <a:ext cx="5090008" cy="237744"/>
          </a:xfrm>
          <a:prstGeom prst="rect">
            <a:avLst/>
          </a:prstGeom>
          <a:noFill/>
          <a:ln/>
        </p:spPr>
        <p:txBody>
          <a:bodyPr wrap="square" lIns="0" tIns="0" rIns="0" bIns="0" rtlCol="0" anchor="t"/>
          <a:lstStyle/>
          <a:p>
            <a:pPr indent="0" marL="0">
              <a:buNone/>
            </a:pPr>
            <a:r>
              <a:rPr lang="en-US" sz="950" dirty="0">
                <a:solidFill>
                  <a:srgbClr val="444A54"/>
                </a:solidFill>
                <a:latin typeface="Apple SD Gothic Neo" pitchFamily="34" charset="0"/>
                <a:ea typeface="Apple SD Gothic Neo" pitchFamily="34" charset="-122"/>
                <a:cs typeface="Apple SD Gothic Neo" pitchFamily="34" charset="-120"/>
              </a:rPr>
              <a:t>서장 + 1장 (곡 3~4개): 탭 · 홀드 · 흑건 위쪽 줄 · 강약 — 88레인 · 채보 도구는 다음 단계</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5">
    <p:bg>
      <p:bgPr>
        <a:solidFill>
          <a:srgbClr val="121317"/>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7315200" cy="914400"/>
          </a:xfrm>
          <a:prstGeom prst="rect">
            <a:avLst/>
          </a:prstGeom>
          <a:noFill/>
          <a:ln/>
        </p:spPr>
        <p:txBody>
          <a:bodyPr wrap="square" lIns="0" tIns="0" rIns="0" bIns="0" rtlCol="0" anchor="ctr"/>
          <a:lstStyle/>
          <a:p>
            <a:pPr marL="0" indent="0">
              <a:buNone/>
            </a:pPr>
            <a:r>
              <a:rPr lang="en-US" sz="5400" b="1" dirty="0">
                <a:solidFill>
                  <a:srgbClr val="FFFFFF"/>
                </a:solidFill>
                <a:latin typeface="Apple SD Gothic Neo" pitchFamily="34" charset="0"/>
                <a:ea typeface="Apple SD Gothic Neo" pitchFamily="34" charset="-122"/>
                <a:cs typeface="Apple SD Gothic Neo" pitchFamily="34" charset="-120"/>
              </a:rPr>
              <a:t>Toccata</a:t>
            </a:r>
            <a:endParaRPr lang="en-US" sz="5400" dirty="0"/>
          </a:p>
        </p:txBody>
      </p:sp>
      <p:sp>
        <p:nvSpPr>
          <p:cNvPr id="3" name="Text 1"/>
          <p:cNvSpPr txBox="1"/>
          <p:nvPr/>
        </p:nvSpPr>
        <p:spPr>
          <a:xfrm>
            <a:off x="548640" y="1783080"/>
            <a:ext cx="10972800" cy="502920"/>
          </a:xfrm>
          <a:prstGeom prst="rect">
            <a:avLst/>
          </a:prstGeom>
          <a:noFill/>
          <a:ln/>
        </p:spPr>
        <p:txBody>
          <a:bodyPr wrap="square" lIns="0" tIns="0" rIns="0" bIns="0" rtlCol="0" anchor="t"/>
          <a:lstStyle/>
          <a:p>
            <a:pPr marL="0" indent="0">
              <a:buNone/>
            </a:pPr>
            <a:r>
              <a:rPr lang="en-US" sz="2200" dirty="0">
                <a:solidFill>
                  <a:srgbClr val="FFFFFF"/>
                </a:solidFill>
                <a:latin typeface="Apple SD Gothic Neo" pitchFamily="34" charset="0"/>
                <a:ea typeface="Apple SD Gothic Neo" pitchFamily="34" charset="-122"/>
                <a:cs typeface="Apple SD Gothic Neo" pitchFamily="34" charset="-120"/>
              </a:rPr>
              <a:t>피아노로 만들고, 피아노로 논다</a:t>
            </a:r>
            <a:endParaRPr lang="en-US" sz="2200" dirty="0"/>
          </a:p>
        </p:txBody>
      </p:sp>
      <p:sp>
        <p:nvSpPr>
          <p:cNvPr id="4" name="Shape 2"/>
          <p:cNvSpPr/>
          <p:nvPr/>
        </p:nvSpPr>
        <p:spPr>
          <a:xfrm>
            <a:off x="548640"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5" name="Text 3"/>
          <p:cNvSpPr txBox="1"/>
          <p:nvPr/>
        </p:nvSpPr>
        <p:spPr>
          <a:xfrm>
            <a:off x="731520" y="2788920"/>
            <a:ext cx="2202104" cy="347472"/>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단계 0 재료 시험</a:t>
            </a:r>
            <a:endParaRPr lang="en-US" sz="1400" dirty="0"/>
          </a:p>
        </p:txBody>
      </p:sp>
      <p:sp>
        <p:nvSpPr>
          <p:cNvPr id="6" name="Text 4"/>
          <p:cNvSpPr txBox="1"/>
          <p:nvPr/>
        </p:nvSpPr>
        <p:spPr>
          <a:xfrm>
            <a:off x="731520"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패드 · 스냅 노치 · 스프링 · 접착</a:t>
            </a:r>
            <a:endParaRPr lang="en-US" sz="1150" dirty="0"/>
          </a:p>
        </p:txBody>
      </p:sp>
      <p:sp>
        <p:nvSpPr>
          <p:cNvPr id="7" name="Shape 5"/>
          <p:cNvSpPr/>
          <p:nvPr/>
        </p:nvSpPr>
        <p:spPr>
          <a:xfrm>
            <a:off x="3153080" y="3154680"/>
            <a:ext cx="201168" cy="0"/>
          </a:xfrm>
          <a:prstGeom prst="line">
            <a:avLst/>
          </a:prstGeom>
          <a:noFill/>
          <a:ln w="15875">
            <a:solidFill>
              <a:srgbClr val="B9BEC7"/>
            </a:solidFill>
            <a:prstDash val="solid"/>
            <a:tailEnd type="triangle"/>
          </a:ln>
        </p:spPr>
        <p:txBody>
          <a:bodyPr/>
          <a:lstStyle/>
          <a:p>
            <a:endParaRPr lang="en-KR"/>
          </a:p>
        </p:txBody>
      </p:sp>
      <p:sp>
        <p:nvSpPr>
          <p:cNvPr id="8" name="Shape 6"/>
          <p:cNvSpPr/>
          <p:nvPr/>
        </p:nvSpPr>
        <p:spPr>
          <a:xfrm>
            <a:off x="3390824"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9" name="Text 7"/>
          <p:cNvSpPr txBox="1"/>
          <p:nvPr/>
        </p:nvSpPr>
        <p:spPr>
          <a:xfrm>
            <a:off x="3573704" y="2788920"/>
            <a:ext cx="2202104" cy="347472"/>
          </a:xfrm>
          <a:prstGeom prst="rect">
            <a:avLst/>
          </a:prstGeom>
          <a:noFill/>
          <a:ln/>
        </p:spPr>
        <p:txBody>
          <a:bodyPr wrap="square" lIns="0" tIns="0" rIns="0" bIns="0" rtlCol="0" anchor="t"/>
          <a:lstStyle/>
          <a:p>
            <a:pPr marL="0" indent="0">
              <a:buNone/>
            </a:pPr>
            <a:r>
              <a:rPr lang="en-US" sz="1400" b="1" dirty="0">
                <a:solidFill>
                  <a:srgbClr val="FFFFFF"/>
                </a:solidFill>
                <a:latin typeface="Apple SD Gothic Neo" pitchFamily="34" charset="0"/>
                <a:ea typeface="Apple SD Gothic Neo" pitchFamily="34" charset="-122"/>
                <a:cs typeface="Apple SD Gothic Neo" pitchFamily="34" charset="-120"/>
              </a:rPr>
              <a:t>1옥타브 시제품</a:t>
            </a:r>
            <a:endParaRPr lang="en-US" sz="1400" dirty="0"/>
          </a:p>
        </p:txBody>
      </p:sp>
      <p:sp>
        <p:nvSpPr>
          <p:cNvPr id="10" name="Text 8"/>
          <p:cNvSpPr txBox="1"/>
          <p:nvPr/>
        </p:nvSpPr>
        <p:spPr>
          <a:xfrm>
            <a:off x="3573704"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PC로 첫 소리</a:t>
            </a:r>
            <a:endParaRPr lang="en-US" sz="1150" dirty="0"/>
          </a:p>
        </p:txBody>
      </p:sp>
      <p:sp>
        <p:nvSpPr>
          <p:cNvPr id="11" name="Shape 9"/>
          <p:cNvSpPr/>
          <p:nvPr/>
        </p:nvSpPr>
        <p:spPr>
          <a:xfrm>
            <a:off x="5995264" y="3154680"/>
            <a:ext cx="201168" cy="0"/>
          </a:xfrm>
          <a:prstGeom prst="line">
            <a:avLst/>
          </a:prstGeom>
          <a:noFill/>
          <a:ln w="15875">
            <a:solidFill>
              <a:srgbClr val="B9BEC7"/>
            </a:solidFill>
            <a:prstDash val="solid"/>
            <a:tailEnd type="triangle"/>
          </a:ln>
        </p:spPr>
        <p:txBody>
          <a:bodyPr/>
          <a:lstStyle/>
          <a:p>
            <a:endParaRPr lang="en-KR"/>
          </a:p>
        </p:txBody>
      </p:sp>
      <p:sp>
        <p:nvSpPr>
          <p:cNvPr id="12" name="Shape 10"/>
          <p:cNvSpPr/>
          <p:nvPr/>
        </p:nvSpPr>
        <p:spPr>
          <a:xfrm>
            <a:off x="6233008"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13" name="Text 11"/>
          <p:cNvSpPr txBox="1"/>
          <p:nvPr/>
        </p:nvSpPr>
        <p:spPr>
          <a:xfrm>
            <a:off x="6415888" y="2788920"/>
            <a:ext cx="2202104" cy="347472"/>
          </a:xfrm>
          <a:prstGeom prst="rect">
            <a:avLst/>
          </a:prstGeom>
          <a:noFill/>
          <a:ln/>
        </p:spPr>
        <p:txBody>
          <a:bodyPr wrap="square" lIns="0" tIns="0" rIns="0" bIns="0" rtlCol="0" anchor="t"/>
          <a:lstStyle/>
          <a:p>
            <a:pPr marL="0" indent="0">
              <a:buNone/>
            </a:pPr>
            <a:r>
              <a:rPr lang="en-US" sz="1400" b="1" dirty="0">
                <a:solidFill>
                  <a:srgbClr val="FFFFFF"/>
                </a:solidFill>
                <a:latin typeface="Apple SD Gothic Neo" pitchFamily="34" charset="0"/>
                <a:ea typeface="Apple SD Gothic Neo" pitchFamily="34" charset="-122"/>
                <a:cs typeface="Apple SD Gothic Neo" pitchFamily="34" charset="-120"/>
              </a:rPr>
              <a:t>88건반 완성</a:t>
            </a:r>
            <a:endParaRPr lang="en-US" sz="1400" dirty="0"/>
          </a:p>
        </p:txBody>
      </p:sp>
      <p:sp>
        <p:nvSpPr>
          <p:cNvPr id="14" name="Text 12"/>
          <p:cNvSpPr txBox="1"/>
          <p:nvPr/>
        </p:nvSpPr>
        <p:spPr>
          <a:xfrm>
            <a:off x="6415888"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스피커 · 보조배터리</a:t>
            </a:r>
            <a:endParaRPr lang="en-US" sz="1150" dirty="0"/>
          </a:p>
        </p:txBody>
      </p:sp>
      <p:sp>
        <p:nvSpPr>
          <p:cNvPr id="15" name="Shape 13"/>
          <p:cNvSpPr/>
          <p:nvPr/>
        </p:nvSpPr>
        <p:spPr>
          <a:xfrm>
            <a:off x="8837447" y="3154680"/>
            <a:ext cx="201168" cy="0"/>
          </a:xfrm>
          <a:prstGeom prst="line">
            <a:avLst/>
          </a:prstGeom>
          <a:noFill/>
          <a:ln w="15875">
            <a:solidFill>
              <a:srgbClr val="B9BEC7"/>
            </a:solidFill>
            <a:prstDash val="solid"/>
            <a:tailEnd type="triangle"/>
          </a:ln>
        </p:spPr>
        <p:txBody>
          <a:bodyPr/>
          <a:lstStyle/>
          <a:p>
            <a:endParaRPr lang="en-KR"/>
          </a:p>
        </p:txBody>
      </p:sp>
      <p:sp>
        <p:nvSpPr>
          <p:cNvPr id="16" name="Shape 14"/>
          <p:cNvSpPr/>
          <p:nvPr/>
        </p:nvSpPr>
        <p:spPr>
          <a:xfrm>
            <a:off x="9075191"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17" name="Text 15"/>
          <p:cNvSpPr txBox="1"/>
          <p:nvPr/>
        </p:nvSpPr>
        <p:spPr>
          <a:xfrm>
            <a:off x="9258071" y="2788920"/>
            <a:ext cx="2202104" cy="347472"/>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리듬게임 Toccata</a:t>
            </a:r>
            <a:endParaRPr lang="en-US" sz="1400" dirty="0"/>
          </a:p>
        </p:txBody>
      </p:sp>
      <p:sp>
        <p:nvSpPr>
          <p:cNvPr id="18" name="Text 16"/>
          <p:cNvSpPr txBox="1"/>
          <p:nvPr/>
        </p:nvSpPr>
        <p:spPr>
          <a:xfrm>
            <a:off x="9258071"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피아노를 컨트롤러로</a:t>
            </a:r>
            <a:endParaRPr lang="en-US" sz="1150" dirty="0"/>
          </a:p>
        </p:txBody>
      </p:sp>
      <p:sp>
        <p:nvSpPr>
          <p:cNvPr id="19" name="Text 17"/>
          <p:cNvSpPr txBox="1"/>
          <p:nvPr/>
        </p:nvSpPr>
        <p:spPr>
          <a:xfrm>
            <a:off x="7985455" y="868680"/>
            <a:ext cx="3657600" cy="822960"/>
          </a:xfrm>
          <a:prstGeom prst="rect">
            <a:avLst/>
          </a:prstGeom>
          <a:noFill/>
          <a:ln/>
        </p:spPr>
        <p:txBody>
          <a:bodyPr wrap="square" lIns="0" tIns="0" rIns="0" bIns="0" rtlCol="0" anchor="ctr"/>
          <a:lstStyle/>
          <a:p>
            <a:pPr marL="0" indent="0" algn="r">
              <a:buNone/>
            </a:pPr>
            <a:r>
              <a:rPr lang="en-US" sz="2800" b="1" dirty="0">
                <a:solidFill>
                  <a:srgbClr val="FFFFFF"/>
                </a:solidFill>
                <a:latin typeface="Apple SD Gothic Neo" pitchFamily="34" charset="0"/>
                <a:ea typeface="Apple SD Gothic Neo" pitchFamily="34" charset="-122"/>
                <a:cs typeface="Apple SD Gothic Neo" pitchFamily="34" charset="-120"/>
              </a:rPr>
              <a:t>감사합니다</a:t>
            </a:r>
            <a:endParaRPr lang="en-US" sz="2800" dirty="0"/>
          </a:p>
        </p:txBody>
      </p:sp>
      <p:sp>
        <p:nvSpPr>
          <p:cNvPr id="20" name="Shape 18"/>
          <p:cNvSpPr/>
          <p:nvPr/>
        </p:nvSpPr>
        <p:spPr>
          <a:xfrm>
            <a:off x="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1" name="Shape 19"/>
          <p:cNvSpPr/>
          <p:nvPr/>
        </p:nvSpPr>
        <p:spPr>
          <a:xfrm>
            <a:off x="4354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2" name="Shape 20"/>
          <p:cNvSpPr/>
          <p:nvPr/>
        </p:nvSpPr>
        <p:spPr>
          <a:xfrm>
            <a:off x="870835"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23" name="Shape 21"/>
          <p:cNvSpPr/>
          <p:nvPr/>
        </p:nvSpPr>
        <p:spPr>
          <a:xfrm>
            <a:off x="130625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4" name="Shape 22"/>
          <p:cNvSpPr/>
          <p:nvPr/>
        </p:nvSpPr>
        <p:spPr>
          <a:xfrm>
            <a:off x="17416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5" name="Shape 23"/>
          <p:cNvSpPr/>
          <p:nvPr/>
        </p:nvSpPr>
        <p:spPr>
          <a:xfrm>
            <a:off x="217708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6" name="Shape 24"/>
          <p:cNvSpPr/>
          <p:nvPr/>
        </p:nvSpPr>
        <p:spPr>
          <a:xfrm>
            <a:off x="261250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7" name="Shape 25"/>
          <p:cNvSpPr/>
          <p:nvPr/>
        </p:nvSpPr>
        <p:spPr>
          <a:xfrm>
            <a:off x="30479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8" name="Shape 26"/>
          <p:cNvSpPr/>
          <p:nvPr/>
        </p:nvSpPr>
        <p:spPr>
          <a:xfrm>
            <a:off x="348334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9" name="Shape 27"/>
          <p:cNvSpPr/>
          <p:nvPr/>
        </p:nvSpPr>
        <p:spPr>
          <a:xfrm>
            <a:off x="3918759"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30" name="Shape 28"/>
          <p:cNvSpPr/>
          <p:nvPr/>
        </p:nvSpPr>
        <p:spPr>
          <a:xfrm>
            <a:off x="435417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1" name="Shape 29"/>
          <p:cNvSpPr/>
          <p:nvPr/>
        </p:nvSpPr>
        <p:spPr>
          <a:xfrm>
            <a:off x="478959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2" name="Shape 30"/>
          <p:cNvSpPr/>
          <p:nvPr/>
        </p:nvSpPr>
        <p:spPr>
          <a:xfrm>
            <a:off x="522501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3" name="Shape 31"/>
          <p:cNvSpPr/>
          <p:nvPr/>
        </p:nvSpPr>
        <p:spPr>
          <a:xfrm>
            <a:off x="566043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4" name="Shape 32"/>
          <p:cNvSpPr/>
          <p:nvPr/>
        </p:nvSpPr>
        <p:spPr>
          <a:xfrm>
            <a:off x="609584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5" name="Shape 33"/>
          <p:cNvSpPr/>
          <p:nvPr/>
        </p:nvSpPr>
        <p:spPr>
          <a:xfrm>
            <a:off x="653126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6" name="Shape 34"/>
          <p:cNvSpPr/>
          <p:nvPr/>
        </p:nvSpPr>
        <p:spPr>
          <a:xfrm>
            <a:off x="6966683"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37" name="Shape 35"/>
          <p:cNvSpPr/>
          <p:nvPr/>
        </p:nvSpPr>
        <p:spPr>
          <a:xfrm>
            <a:off x="740210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8" name="Shape 36"/>
          <p:cNvSpPr/>
          <p:nvPr/>
        </p:nvSpPr>
        <p:spPr>
          <a:xfrm>
            <a:off x="78375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9" name="Shape 37"/>
          <p:cNvSpPr/>
          <p:nvPr/>
        </p:nvSpPr>
        <p:spPr>
          <a:xfrm>
            <a:off x="827293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0" name="Shape 38"/>
          <p:cNvSpPr/>
          <p:nvPr/>
        </p:nvSpPr>
        <p:spPr>
          <a:xfrm>
            <a:off x="870835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1" name="Shape 39"/>
          <p:cNvSpPr/>
          <p:nvPr/>
        </p:nvSpPr>
        <p:spPr>
          <a:xfrm>
            <a:off x="91437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2" name="Shape 40"/>
          <p:cNvSpPr/>
          <p:nvPr/>
        </p:nvSpPr>
        <p:spPr>
          <a:xfrm>
            <a:off x="9579189"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3" name="Shape 41"/>
          <p:cNvSpPr/>
          <p:nvPr/>
        </p:nvSpPr>
        <p:spPr>
          <a:xfrm>
            <a:off x="1001460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4" name="Shape 42"/>
          <p:cNvSpPr/>
          <p:nvPr/>
        </p:nvSpPr>
        <p:spPr>
          <a:xfrm>
            <a:off x="104500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5" name="Shape 43"/>
          <p:cNvSpPr/>
          <p:nvPr/>
        </p:nvSpPr>
        <p:spPr>
          <a:xfrm>
            <a:off x="1088544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6" name="Shape 44"/>
          <p:cNvSpPr/>
          <p:nvPr/>
        </p:nvSpPr>
        <p:spPr>
          <a:xfrm>
            <a:off x="1132086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7" name="Shape 45"/>
          <p:cNvSpPr/>
          <p:nvPr/>
        </p:nvSpPr>
        <p:spPr>
          <a:xfrm>
            <a:off x="1175627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8" name="Shape 46"/>
          <p:cNvSpPr/>
          <p:nvPr/>
        </p:nvSpPr>
        <p:spPr>
          <a:xfrm>
            <a:off x="304792"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9" name="Shape 47"/>
          <p:cNvSpPr/>
          <p:nvPr/>
        </p:nvSpPr>
        <p:spPr>
          <a:xfrm>
            <a:off x="74021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0" name="Shape 48"/>
          <p:cNvSpPr/>
          <p:nvPr/>
        </p:nvSpPr>
        <p:spPr>
          <a:xfrm>
            <a:off x="161104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1" name="Shape 49"/>
          <p:cNvSpPr/>
          <p:nvPr/>
        </p:nvSpPr>
        <p:spPr>
          <a:xfrm>
            <a:off x="204646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2" name="Shape 50"/>
          <p:cNvSpPr/>
          <p:nvPr/>
        </p:nvSpPr>
        <p:spPr>
          <a:xfrm>
            <a:off x="24818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3" name="Shape 51"/>
          <p:cNvSpPr/>
          <p:nvPr/>
        </p:nvSpPr>
        <p:spPr>
          <a:xfrm>
            <a:off x="3352716"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4" name="Shape 52"/>
          <p:cNvSpPr/>
          <p:nvPr/>
        </p:nvSpPr>
        <p:spPr>
          <a:xfrm>
            <a:off x="378813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5" name="Shape 53"/>
          <p:cNvSpPr/>
          <p:nvPr/>
        </p:nvSpPr>
        <p:spPr>
          <a:xfrm>
            <a:off x="4658969"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6" name="Shape 54"/>
          <p:cNvSpPr/>
          <p:nvPr/>
        </p:nvSpPr>
        <p:spPr>
          <a:xfrm>
            <a:off x="509438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7" name="Shape 55"/>
          <p:cNvSpPr/>
          <p:nvPr/>
        </p:nvSpPr>
        <p:spPr>
          <a:xfrm>
            <a:off x="552980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8" name="Shape 56"/>
          <p:cNvSpPr/>
          <p:nvPr/>
        </p:nvSpPr>
        <p:spPr>
          <a:xfrm>
            <a:off x="640064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9" name="Shape 57"/>
          <p:cNvSpPr/>
          <p:nvPr/>
        </p:nvSpPr>
        <p:spPr>
          <a:xfrm>
            <a:off x="683605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0" name="Shape 58"/>
          <p:cNvSpPr/>
          <p:nvPr/>
        </p:nvSpPr>
        <p:spPr>
          <a:xfrm>
            <a:off x="770689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1" name="Shape 59"/>
          <p:cNvSpPr/>
          <p:nvPr/>
        </p:nvSpPr>
        <p:spPr>
          <a:xfrm>
            <a:off x="814231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2" name="Shape 60"/>
          <p:cNvSpPr/>
          <p:nvPr/>
        </p:nvSpPr>
        <p:spPr>
          <a:xfrm>
            <a:off x="857772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3" name="Shape 61"/>
          <p:cNvSpPr/>
          <p:nvPr/>
        </p:nvSpPr>
        <p:spPr>
          <a:xfrm>
            <a:off x="944856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4" name="Shape 62"/>
          <p:cNvSpPr/>
          <p:nvPr/>
        </p:nvSpPr>
        <p:spPr>
          <a:xfrm>
            <a:off x="98839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5" name="Shape 63"/>
          <p:cNvSpPr/>
          <p:nvPr/>
        </p:nvSpPr>
        <p:spPr>
          <a:xfrm>
            <a:off x="1075481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6" name="Shape 64"/>
          <p:cNvSpPr/>
          <p:nvPr/>
        </p:nvSpPr>
        <p:spPr>
          <a:xfrm>
            <a:off x="1119023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7" name="Shape 65"/>
          <p:cNvSpPr/>
          <p:nvPr/>
        </p:nvSpPr>
        <p:spPr>
          <a:xfrm>
            <a:off x="11625652" y="4343400"/>
            <a:ext cx="261251" cy="1508760"/>
          </a:xfrm>
          <a:prstGeom prst="rect">
            <a:avLst/>
          </a:prstGeom>
          <a:solidFill>
            <a:srgbClr val="121317"/>
          </a:solidFill>
          <a:ln w="6350">
            <a:solidFill>
              <a:srgbClr val="121317"/>
            </a:solidFill>
            <a:prstDash val="solid"/>
          </a:ln>
        </p:spPr>
        <p:txBody>
          <a:bodyPr/>
          <a:lstStyle/>
          <a:p>
            <a:endParaRPr lang="en-K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22</a:t>
            </a:r>
            <a:endParaRPr lang="en-US" sz="900" dirty="0"/>
          </a:p>
        </p:txBody>
      </p:sp>
      <p:sp>
        <p:nvSpPr>
          <p:cNvPr id="4"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(1/4)</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1. 제어 · 전원 (핵심)   ·   소계 128,335원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Raspberry Pi 5 (2GB)</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피아노 음원(FluidSynth)과 리듬게임을 돌리는 중앙 컴퓨터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119,900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0" invalidUrl="" action="" tgtFrame="" tooltip="https://www.icbanq.com/P016286897"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PD 트리거 모듈 HUSB238 (20 V)</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USB-C 전원 입력 → 20 V</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4,950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 invalidUrl="" action="" tgtFrame="" tooltip="https://www.icbanq.com/P017179277"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KCD1-101A 로커 스위치 (검정)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피아노 전원 스위치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2" invalidUrl="" action="" tgtFrame="" tooltip="https://www.eleparts.co.kr/goods/view?no=32569"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Coms BU914 퓨즈 홀더 (5×20)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20 V 선 보호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3" invalidUrl="" action="" tgtFrame="" tooltip="https://www.eleparts.co.kr/goods/view?no=3237821"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Littelfuse 5 A 지연형 퓨즈 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퓨즈 1 + 예비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4" invalidUrl="" action="" tgtFrame="" tooltip="https://www.eleparts.co.kr/goods/view?no=12766820"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USB-C↔C PD 60W 케이블 0.6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보조배터리 → 피아노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5" invalidUrl="" action="" tgtFrame="" tooltip="https://www.eleparts.co.kr/goods/view?no=17806172"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2. 센서 · MCU · 기판   ·   소계 154,960원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RP2040-Zero 보드 (PP-A799-2)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 1: 센서 읽기 · 세기 계산 · USB-MIDI</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26,400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6" invalidUrl="" action="" tgtFrame="" tooltip="https://parts-parts.co.kr/product/detail.html?product_no=2383" history="1" highlightClick="0" endSnd="0">
                            <a:extLst>
                              <a:ext uri="{A12FA001-AC4F-418D-AE19-62706E023703}">
                                <ahyp:hlinkClr xmlns:ahyp="http://schemas.microsoft.com/office/drawing/2018/hyperlinkcolor" val="tx"/>
                              </a:ext>
                            </a:extLst>
                          </a:hlinkClick>
                        </a:rPr>
                        <a:t>parts-parts.co.kr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홀센서 TI DRV5055A2QLPG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건반마다 1개 + 페달 1 (100개가 99개보다 쌈)</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89,100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7" invalidUrl="" action="" tgtFrame="" tooltip="https://www.icbanq.com/P018076669"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네오디뮴 자석 Ø5×2 N35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밑면에 1개씩 + 페달 1, 센서가 읽는 자석</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7,120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8" invalidUrl="" action="" tgtFrame="" tooltip="https://dgmagnet.com/product/%EC%B4%88%EA%B0%95%EB%A0%A5-%EB%84%A4%EC%98%A4%EB%94%94%EC%9B%80-%EC%9B%90%ED%98%95%EC%9E%90%EC%84%9D-5mm/13/" history="1" highlightClick="0" endSnd="0">
                            <a:extLst>
                              <a:ext uri="{A12FA001-AC4F-418D-AE19-62706E023703}">
                                <ahyp:hlinkClr xmlns:ahyp="http://schemas.microsoft.com/office/drawing/2018/hyperlinkcolor" val="tx"/>
                              </a:ext>
                            </a:extLst>
                          </a:hlinkClick>
                        </a:rPr>
                        <a:t>dgmagnet.com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16채널 MUX 모듈 CD74HC4067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12 + 끝 부속 4를 ADC 1개로 차례로 읽음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9" invalidUrl="" action="" tgtFrame="" tooltip="https://parts-parts.co.kr/product/detail.html?product_no=303" history="1" highlightClick="0" endSnd="0">
                            <a:extLst>
                              <a:ext uri="{A12FA001-AC4F-418D-AE19-62706E023703}">
                                <ahyp:hlinkClr xmlns:ahyp="http://schemas.microsoft.com/office/drawing/2018/hyperlinkcolor" val="tx"/>
                              </a:ext>
                            </a:extLst>
                          </a:hlinkClick>
                        </a:rPr>
                        <a:t>parts-parts.co.kr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만능기판 5×7 cm (제어 기판용)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제어 기판 7 + 페달 보드 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4,160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0" invalidUrl="" action="" tgtFrame="" tooltip="https://www.mechasolution.com/goods/goods_view.php?goodsNo=329798" history="1" highlightClick="0" endSnd="0">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16심 리본 케이블 2651-16P (센서 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기판 → 제어 기판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3,058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1" invalidUrl="" action="" tgtFrame="" tooltip="https://www.eleparts.co.kr/goods/view?no=425"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16심 리본 케이블 추가 1 m (배선용)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기판 배선용 가닥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1,529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2" invalidUrl="" action="" tgtFrame="" tooltip="https://www.eleparts.co.kr/goods/view?no=425"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핀헤더 1×40 (2.54 mm, 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MUX 모듈 7개 · RP2040-Zero 8개 핀 헤더 (312핀 → 9줄)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3" invalidUrl="" action="" tgtFrame="" tooltip="https://www.icbanq.com/P005666127"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100 nF 1206 칩 콘덴서 (삼성)</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97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센서마다 전원 잡음 제거 + MUX (97개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4,268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4" invalidUrl="" action="" tgtFrame="" tooltip="https://www.icbanq.com/P014968846"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10 µF 1206 칩 콘덴서 (50개)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기판 양 끝 · 끝 부속 전원 안정 (16개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7,150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5" invalidUrl="" action="" tgtFrame="" tooltip="https://www.icbanq.com/P001248090"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 kΩ 1206 칩 저항 (Yageo)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끝 부속 센서 OUT 직렬 저항 R401~R403 · R411 (4개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6" invalidUrl="" action="" tgtFrame="" tooltip="https://www.icbanq.com/P011433924"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탄소피막 저항 1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앰프 입력 저음 차단 R701 · R702 · 페달 R501 · R551 (4개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7" invalidUrl="" action="" tgtFrame="" tooltip="https://www.eleparts.co.kr/goods/view?no=10911"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탄소피막 저항 100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제어 기판 EXT 풀다운 R301~R303 · 페달 R502 (5개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8" invalidUrl="" action="" tgtFrame="" tooltip="https://www.eleparts.co.kr/goods/view?no=10993"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23</a:t>
            </a:r>
            <a:endParaRPr lang="en-US" sz="900" dirty="0"/>
          </a:p>
        </p:txBody>
      </p:sp>
      <p:sp>
        <p:nvSpPr>
          <p:cNvPr id="4"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(2/4)</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767D88"/>
                          </a:solidFill>
                          <a:latin typeface="Apple SD Gothic Neo" pitchFamily="34" charset="0"/>
                          <a:ea typeface="Apple SD Gothic Neo" pitchFamily="34" charset="-122"/>
                          <a:cs typeface="Apple SD Gothic Neo" pitchFamily="34" charset="-120"/>
                        </a:rPr>
                        <a:t>2. 센서 · MCU · 기판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탄소피막 저항 100 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페달 링 급전 20 Ω (5개 병렬)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0" invalidUrl="" action="" tgtFrame="" tooltip="https://www.eleparts.co.kr/goods/view?no=10873"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JST-XH 6핀 연장선 200 mm (5S)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끝 부속 ↔ 모듈 센서 선 커넥터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 invalidUrl="" action="" tgtFrame="" tooltip="https://www.rcbank.co.kr/shop/goods/goods_view.php?goodsno=29812" history="1" highlightClick="0" endSnd="0">
                            <a:extLst>
                              <a:ext uri="{A12FA001-AC4F-418D-AE19-62706E023703}">
                                <ahyp:hlinkClr xmlns:ahyp="http://schemas.microsoft.com/office/drawing/2018/hyperlinkcolor" val="tx"/>
                              </a:ext>
                            </a:extLst>
                          </a:hlinkClick>
                        </a:rPr>
                        <a:t>rcbank.co.kr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3. 건반 액션 (시소 건반 + 무게 레버)   ·   소계 162,479원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강철 띠 9T×19×1 m (강철 블록용)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무게 레버 강철 추 90개 (40 mm씩 잘라 씀, 개당 53.7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34,440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2" invalidUrl="" action="" tgtFrame="" tooltip="https://www.allsteelshop.com/product/squareplate/9t" history="1" highlightClick="0" endSnd="0">
                            <a:extLst>
                              <a:ext uri="{A12FA001-AC4F-418D-AE19-62706E023703}">
                                <ahyp:hlinkClr xmlns:ahyp="http://schemas.microsoft.com/office/drawing/2018/hyperlinkcolor" val="tx"/>
                              </a:ext>
                            </a:extLst>
                          </a:hlinkClick>
                        </a:rPr>
                        <a:t>allsteelshop.com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미스미 토션스프링 C-UA90R5-3-0.5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레버를 되돌리는 보조 스프링 — 다리 22.3 · 8.0 mm로 잘라 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31,000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3" invalidUrl="" action="" tgtFrame="" tooltip="https://kr.misumi-ec.com/vona2/detail/110310556289/?HissuCode=C-UA90R5-3-0.5" history="1" highlightClick="0" endSnd="0">
                            <a:extLst>
                              <a:ext uri="{A12FA001-AC4F-418D-AE19-62706E023703}">
                                <ahyp:hlinkClr xmlns:ahyp="http://schemas.microsoft.com/office/drawing/2018/hyperlinkcolor" val="tx"/>
                              </a:ext>
                            </a:extLst>
                          </a:hlinkClick>
                        </a:rPr>
                        <a:t>kr.misumi-ec.com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SUS304 환봉 Ø4×1 m — 건반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시소의 축 (모듈 7 + 끝 부속 2 + 예비 1 토막)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4" invalidUrl="" action="" tgtFrame="" tooltip="https://www.11st.co.kr/products/1304631510"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SUS304 환봉 Ø4×1 m — 레버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무게 레버가 매달리는 축 (건반 봉과 같은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5" invalidUrl="" action="" tgtFrame="" tooltip="https://www.11st.co.kr/products/1304631510"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캡스턴 나사 M3×6 버튼헤드 SUS304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꼬리에서 레버를 들어 올리는 나사, 높이 조정 (88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6" invalidUrl="" action="" tgtFrame="" tooltip="https://www.icbanq.com/P015973844"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M3 육각너트 강철 (LCSC C133377)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92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캡스턴 나사 너트 88 + 스피커 브래킷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1,012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7" invalidUrl="" action="" tgtFrame="" tooltip="https://www.icbanq.com/P015976209"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밸런스 핀 Ø2×12 SUS304 (100개)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뒤쪽 좌우 위치를 잡는 핀 (88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8" invalidUrl="" action="" tgtFrame="" tooltip="https://www.nasakorea.com/goods/goods_view.php?goodsNo=6009" history="1" highlightClick="0" endSnd="0">
                            <a:extLst>
                              <a:ext uri="{A12FA001-AC4F-418D-AE19-62706E023703}">
                                <ahyp:hlinkClr xmlns:ahyp="http://schemas.microsoft.com/office/drawing/2018/hyperlinkcolor" val="tx"/>
                              </a:ext>
                            </a:extLst>
                          </a:hlinkClick>
                        </a:rPr>
                        <a:t>nasakorea.com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세메다인 슈퍼X 백색 20 mL (MS 폴리머)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강철 추를 레버 캐리어에 붙이는 탄성 접착제 (MS 폴리머)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9" invalidUrl="" action="" tgtFrame="" tooltip="https://www.11st.co.kr/products/7459325704"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메리노 울 펠트 2T 20×30 cm (35 블랙)</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캡스턴 띠 · 앞 멈춤 · 키퍼 펠트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13,800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0" invalidUrl="" action="" tgtFrame="" tooltip="https://studiobunt.com/product/detail.html?product_no=4117" history="1" highlightClick="0" endSnd="0">
                            <a:extLst>
                              <a:ext uri="{A12FA001-AC4F-418D-AE19-62706E023703}">
                                <ahyp:hlinkClr xmlns:ahyp="http://schemas.microsoft.com/office/drawing/2018/hyperlinkcolor" val="tx"/>
                              </a:ext>
                            </a:extLst>
                          </a:hlinkClick>
                        </a:rPr>
                        <a:t>studiobunt.com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메리노 울 펠트 1T 20×30 cm (80 블랙)</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업스톱 패드 윗면 · 쉼 펠트 (0.5T와 겹쳐 1.5T)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1" invalidUrl="" action="" tgtFrame="" tooltip="https://studiobunt.com/product/detail.html?product_no=1157" history="1" highlightClick="0" endSnd="0">
                            <a:extLst>
                              <a:ext uri="{A12FA001-AC4F-418D-AE19-62706E023703}">
                                <ahyp:hlinkClr xmlns:ahyp="http://schemas.microsoft.com/office/drawing/2018/hyperlinkcolor" val="tx"/>
                              </a:ext>
                            </a:extLst>
                          </a:hlinkClick>
                        </a:rPr>
                        <a:t>studiobunt.com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WAKI PORON 5T 점착 100×100 (PON-02)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업스톱 패드 — 설계 6T 대신 5T: 쐐기 1.0 mm 두껍게 출력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3,399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2" invalidUrl="" action="" tgtFrame="" tooltip="https://www.navimro.com/g/1028764/"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WAKI 하네나이트 1T 170×245 (HNT002)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앞 펠트 밑 완충층 (NBR 고무, 단계 0 시험으로 확인)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16,489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3" invalidUrl="" action="" tgtFrame="" tooltip="https://www.navimro.com/g/1029233/"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대원 0.5T 접착 펠트지 30×45 (H-20 검정)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노치 · 핀 홈 · 가이드 탭 부싱 천, 쉼 펠트 한 겹</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4" invalidUrl="" action="" tgtFrame="" tooltip="https://www.11st.co.kr/products/8517880969"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텅스텐 퍼티 22 g (낚시 싱커)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건반별 무게 미세 조정 (필요할 때만)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5" invalidUrl="" action="" tgtFrame="" tooltip="https://www.11st.co.kr/products/9579455646"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OHP 필름 A4 0.1 mm 20매 (PET 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0.1 mm 심 — 업스톱 시점 조정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2,739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6" invalidUrl="" action="" tgtFrame="" tooltip="https://www.navimro.com/g/37021/"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크레타칼라 흑연 가루 30 ml</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캡스턴 펠트 마찰 줄이기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7" invalidUrl="" action="" tgtFrame="" tooltip="https://www.11st.co.kr/products/1333385437"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24</a:t>
            </a:r>
            <a:endParaRPr lang="en-US" sz="900" dirty="0"/>
          </a:p>
        </p:txBody>
      </p:sp>
      <p:sp>
        <p:nvSpPr>
          <p:cNvPr id="4"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(3/4)</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4. 오디오 (스피커 · 앰프)   ·   소계 62,488원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삼미 CW-100B25 4인치 스피커 8 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좌우 내장 스피커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19,200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0" invalidUrl="" action="" tgtFrame="" tooltip="https://www.11st.co.kr/products/1565354988"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Apple USB-C 헤드폰 어댑터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USB DAC (디지털 → 아날로그 소리)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 invalidUrl="" action="" tgtFrame="" tooltip="https://www.apple.com/kr/shop/product/mw2q3kh/a" history="1" highlightClick="0" endSnd="0">
                            <a:extLst>
                              <a:ext uri="{A12FA001-AC4F-418D-AE19-62706E023703}">
                                <ahyp:hlinkClr xmlns:ahyp="http://schemas.microsoft.com/office/drawing/2018/hyperlinkcolor" val="tx"/>
                              </a:ext>
                            </a:extLst>
                          </a:hlinkClick>
                        </a:rPr>
                        <a:t>apple.com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PJ-313 3.5 mm 스테레오 잭</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헤드폰 잭 · 앰프 입력 · 페달 잭 (3개 중 2개 구매)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396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2" invalidUrl="" action="" tgtFrame="" tooltip="https://www.eleparts.co.kr/goods/view?no=67811"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 µF 적층 세라믹 콘덴서 50 V</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앰프 입력 저음 차단 필터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532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3" invalidUrl="" action="" tgtFrame="" tooltip="https://www.icbanq.com/P014159115"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XT30U-M 수 커넥터 (선 10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연결 — 앰프 쪽</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4" invalidUrl="" action="" tgtFrame="" tooltip="https://www.eleparts.co.kr/goods/view?no=12779720"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XT30U-F 암 커넥터 (선 10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연결 — 스피커 쪽</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5" invalidUrl="" action="" tgtFrame="" tooltip="https://www.eleparts.co.kr/goods/view?no=12779721"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스피커선 16 AWG 7 m (프리즘)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앰프 → 스피커, 20 V 전원선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6" invalidUrl="" action="" tgtFrame="" tooltip="https://www.eleparts.co.kr/goods/view?no=18388615"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AUX 선 1.5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어댑터 → 헤드폰 잭 → 앰프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3,420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7" invalidUrl="" action="" tgtFrame="" tooltip="https://www.eleparts.co.kr/goods/view?no=2925673"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흡음솜 300 g (할로우화이버)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상자 흡음재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8" invalidUrl="" action="" tgtFrame="" tooltip="https://www.11st.co.kr/products/2325598213"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5. 본체 구조 · 결합   ·   소계 81,249원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오꾸메 합판 400×1200×11.5 (스피커)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상자 2개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17,680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9" invalidUrl="" action="" tgtFrame="" tooltip="https://namugongjang.com/product/detail.html?product_no=1378" history="1" highlightClick="0" endSnd="0">
                            <a:extLst>
                              <a:ext uri="{A12FA001-AC4F-418D-AE19-62706E023703}">
                                <ahyp:hlinkClr xmlns:ahyp="http://schemas.microsoft.com/office/drawing/2018/hyperlinkcolor" val="tx"/>
                              </a:ext>
                            </a:extLst>
                          </a:hlinkClick>
                        </a:rPr>
                        <a:t>namugongjang.com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오꾸메 합판 600×1200×11.5 (가운데 유닛)</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상자 (건반 보관함 · 제어부 · 배터리 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22,520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0" invalidUrl="" action="" tgtFrame="" tooltip="https://namugongjang.com/product/detail.html?product_no=1378" history="1" highlightClick="0" endSnd="0">
                            <a:extLst>
                              <a:ext uri="{A12FA001-AC4F-418D-AE19-62706E023703}">
                                <ahyp:hlinkClr xmlns:ahyp="http://schemas.microsoft.com/office/drawing/2018/hyperlinkcolor" val="tx"/>
                              </a:ext>
                            </a:extLst>
                          </a:hlinkClick>
                        </a:rPr>
                        <a:t>namugongjang.com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매미고리 1-20 SUS 토글 래치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 스피커 파트 잠금</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1" invalidUrl="" action="" tgtFrame="" tooltip="https://www.metaldiy.com/item/itemView.do?itemId=8806379117286" history="1" highlightClick="0" endSnd="0">
                            <a:extLst>
                              <a:ext uri="{A12FA001-AC4F-418D-AE19-62706E023703}">
                                <ahyp:hlinkClr xmlns:ahyp="http://schemas.microsoft.com/office/drawing/2018/hyperlinkcolor" val="tx"/>
                              </a:ext>
                            </a:extLst>
                          </a:hlinkClick>
                        </a:rPr>
                        <a:t>metaldiy.com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네오디뮴 자석 Ø8×3 N35 (뚜껑)</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뚜껑 고정 (뚜껑 3장 ×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1,920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2" invalidUrl="" action="" tgtFrame="" tooltip="https://dgmagnet.com/product/detail.html?product_no=17" history="1" highlightClick="0" endSnd="0">
                            <a:extLst>
                              <a:ext uri="{A12FA001-AC4F-418D-AE19-62706E023703}">
                                <ahyp:hlinkClr xmlns:ahyp="http://schemas.microsoft.com/office/drawing/2018/hyperlinkcolor" val="tx"/>
                              </a:ext>
                            </a:extLst>
                          </a:hlinkClick>
                        </a:rPr>
                        <a:t>dgmagnet.com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M3 방진 댐퍼(그로밋) 20개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끝 부속 ↔ 스피커 브래킷 방진 (4개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3" invalidUrl="" action="" tgtFrame="" tooltip="https://www.rcbank.co.kr/shop/goods/goods_view.php?goodsno=67110" history="1" highlightClick="0" endSnd="0">
                            <a:extLst>
                              <a:ext uri="{A12FA001-AC4F-418D-AE19-62706E023703}">
                                <ahyp:hlinkClr xmlns:ahyp="http://schemas.microsoft.com/office/drawing/2018/hyperlinkcolor" val="tx"/>
                              </a:ext>
                            </a:extLst>
                          </a:hlinkClick>
                        </a:rPr>
                        <a:t>rcbank.co.kr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화성고무 피스고무발 28×5 (RUB-E2)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뒷바 받침 14개 사용 (20개 단위 판매)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11,660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4" invalidUrl="" action="" tgtFrame="" tooltip="https://www.eleparts.co.kr/goods/view?no=16628292"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EVA 고밀도 폼 3T 330×490 검정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 끝 부속 바닥 시트, 스피커 가스켓</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5" invalidUrl="" action="" tgtFrame="" tooltip="https://www.11st.co.kr/products/7591566666"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오공 205 목공본드 800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합판 상자 접착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3,949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6" invalidUrl="" action="" tgtFrame="" tooltip="https://www.navimro.com/g/395062/"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V-tech 순간접착제 5 g (VT-041)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자석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7" invalidUrl="" action="" tgtFrame="" tooltip="https://www.icbanq.com/P015309984"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렌치볼트 M2.5 × 6 (Pi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Pi 5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8" invalidUrl="" action="" tgtFrame="" tooltip="https://www.11st.co.kr/products/4236198413"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25</a:t>
            </a:r>
            <a:endParaRPr lang="en-US" sz="900" dirty="0"/>
          </a:p>
        </p:txBody>
      </p:sp>
      <p:sp>
        <p:nvSpPr>
          <p:cNvPr id="4"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(4/4)</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767D88"/>
                          </a:solidFill>
                          <a:latin typeface="Apple SD Gothic Neo" pitchFamily="34" charset="0"/>
                          <a:ea typeface="Apple SD Gothic Neo" pitchFamily="34" charset="-122"/>
                          <a:cs typeface="Apple SD Gothic Neo" pitchFamily="34" charset="-120"/>
                        </a:rPr>
                        <a:t>5. 본체 구조 · 결합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렌치볼트 M3 × 10 (센서 바·CU)</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36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바 · 제어부 부품 · 토글 래치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2,160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0" invalidUrl="" action="" tgtFrame="" tooltip="https://www.11st.co.kr/products/4236198413"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렌치볼트 M3 × 6 (제어 기판)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제어 기판을 밑에서 매단 보스에 고정 (14개)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1" invalidUrl="" action="" tgtFrame="" tooltip="https://www.11st.co.kr/products/4236198413"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평와셔 M4 (외경 9 × 0.5T)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고무발 피스 받침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2" invalidUrl="" action="" tgtFrame="" tooltip="https://www.11st.co.kr/products/4236198413"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직결피스 8호 13 mm (뒷바)</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36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뒷바 출력 부품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3" invalidUrl="" action="" tgtFrame="" tooltip="https://www.11st.co.kr/products/4353471537"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직결피스 8호 16 mm (스피커 유닛)</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유닛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4" invalidUrl="" action="" tgtFrame="" tooltip="https://www.11st.co.kr/products/4353471537"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직결피스 8호 19 mm (그릴)</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그릴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5" invalidUrl="" action="" tgtFrame="" tooltip="https://www.11st.co.kr/products/4353471537"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직결피스 8호 25 mm (고무발)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고무발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6" invalidUrl="" action="" tgtFrame="" tooltip="https://www.11st.co.kr/products/4353471537"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6. 소모품 · 페달 · 공구 · 소프트웨어   ·   소계 10,450원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열수축튜브 530개 세트 (케이스)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선 이음 절연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7" invalidUrl="" action="" tgtFrame="" tooltip="https://www.eleparts.co.kr/goods/view?no=8170311"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AUX 선 3 m (페달)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페달 신호선 (페달은 보유)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2,860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8" invalidUrl="" action="" tgtFrame="" tooltip="https://www.icbanq.com/P004711396"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Ø4.0 HSS 드릴 날 SD 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레버 허브 · 핀 보스 구멍 다듬기 (약 130구멍)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990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9" invalidUrl="" action="" tgtFrame="" tooltip="https://www.navimro.com/g/171100/"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FluidSynth 2.6.1 (무료)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피아노 음원 엔진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10" invalidUrl="" action="" tgtFrame="" tooltip="https://www.fluidsynth.org/" history="1" highlightClick="0" endSnd="0">
                            <a:extLst>
                              <a:ext uri="{A12FA001-AC4F-418D-AE19-62706E023703}">
                                <ahyp:hlinkClr xmlns:ahyp="http://schemas.microsoft.com/office/drawing/2018/hyperlinkcolor" val="tx"/>
                              </a:ext>
                            </a:extLst>
                          </a:hlinkClick>
                        </a:rPr>
                        <a:t>fluidsynth.org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Salamander 그랜드 피아노 음원 (무료)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그랜드 피아노 샘플 음원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11" invalidUrl="" action="" tgtFrame="" tooltip="https://freepats.zenvoid.org/Piano/acoustic-grand-piano.html" history="1" highlightClick="0" endSnd="0">
                            <a:extLst>
                              <a:ext uri="{A12FA001-AC4F-418D-AE19-62706E023703}">
                                <ahyp:hlinkClr xmlns:ahyp="http://schemas.microsoft.com/office/drawing/2018/hyperlinkcolor" val="tx"/>
                              </a:ext>
                            </a:extLst>
                          </a:hlinkClick>
                        </a:rPr>
                        <a:t>freepats.zenvoid.org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7. 배송비 (판매처 17곳, 판매처별 1번)   ·   소계 54,100원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gridSpan="3">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세운상가새한음향 4,000  ·  onezaze 3,500  ·  굿나잇몰 3,500  ·  알씨뱅크 3,500  ·  올스틸샵 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hMerge="1">
                  <a:tcPr/>
                </a:tc>
                <a:tc hMerge="1">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18,000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gridSpan="3">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나비엠알오 3,300  ·  나사코리아 3,300  ·  두유레디 3,000  ·  메카솔루션 3,000  ·  비젼몰 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hMerge="1">
                  <a:tcPr/>
                </a:tc>
                <a:tc hMerge="1">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15,600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gridSpan="3">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상우아트 3,000  ·  스튜디오분트 3,000  ·  엘레파츠 3,000  ·  주영종합상사 3,000  ·  철물박사 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hMerge="1">
                  <a:tcPr/>
                </a:tc>
                <a:tc hMerge="1">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15,000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gridSpan="3">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파츠파츠 3,000  ·  대건상사 2,500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hMerge="1">
                  <a:tcPr/>
                </a:tc>
                <a:tc hMerge="1">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gridSpan="3">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무료 배송: 아이씨뱅큐 · 11번가 · 동진나무공장 · Apple Store · 한국미스미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hMerge="1">
                  <a:tcPr/>
                </a:tc>
                <a:tc hMerge="1">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 599,961원 + 배송비 54,100원 = 전체 654,061원</a:t>
                      </a:r>
                      <a:endParaRPr lang="en-US" sz="850" dirty="0">
                        <a:latin typeface="Apple SD Gothic Neo" charset="0"/>
                        <a:ea typeface="Apple SD Gothic Neo" charset="0"/>
                        <a:cs typeface="Apple SD Gothic Neo" charset="0"/>
                      </a:endParaRPr>
                    </a:p>
                  </a:txBody>
                  <a:tcPr marL="64008" marR="16459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21317"/>
                    </a:solidFill>
                  </a:tcPr>
                </a:tc>
                <a:tc hMerge="1">
                  <a:tcPr/>
                </a:tc>
                <a:tc hMerge="1">
                  <a:tcPr/>
                </a:tc>
                <a:tc hMerge="1">
                  <a:tcPr/>
                </a:tc>
                <a:tc hMerge="1">
                  <a:tcPr/>
                </a:tc>
                <a:tc hMerge="1">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6912</Words>
  <Application>Microsoft Macintosh PowerPoint</Application>
  <PresentationFormat>Widescreen</PresentationFormat>
  <Paragraphs>1145</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Apple SD Gothic Neo</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Toccata — 휴대용 88건반 디지털 피아노와 리듬게임</dc:title>
  <dc:subject>PptxGenJS Presentation</dc:subject>
  <dc:creator>20265010 고원규</dc:creator>
  <cp:lastModifiedBy>고원규</cp:lastModifiedBy>
  <cp:revision>23</cp:revision>
  <dcterms:created xsi:type="dcterms:W3CDTF">2026-09-27T18:56:08Z</dcterms:created>
  <dcterms:modified xsi:type="dcterms:W3CDTF">2026-09-28T01:07:25Z</dcterms:modified>
</cp:coreProperties>
</file>