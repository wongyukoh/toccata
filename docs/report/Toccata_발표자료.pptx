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금액(원)</c:v>
                </c:pt>
              </c:strCache>
            </c:strRef>
          </c:tx>
          <c:spPr>
            <a:solidFill>
              <a:srgbClr val="D9482B"/>
            </a:solidFill>
            <a:effectLst/>
          </c:spPr>
          <c:invertIfNegative val="0"/>
          <c:dLbls>
            <c:numFmt formatCode="#,##0" sourceLinked="0"/>
            <c:spPr>
              <a:noFill/>
              <a:ln>
                <a:noFill/>
              </a:ln>
              <a:effectLst/>
            </c:spPr>
            <c:txPr>
              <a:bodyPr/>
              <a:lstStyle/>
              <a:p>
                <a:pPr>
                  <a:defRPr sz="1100" b="0" i="0" u="none" strike="noStrike">
                    <a:solidFill>
                      <a:srgbClr val="16181D"/>
                    </a:solidFill>
                    <a:latin typeface="Apple SD Gothic Neo"/>
                  </a:defRPr>
                </a:pPr>
                <a:endParaRPr lang="en-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제어부 (Pi 5 · 허브 · SD)</c:v>
                </c:pt>
                <c:pt idx="1">
                  <c:v>센서 · MCU · 기판</c:v>
                </c:pt>
                <c:pt idx="2">
                  <c:v>구조 · 결합 (나사 · 펠트 · 합판)</c:v>
                </c:pt>
                <c:pt idx="3">
                  <c:v>오디오 (스피커 · 앰프 · DAC)</c:v>
                </c:pt>
                <c:pt idx="4">
                  <c:v>전원 (PD · 강압 · 충전기)</c:v>
                </c:pt>
                <c:pt idx="5">
                  <c:v>페달</c:v>
                </c:pt>
              </c:strCache>
            </c:strRef>
          </c:cat>
          <c:val>
            <c:numRef>
              <c:f>Sheet1!$B$2:$B$7</c:f>
              <c:numCache>
                <c:formatCode>General</c:formatCode>
                <c:ptCount val="6"/>
                <c:pt idx="0">
                  <c:v>173490</c:v>
                </c:pt>
                <c:pt idx="1">
                  <c:v>147813</c:v>
                </c:pt>
                <c:pt idx="2">
                  <c:v>113761</c:v>
                </c:pt>
                <c:pt idx="3">
                  <c:v>67189</c:v>
                </c:pt>
                <c:pt idx="4">
                  <c:v>31965</c:v>
                </c:pt>
                <c:pt idx="5">
                  <c:v>14360</c:v>
                </c:pt>
              </c:numCache>
            </c:numRef>
          </c:val>
          <c:extLst>
            <c:ext xmlns:c16="http://schemas.microsoft.com/office/drawing/2014/chart" uri="{C3380CC4-5D6E-409C-BE32-E72D297353CC}">
              <c16:uniqueId val="{00000000-3E3B-2645-9126-6E061BC14A0E}"/>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444A54"/>
                </a:solidFill>
                <a:latin typeface="Apple SD Gothic Neo"/>
              </a:defRPr>
            </a:pPr>
            <a:endParaRPr lang="en-US"/>
          </a:p>
        </c:txPr>
        <c:crossAx val="2094734552"/>
        <c:crosses val="autoZero"/>
        <c:auto val="1"/>
        <c:lblAlgn val="ctr"/>
        <c:lblOffset val="100"/>
        <c:noMultiLvlLbl val="1"/>
      </c:catAx>
      <c:valAx>
        <c:axId val="2094734552"/>
        <c:scaling>
          <c:orientation val="minMax"/>
          <c:max val="2200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943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Toccata 프로젝트 발표를 시작하겠습니다. 3D 프린터로 건반을 직접 뽑아 만드는 88건반 휴대용 디지털 피아노입니다. 발표는 프로젝트 제목, 주제와 의도, 구성과 작동 방식, 사용할 센서와 부품, 제작 계획과 예상 결과 순서로 진행합니다.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이름은 Toccata입니다. 토카타는 건반 악기를 위한 빠르고 화려한 곡 형식으로, 이탈리아어 toccare, 즉 '손대다'에서 온 말입니다. 누르는 손길을 그대로 소리로 옮기는 피아노라는 뜻을 담았습니다. 88건반을 도~시 12건반짜리 옥타브 모듈 7개로 나누고, 전체를 5종류의 파트로 분리해 들고 다닐 수 있게 만듭니다.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주제는 3D 프린팅 건반과 홀센서, 소프트웨어 음원으로 누르는 세기와 페달까지 표현하는 88건반 디지털 피아노를 100만원 이하로 직접 만드는 것입니다. 의도는 네 가지입니다. 첫째, 입문형 디지털 피아노처럼 세기 표현과 댐퍼 페달이 되는 것. 둘째, 금속 스프링이나 핀 없이 플라스틱이 휘어서 움직이는 단순한 구조. 셋째, 파트별로 분리해 들고 다니고 보조배터리로 쓰는 것. 넷째, PCB 대신 손 납땜으로 적은 비용에 만드는 것입니다. 완성 후에는 이 피아노를 컨트롤러로 쓰는 리듬게임까지 만들 계획입니다.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기준은 두 가지입니다. 하나는 Yamaha P-145 같은 입문형 디지털 피아노로, 세기 표현과 댐퍼 페달, 7와트 스피커 2개를 갖추고 있습니다. 다른 하나는 dovetail studio의 3D 프린팅 피아노 영상입니다. 이 영상은 플라스틱이 휘어서 움직이는 컴플라이언트 메커니즘을 썼지만 옥타브당 부품이 53개였고 적외선 센서라 보정 부담이 컸습니다. 제작자 스스로 다음 버전은 PETG와 홀센서로 바꾸겠다고 했습니다. Toccata는 이 교훈을 반영해 리프 한 장으로 구조를 줄이고, 한 옥타브를 출력물 5개로 만들며, 홀센서와 자석으로 누름을 감지합니다.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구성입니다. 건반 모듈 7개는 각각 홀센서 12개, 16채널 멀티플렉서, RP2040-Zero 마이크로컨트롤러를 가지고 있고, 하나하나가 독립된 USB-MIDI 장치입니다. 모듈 7개와 페달 보드가 USB 허브를 거쳐 라즈베리파이 5에 연결되고, 파이에서 무료 음원 프로그램 FluidSynth가 피아노 소리를 만듭니다. 소리는 USB DAC 동글, 헤드폰 잭, 앰프를 거쳐 좌우 스피커로 나갑니다. 헤드폰을 꽂으면 잭의 접점이 떨어지면서 스피커가 자동으로 꺼집니다. 전원은 USB-C 하나로, 65와트 충전기나 보조배터리를 꽂으면 20볼트로 앰프를, 5.1볼트로 파이와 허브를 구동합니다.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본체는 5종류의 파트로 나뉩니다. 앞쪽은 88건반으로, 옥타브 모듈 7개와 양 끝 부속 2개가 도브테일로 끼워집니다. 뒤쪽은 깊이 195밀리의 뒷바로, 좌우 스피커 파트와 가운데 유닛으로 나뉩니다. 가운데 유닛 안에는 예비 건반 보관함, 라즈베리파이와 앰프가 들어가는 제어부 칸, 보조배터리 칸이 있습니다. 전체 크기는 1254 곱하기 410밀리의 직사각형이고, 파트 사이는 납땜 없이 커넥터로만 연결되어 따로 떼어 들고 다닐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건반 하나가 하는 일은 네 가지뿐이고, 각각 부품 하나로 해결합니다. 회전과 복귀는 건반 윗판이 뒤로 이어진 얇은 판, 리프가 맡습니다. 누르면 리프가 휘면서 건반이 돌고, 손을 떼면 플라스틱의 탄성으로 돌아옵니다. 핀이나 금속 스프링이 없습니다. 쉬는 높이는 리프를 미리 휘게 조여서 건반이 훅을 위로 누른 채 쉬게 해서 정합니다. 누름은 앞쪽 펠트에서 멈추고, 위치는 건반 밑의 자석과 그 아래 홀센서로 잽니다. 눌리는 깊이는 10밀리, 누르는 힘은 42그램에서 64그램입니다.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누르고 소리가 나기까지의 과정입니다. 건반을 누르면 밑면의 자석이 홀센서 쪽으로 다가가고, 센서는 거리를 전압으로 바꿉니다. 각 모듈의 RP2040-Zero가 멀티플렉서로 12개 센서를 차례로, 건반마다 초당 약 6천 번 읽습니다. 건반 위치가 40%에서 90%를 지나는 시간이 짧을수록 세게 친 것으로 계산하고, 90%에서 Note On, 35% 아래로 올라오면 Note Off를 보냅니다. 60%까지만 올라왔다가 다시 누르면 같은 음을 다시 칩니다. 이 정보가 USB-MIDI로 라즈베리파이에 전달되고, FluidSynth가 피아노 소리를 만듭니다. 전체 지연 목표는 10밀리초 미만입니다.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센서 쪽 부품은 네 가지입니다. 핵심은 TI의 DRV5055 선형 홀센서로, 자기장의 세기를 전압으로 바꿉니다. 건반마다 밑면에 지름 5밀리 네오디뮴 자석을 하나씩 붙이고, 그 아래에 센서를 눕혀 둡니다. 각 모듈의 두뇌는 RP2040-Zero 마이크로컨트롤러이고, 16채널 멀티플렉서로 센서 12개를 ADC 하나로 차례로 읽습니다. 홀센서를 고른 이유는 접촉이 없어 마모되지 않고, 적외선 센서처럼 주변 빛이나 색에 영향을 받지 않으며, 위치를 연속으로 재서 세기를 계산할 수 있기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 소리, 전원 쪽 주요 부품입니다. 라즈베리파이 5가 음원 컴퓨터 역할을 하고, 10포트 USB 허브로 모듈 7개와 페달을 연결합니다. 소리는 애플 USB-C 동글이 DAC 역할을 하고, 3천원 정도의 TPA3110 앰프 보드가 4인치 스피커 2개를 채널당 약 21와트로 구동합니다. 전원은 PD 트리거로 USB-C에서 20볼트를 받고, 강압 모듈로 5.1볼트를 만들어 파이와 허브에 줍니다. 페달은 시중의 스위치형 서스테인 페달을 홀센서로 개조해 하프페달까지 되게 합니다. 구조는 PETG 필라멘트 약 7킬로그램과 오꾸메 합판 2장으로 만듭니다.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비용입니다. 피아노에 직접 들어가는 부품이 약 55만원이고, 가장 큰 비중은 라즈베리파이 5를 포함한 제어부와 홀센서 100개를 포함한 센서 쪽입니다. 오디오는 스피커와 앰프를 저가 부품으로 골라 약 6만 7천원에 해결했습니다. 필라멘트와 케이블 같은 소모품이 약 17만원, 인두나 멀티미터 같은 공구가 약 9만원으로, 처음부터 모두 사도 약 80만원입니다. 목표였던 100만원 안에 들어가고, 3D 프린터는 별도입니다.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제작 계획입니다. 전체 하드웨어는 약 11주를 예상합니다. 먼저 부품을 주문하는데, 라즈베리파이 5는 납기가 길 수 있어 가장 먼저 주문합니다. 2~3주차에는 단계 0 재료 시험으로 작은 시편을 뽑아 리프의 강성, 100만 회 반복 피로, 30일 이완, 자석 간섭을 확인합니다. 설계의 핵심 숫자가 재료 추정값에 기대고 있기 때문에, 본 출력 전에 이것부터 확인합니다. 그다음 1옥타브 시제품을 만들어 PC로 첫 소리를 내고, 문제가 없으면 나머지 6옥타브와 끝 부속을 출력합니다. 이어서 뒷바, 오디오, 전원을 만들고, 마지막으로 지연과 찌그러짐, 배터리 시간을 확인하는 통합 테스트를 합니다. 그 뒤 리듬게임 연동으로 넘어갑니다.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결과입니다. 실제 피아노와 같은 폭의 88건반에, 눌리는 깊이 10밀리, 누르는 힘 42에서 64그램인 건반이 만들어집니다. 누르고 소리가 나기까지 10밀리초 미만, 스피커 음량은 1미터에서 약 99데시벨로 입문형 디지털 피아노보다 조금 큽니다. 댐퍼 페달은 반만 밟는 하프페달까지 되고, 2만 밀리암페어시 보조배터리로 약 5시간 연주할 수 있습니다. 5종 파트로 분리해 들고 다닐 수 있고, 전체 제작비는 약 80만원입니다. 음원 프로그램은 하드웨어를 그대로 둔 채 Pianoteq 같은 다른 프로그램으로 바꿀 수도 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예상되는 한계와 대책입니다. 첫째, 플라스틱은 오래 힘을 받으면 조금씩 느슨해지는 크리프가 있어 건반이 가벼워질 수 있습니다. 높이는 훅이 고정하고, 힘은 세트스크루로 다시 맞춥니다. 둘째, 리프의 반복 굽힘 수명은 아직 추정값이라 단계 0에서 100만 회 시험으로 확인합니다. 셋째, USB 동글 경로의 지연이 한계에 가까워, 측정 후 넘으면 I2S DAC로 바꿉니다. 넷째, 4인치 스피커라 가장 낮은 음의 기본음은 약하지만, 작은 디지털 피아노처럼 배음으로 들리고 찌그러짐은 필터와 리미터로 막습니다. 다섯째, 무게감은 실제 해머 건반과 다르지만 건반별로 조정할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Toccata는 플라스틱이 휘어서 움직이는 3D 프린팅 건반과 홀센서, 라즈베리파이 음원으로 만드는 휴대용 88건반 디지털 피아노입니다. 다음 단계는 단계 0 재료 시험이고, 1옥타브 시제품, 88건반 완성을 거쳐 리듬게임까지 이어갈 계획입니다. 들어 주셔서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11.jpg"/><Relationship Id="rId7"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image" Target="../media/image13.jpg"/><Relationship Id="rId10" Type="http://schemas.openxmlformats.org/officeDocument/2006/relationships/image" Target="../media/image18.jpg"/><Relationship Id="rId4" Type="http://schemas.openxmlformats.org/officeDocument/2006/relationships/image" Target="../media/image12.jpg"/><Relationship Id="rId9" Type="http://schemas.openxmlformats.org/officeDocument/2006/relationships/image" Target="../media/image17.jp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marL="0" indent="0">
              <a:buNone/>
            </a:pPr>
            <a:r>
              <a:rPr lang="en-US" altLang="ko-KR" sz="1200" dirty="0">
                <a:solidFill>
                  <a:srgbClr val="B9BEC7"/>
                </a:solidFill>
                <a:latin typeface="Apple SD Gothic Neo" pitchFamily="34" charset="0"/>
                <a:ea typeface="Apple SD Gothic Neo" pitchFamily="34" charset="-122"/>
                <a:cs typeface="Apple SD Gothic Neo" pitchFamily="34" charset="-120"/>
              </a:rPr>
              <a:t>20265010</a:t>
            </a:r>
            <a:r>
              <a:rPr lang="ko-KR" altLang="en-US" sz="1200" dirty="0">
                <a:solidFill>
                  <a:srgbClr val="B9BEC7"/>
                </a:solidFill>
                <a:latin typeface="Apple SD Gothic Neo" pitchFamily="34" charset="0"/>
                <a:ea typeface="Apple SD Gothic Neo" pitchFamily="34" charset="-122"/>
                <a:cs typeface="Apple SD Gothic Neo" pitchFamily="34" charset="-120"/>
              </a:rPr>
              <a:t> 고원규</a:t>
            </a:r>
            <a:endParaRPr lang="en-US" sz="1200" dirty="0"/>
          </a:p>
        </p:txBody>
      </p:sp>
      <p:sp>
        <p:nvSpPr>
          <p:cNvPr id="3" name="Text 1"/>
          <p:cNvSpPr txBox="1"/>
          <p:nvPr/>
        </p:nvSpPr>
        <p:spPr>
          <a:xfrm>
            <a:off x="548640" y="1051560"/>
            <a:ext cx="9144000" cy="1188720"/>
          </a:xfrm>
          <a:prstGeom prst="rect">
            <a:avLst/>
          </a:prstGeom>
          <a:noFill/>
          <a:ln/>
        </p:spPr>
        <p:txBody>
          <a:bodyPr wrap="square" lIns="0" tIns="0" rIns="0" bIns="0" rtlCol="0" anchor="ctr"/>
          <a:lstStyle/>
          <a:p>
            <a:pPr marL="0" indent="0">
              <a:buNone/>
            </a:pPr>
            <a:r>
              <a:rPr lang="en-US" sz="7200" b="1" dirty="0">
                <a:solidFill>
                  <a:srgbClr val="FFFFFF"/>
                </a:solidFill>
                <a:latin typeface="Apple SD Gothic Neo" pitchFamily="34" charset="0"/>
                <a:ea typeface="Apple SD Gothic Neo" pitchFamily="34" charset="-122"/>
                <a:cs typeface="Apple SD Gothic Neo" pitchFamily="34" charset="-120"/>
              </a:rPr>
              <a:t>Toccata</a:t>
            </a:r>
            <a:endParaRPr lang="en-US" sz="7200" dirty="0"/>
          </a:p>
        </p:txBody>
      </p:sp>
      <p:sp>
        <p:nvSpPr>
          <p:cNvPr id="4" name="Text 2"/>
          <p:cNvSpPr txBox="1"/>
          <p:nvPr/>
        </p:nvSpPr>
        <p:spPr>
          <a:xfrm>
            <a:off x="548640" y="2331720"/>
            <a:ext cx="10972800" cy="548640"/>
          </a:xfrm>
          <a:prstGeom prst="rect">
            <a:avLst/>
          </a:prstGeom>
          <a:noFill/>
          <a:ln/>
        </p:spPr>
        <p:txBody>
          <a:bodyPr wrap="square" lIns="0" tIns="0" rIns="0" bIns="0" rtlCol="0" anchor="t"/>
          <a:lstStyle/>
          <a:p>
            <a:pPr marL="0" indent="0">
              <a:buNone/>
            </a:pPr>
            <a:r>
              <a:rPr lang="en-US" sz="2000" dirty="0" err="1">
                <a:solidFill>
                  <a:schemeClr val="bg1">
                    <a:lumMod val="65000"/>
                  </a:schemeClr>
                </a:solidFill>
                <a:latin typeface="Apple SD Gothic Neo" pitchFamily="34" charset="0"/>
                <a:ea typeface="Apple SD Gothic Neo" pitchFamily="34" charset="-122"/>
                <a:cs typeface="Apple SD Gothic Neo" pitchFamily="34" charset="-120"/>
              </a:rPr>
              <a:t>휴대용</a:t>
            </a:r>
            <a:r>
              <a:rPr lang="en-US" sz="2000" dirty="0">
                <a:solidFill>
                  <a:schemeClr val="bg1">
                    <a:lumMod val="65000"/>
                  </a:schemeClr>
                </a:solidFill>
                <a:latin typeface="Apple SD Gothic Neo" pitchFamily="34" charset="0"/>
                <a:ea typeface="Apple SD Gothic Neo" pitchFamily="34" charset="-122"/>
                <a:cs typeface="Apple SD Gothic Neo" pitchFamily="34" charset="-120"/>
              </a:rPr>
              <a:t> 88건반 디지털 피아노</a:t>
            </a:r>
            <a:endParaRPr lang="en-US" sz="2000" dirty="0">
              <a:solidFill>
                <a:schemeClr val="bg1">
                  <a:lumMod val="65000"/>
                </a:schemeClr>
              </a:solidFill>
            </a:endParaRPr>
          </a:p>
        </p:txBody>
      </p:sp>
      <p:sp>
        <p:nvSpPr>
          <p:cNvPr id="6" name="Shape 4"/>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7" name="Shape 5"/>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8" name="Shape 6"/>
          <p:cNvSpPr/>
          <p:nvPr/>
        </p:nvSpPr>
        <p:spPr>
          <a:xfrm>
            <a:off x="87083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9" name="Shape 7"/>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0" name="Shape 8"/>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1" name="Shape 9"/>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2" name="Shape 10"/>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3" name="Shape 11"/>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4" name="Shape 12"/>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5" name="Shape 13"/>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16" name="Shape 14"/>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7" name="Shape 15"/>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8" name="Shape 16"/>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9" name="Shape 17"/>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0" name="Shape 18"/>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696668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3" name="Shape 21"/>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0" name="Shape 28"/>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4" name="Shape 32"/>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5" name="Shape 33"/>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6" name="Shape 34"/>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7" name="Shape 35"/>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8" name="Shape 36"/>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9" name="Shape 37"/>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0" name="Shape 38"/>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1" name="Shape 39"/>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2" name="Shape 40"/>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3" name="Shape 41"/>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4" name="Shape 42"/>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5" name="Shape 43"/>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6" name="Shape 44"/>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7" name="Shape 45"/>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8" name="Shape 46"/>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3" name="Shape 51"/>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01</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01  프로젝트 제목</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Toccata (토카타)</a:t>
            </a:r>
            <a:endParaRPr lang="en-US" sz="2800" dirty="0"/>
          </a:p>
        </p:txBody>
      </p:sp>
      <p:sp>
        <p:nvSpPr>
          <p:cNvPr id="7" name="Text 5"/>
          <p:cNvSpPr txBox="1"/>
          <p:nvPr/>
        </p:nvSpPr>
        <p:spPr>
          <a:xfrm>
            <a:off x="548640" y="2291588"/>
            <a:ext cx="5120640" cy="32004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이름의 뜻</a:t>
            </a:r>
            <a:endParaRPr lang="en-US" sz="1600" dirty="0"/>
          </a:p>
        </p:txBody>
      </p:sp>
      <p:sp>
        <p:nvSpPr>
          <p:cNvPr id="8" name="Text 6"/>
          <p:cNvSpPr txBox="1"/>
          <p:nvPr/>
        </p:nvSpPr>
        <p:spPr>
          <a:xfrm>
            <a:off x="548640" y="2657348"/>
            <a:ext cx="5120640" cy="868680"/>
          </a:xfrm>
          <a:prstGeom prst="rect">
            <a:avLst/>
          </a:prstGeom>
          <a:noFill/>
          <a:ln/>
        </p:spPr>
        <p:txBody>
          <a:bodyPr wrap="square" lIns="0" tIns="0" rIns="0" bIns="0" rtlCol="0" anchor="t"/>
          <a:lstStyle/>
          <a:p>
            <a:pPr marL="0" indent="0">
              <a:lnSpc>
                <a:spcPct val="120000"/>
              </a:lnSpc>
              <a:buNone/>
            </a:pPr>
            <a:r>
              <a:rPr lang="en-US" sz="1500" b="1" dirty="0">
                <a:solidFill>
                  <a:srgbClr val="16181D"/>
                </a:solidFill>
                <a:latin typeface="Apple SD Gothic Neo" pitchFamily="34" charset="0"/>
                <a:ea typeface="Apple SD Gothic Neo" pitchFamily="34" charset="-122"/>
                <a:cs typeface="Apple SD Gothic Neo" pitchFamily="34" charset="-120"/>
              </a:rPr>
              <a:t>토카타(toccata)</a:t>
            </a:r>
            <a:r>
              <a:rPr lang="ko-KR" altLang="en-US" sz="1500" b="1" dirty="0">
                <a:solidFill>
                  <a:srgbClr val="444A54"/>
                </a:solidFill>
                <a:latin typeface="Apple SD Gothic Neo" pitchFamily="34" charset="0"/>
                <a:ea typeface="Apple SD Gothic Neo" pitchFamily="34" charset="-122"/>
                <a:cs typeface="Apple SD Gothic Neo" pitchFamily="34" charset="-120"/>
              </a:rPr>
              <a:t> </a:t>
            </a:r>
            <a:r>
              <a:rPr lang="en-US" altLang="ko-KR" sz="1500" b="1" dirty="0">
                <a:solidFill>
                  <a:srgbClr val="444A54"/>
                </a:solidFill>
                <a:latin typeface="Apple SD Gothic Neo" pitchFamily="34" charset="0"/>
                <a:ea typeface="Apple SD Gothic Neo" pitchFamily="34" charset="-122"/>
                <a:cs typeface="Apple SD Gothic Neo" pitchFamily="34" charset="-120"/>
              </a:rPr>
              <a:t>:</a:t>
            </a:r>
            <a:r>
              <a:rPr lang="ko-KR" altLang="en-US" sz="1500" b="1" dirty="0">
                <a:solidFill>
                  <a:srgbClr val="444A54"/>
                </a:solidFill>
                <a:latin typeface="Apple SD Gothic Neo" pitchFamily="34" charset="0"/>
                <a:ea typeface="Apple SD Gothic Neo" pitchFamily="34" charset="-122"/>
                <a:cs typeface="Apple SD Gothic Neo" pitchFamily="34" charset="-120"/>
              </a:rPr>
              <a:t> </a:t>
            </a:r>
            <a:r>
              <a:rPr lang="en-US" sz="1500" dirty="0">
                <a:solidFill>
                  <a:srgbClr val="444A54"/>
                </a:solidFill>
                <a:latin typeface="Apple SD Gothic Neo" pitchFamily="34" charset="0"/>
                <a:ea typeface="Apple SD Gothic Neo" pitchFamily="34" charset="-122"/>
                <a:cs typeface="Apple SD Gothic Neo" pitchFamily="34" charset="-120"/>
              </a:rPr>
              <a:t> 건반 악기를 위한 빠르고 화려한 </a:t>
            </a:r>
            <a:r>
              <a:rPr lang="en-US" sz="1500" dirty="0" err="1">
                <a:solidFill>
                  <a:srgbClr val="444A54"/>
                </a:solidFill>
                <a:latin typeface="Apple SD Gothic Neo" pitchFamily="34" charset="0"/>
                <a:ea typeface="Apple SD Gothic Neo" pitchFamily="34" charset="-122"/>
                <a:cs typeface="Apple SD Gothic Neo" pitchFamily="34" charset="-120"/>
              </a:rPr>
              <a:t>곡</a:t>
            </a:r>
            <a:r>
              <a:rPr lang="en-US" sz="1500" dirty="0">
                <a:solidFill>
                  <a:srgbClr val="444A54"/>
                </a:solidFill>
                <a:latin typeface="Apple SD Gothic Neo" pitchFamily="34" charset="0"/>
                <a:ea typeface="Apple SD Gothic Neo" pitchFamily="34" charset="-122"/>
                <a:cs typeface="Apple SD Gothic Neo" pitchFamily="34" charset="-120"/>
              </a:rPr>
              <a:t> </a:t>
            </a:r>
            <a:r>
              <a:rPr lang="en-US" sz="1500" dirty="0" err="1">
                <a:solidFill>
                  <a:srgbClr val="444A54"/>
                </a:solidFill>
                <a:latin typeface="Apple SD Gothic Neo" pitchFamily="34" charset="0"/>
                <a:ea typeface="Apple SD Gothic Neo" pitchFamily="34" charset="-122"/>
                <a:cs typeface="Apple SD Gothic Neo" pitchFamily="34" charset="-120"/>
              </a:rPr>
              <a:t>형식</a:t>
            </a:r>
            <a:endParaRPr lang="en-US" sz="1500" dirty="0">
              <a:solidFill>
                <a:srgbClr val="444A54"/>
              </a:solidFill>
              <a:latin typeface="Apple SD Gothic Neo" pitchFamily="34" charset="0"/>
              <a:ea typeface="Apple SD Gothic Neo" pitchFamily="34" charset="-122"/>
              <a:cs typeface="Apple SD Gothic Neo" pitchFamily="34" charset="-120"/>
            </a:endParaRPr>
          </a:p>
          <a:p>
            <a:pPr marL="0" indent="0">
              <a:lnSpc>
                <a:spcPct val="120000"/>
              </a:lnSpc>
              <a:buNone/>
            </a:pPr>
            <a:r>
              <a:rPr lang="en-US" sz="1500" dirty="0">
                <a:solidFill>
                  <a:srgbClr val="444A54"/>
                </a:solidFill>
                <a:latin typeface="Apple SD Gothic Neo" pitchFamily="34" charset="0"/>
                <a:ea typeface="Apple SD Gothic Neo" pitchFamily="34" charset="-122"/>
                <a:cs typeface="Apple SD Gothic Neo" pitchFamily="34" charset="-120"/>
              </a:rPr>
              <a:t>	</a:t>
            </a:r>
            <a:r>
              <a:rPr lang="ko-KR" altLang="en-US" sz="1500" dirty="0">
                <a:solidFill>
                  <a:srgbClr val="444A54"/>
                </a:solidFill>
                <a:latin typeface="Apple SD Gothic Neo" pitchFamily="34" charset="0"/>
                <a:ea typeface="Apple SD Gothic Neo" pitchFamily="34" charset="-122"/>
                <a:cs typeface="Apple SD Gothic Neo" pitchFamily="34" charset="-120"/>
              </a:rPr>
              <a:t>           </a:t>
            </a:r>
            <a:r>
              <a:rPr lang="en-US" sz="1500" dirty="0" err="1">
                <a:solidFill>
                  <a:srgbClr val="444A54"/>
                </a:solidFill>
                <a:latin typeface="Apple SD Gothic Neo" pitchFamily="34" charset="0"/>
                <a:ea typeface="Apple SD Gothic Neo" pitchFamily="34" charset="-122"/>
                <a:cs typeface="Apple SD Gothic Neo" pitchFamily="34" charset="-120"/>
              </a:rPr>
              <a:t>이탈리아어</a:t>
            </a:r>
            <a:r>
              <a:rPr lang="en-US" sz="1500" dirty="0">
                <a:solidFill>
                  <a:srgbClr val="444A54"/>
                </a:solidFill>
                <a:latin typeface="Apple SD Gothic Neo" pitchFamily="34" charset="0"/>
                <a:ea typeface="Apple SD Gothic Neo" pitchFamily="34" charset="-122"/>
                <a:cs typeface="Apple SD Gothic Neo" pitchFamily="34" charset="-120"/>
              </a:rPr>
              <a:t> </a:t>
            </a:r>
            <a:r>
              <a:rPr lang="en-US" sz="1500" i="1" dirty="0">
                <a:solidFill>
                  <a:srgbClr val="444A54"/>
                </a:solidFill>
                <a:latin typeface="Apple SD Gothic Neo" pitchFamily="34" charset="0"/>
                <a:ea typeface="Apple SD Gothic Neo" pitchFamily="34" charset="-122"/>
                <a:cs typeface="Apple SD Gothic Neo" pitchFamily="34" charset="-120"/>
              </a:rPr>
              <a:t>toccare</a:t>
            </a:r>
            <a:r>
              <a:rPr lang="en-US" sz="1500" dirty="0">
                <a:solidFill>
                  <a:srgbClr val="444A54"/>
                </a:solidFill>
                <a:latin typeface="Apple SD Gothic Neo" pitchFamily="34" charset="0"/>
                <a:ea typeface="Apple SD Gothic Neo" pitchFamily="34" charset="-122"/>
                <a:cs typeface="Apple SD Gothic Neo" pitchFamily="34" charset="-120"/>
              </a:rPr>
              <a:t>(손대다, 건드리다)</a:t>
            </a:r>
            <a:r>
              <a:rPr lang="en-US" sz="1500" dirty="0" err="1">
                <a:solidFill>
                  <a:srgbClr val="444A54"/>
                </a:solidFill>
                <a:latin typeface="Apple SD Gothic Neo" pitchFamily="34" charset="0"/>
                <a:ea typeface="Apple SD Gothic Neo" pitchFamily="34" charset="-122"/>
                <a:cs typeface="Apple SD Gothic Neo" pitchFamily="34" charset="-120"/>
              </a:rPr>
              <a:t>에서</a:t>
            </a:r>
            <a:r>
              <a:rPr lang="ko-KR" altLang="en-US" sz="1500" dirty="0">
                <a:solidFill>
                  <a:srgbClr val="444A54"/>
                </a:solidFill>
                <a:latin typeface="Apple SD Gothic Neo" pitchFamily="34" charset="0"/>
                <a:ea typeface="Apple SD Gothic Neo" pitchFamily="34" charset="-122"/>
                <a:cs typeface="Apple SD Gothic Neo" pitchFamily="34" charset="-120"/>
              </a:rPr>
              <a:t> 유래</a:t>
            </a:r>
            <a:endParaRPr lang="en-US" sz="1500" dirty="0"/>
          </a:p>
        </p:txBody>
      </p:sp>
      <p:sp>
        <p:nvSpPr>
          <p:cNvPr id="10" name="Shape 8"/>
          <p:cNvSpPr/>
          <p:nvPr/>
        </p:nvSpPr>
        <p:spPr>
          <a:xfrm>
            <a:off x="508000" y="3808476"/>
            <a:ext cx="3312160" cy="1123696"/>
          </a:xfrm>
          <a:prstGeom prst="roundRect">
            <a:avLst>
              <a:gd name="adj" fmla="val 3902"/>
            </a:avLst>
          </a:prstGeom>
          <a:solidFill>
            <a:srgbClr val="F3F4F6"/>
          </a:solidFill>
          <a:ln w="12700">
            <a:solidFill>
              <a:srgbClr val="F3F4F6"/>
            </a:solidFill>
            <a:prstDash val="solid"/>
          </a:ln>
        </p:spPr>
        <p:txBody>
          <a:bodyPr/>
          <a:lstStyle/>
          <a:p>
            <a:endParaRPr lang="en-KR"/>
          </a:p>
        </p:txBody>
      </p:sp>
      <p:sp>
        <p:nvSpPr>
          <p:cNvPr id="11" name="Text 9"/>
          <p:cNvSpPr txBox="1"/>
          <p:nvPr/>
        </p:nvSpPr>
        <p:spPr>
          <a:xfrm>
            <a:off x="690880" y="3957320"/>
            <a:ext cx="4572000" cy="27432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한 줄 소개</a:t>
            </a:r>
            <a:endParaRPr lang="en-US" sz="1400" dirty="0"/>
          </a:p>
        </p:txBody>
      </p:sp>
      <p:sp>
        <p:nvSpPr>
          <p:cNvPr id="12" name="Text 10"/>
          <p:cNvSpPr txBox="1"/>
          <p:nvPr/>
        </p:nvSpPr>
        <p:spPr>
          <a:xfrm>
            <a:off x="690880" y="4277360"/>
            <a:ext cx="2621280" cy="274320"/>
          </a:xfrm>
          <a:prstGeom prst="rect">
            <a:avLst/>
          </a:prstGeom>
          <a:noFill/>
          <a:ln/>
        </p:spPr>
        <p:txBody>
          <a:bodyPr wrap="square" lIns="0" tIns="0" rIns="0" bIns="0" rtlCol="0" anchor="t"/>
          <a:lstStyle/>
          <a:p>
            <a:pPr marL="0" indent="0">
              <a:lnSpc>
                <a:spcPct val="120000"/>
              </a:lnSpc>
              <a:buNone/>
            </a:pPr>
            <a:r>
              <a:rPr lang="ko-KR" altLang="en-US" sz="1500" dirty="0"/>
              <a:t>휴대용 </a:t>
            </a:r>
            <a:r>
              <a:rPr lang="en-US" altLang="ko-KR" sz="1500" dirty="0"/>
              <a:t>88</a:t>
            </a:r>
            <a:r>
              <a:rPr lang="ko-KR" altLang="en-US" sz="1500" dirty="0"/>
              <a:t>건반 디지털 피아노이면서 리듬게임용 장비</a:t>
            </a:r>
            <a:endParaRPr lang="en-US" altLang="ko-KR" sz="1500" dirty="0"/>
          </a:p>
          <a:p>
            <a:pPr marL="0" indent="0">
              <a:lnSpc>
                <a:spcPct val="120000"/>
              </a:lnSpc>
              <a:buNone/>
            </a:pPr>
            <a:endParaRPr lang="en-US" sz="1500" dirty="0"/>
          </a:p>
        </p:txBody>
      </p:sp>
      <p:sp>
        <p:nvSpPr>
          <p:cNvPr id="13" name="Shape 11"/>
          <p:cNvSpPr/>
          <p:nvPr/>
        </p:nvSpPr>
        <p:spPr>
          <a:xfrm>
            <a:off x="6085840" y="2271268"/>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4" name="Text 12"/>
          <p:cNvSpPr txBox="1"/>
          <p:nvPr/>
        </p:nvSpPr>
        <p:spPr>
          <a:xfrm>
            <a:off x="6360160" y="2454148"/>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88</a:t>
            </a:r>
            <a:endParaRPr lang="en-US" sz="5400" dirty="0"/>
          </a:p>
        </p:txBody>
      </p:sp>
      <p:sp>
        <p:nvSpPr>
          <p:cNvPr id="15" name="Text 13"/>
          <p:cNvSpPr txBox="1"/>
          <p:nvPr/>
        </p:nvSpPr>
        <p:spPr>
          <a:xfrm>
            <a:off x="7777480" y="2527300"/>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건반</a:t>
            </a:r>
            <a:endParaRPr lang="en-US" sz="1800" dirty="0"/>
          </a:p>
        </p:txBody>
      </p:sp>
      <p:sp>
        <p:nvSpPr>
          <p:cNvPr id="16" name="Text 14"/>
          <p:cNvSpPr txBox="1"/>
          <p:nvPr/>
        </p:nvSpPr>
        <p:spPr>
          <a:xfrm>
            <a:off x="7777480" y="2929636"/>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A0 ~ C8, 실제 피아노와 같은 건반 폭 23.5 mm</a:t>
            </a:r>
            <a:endParaRPr lang="en-US" sz="1300" dirty="0"/>
          </a:p>
        </p:txBody>
      </p:sp>
      <p:sp>
        <p:nvSpPr>
          <p:cNvPr id="17" name="Shape 15"/>
          <p:cNvSpPr/>
          <p:nvPr/>
        </p:nvSpPr>
        <p:spPr>
          <a:xfrm>
            <a:off x="6085840" y="3816604"/>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8" name="Text 16"/>
          <p:cNvSpPr txBox="1"/>
          <p:nvPr/>
        </p:nvSpPr>
        <p:spPr>
          <a:xfrm>
            <a:off x="6360160" y="3999484"/>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7</a:t>
            </a:r>
            <a:endParaRPr lang="en-US" sz="5400" dirty="0"/>
          </a:p>
        </p:txBody>
      </p:sp>
      <p:sp>
        <p:nvSpPr>
          <p:cNvPr id="19" name="Text 17"/>
          <p:cNvSpPr txBox="1"/>
          <p:nvPr/>
        </p:nvSpPr>
        <p:spPr>
          <a:xfrm>
            <a:off x="7777480" y="4072636"/>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옥타브 모듈</a:t>
            </a:r>
            <a:endParaRPr lang="en-US" sz="1800" dirty="0"/>
          </a:p>
        </p:txBody>
      </p:sp>
      <p:sp>
        <p:nvSpPr>
          <p:cNvPr id="20" name="Text 18"/>
          <p:cNvSpPr txBox="1"/>
          <p:nvPr/>
        </p:nvSpPr>
        <p:spPr>
          <a:xfrm>
            <a:off x="7777480" y="4474972"/>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도~시 12건반 모듈이 모두 같은 구조</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직접 만드는, 실제 피아노처럼 동작하는 피아노</a:t>
            </a:r>
            <a:endParaRPr lang="en-US" sz="2800" dirty="0"/>
          </a:p>
        </p:txBody>
      </p:sp>
      <p:sp>
        <p:nvSpPr>
          <p:cNvPr id="7" name="Shape 5"/>
          <p:cNvSpPr/>
          <p:nvPr/>
        </p:nvSpPr>
        <p:spPr>
          <a:xfrm>
            <a:off x="548640" y="1508760"/>
            <a:ext cx="11094415" cy="960120"/>
          </a:xfrm>
          <a:prstGeom prst="roundRect">
            <a:avLst>
              <a:gd name="adj" fmla="val 7619"/>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1508760"/>
            <a:ext cx="822960" cy="960120"/>
          </a:xfrm>
          <a:prstGeom prst="rect">
            <a:avLst/>
          </a:prstGeom>
          <a:noFill/>
          <a:ln/>
        </p:spPr>
        <p:txBody>
          <a:bodyPr wrap="square" lIns="0" tIns="0" rIns="0" bIns="0" rtlCol="0" anchor="ctr"/>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주제</a:t>
            </a:r>
            <a:endParaRPr lang="en-US" sz="1400" dirty="0"/>
          </a:p>
        </p:txBody>
      </p:sp>
      <p:sp>
        <p:nvSpPr>
          <p:cNvPr id="9" name="Text 7"/>
          <p:cNvSpPr txBox="1"/>
          <p:nvPr/>
        </p:nvSpPr>
        <p:spPr>
          <a:xfrm>
            <a:off x="1691640" y="1508760"/>
            <a:ext cx="9631375" cy="960120"/>
          </a:xfrm>
          <a:prstGeom prst="rect">
            <a:avLst/>
          </a:prstGeom>
          <a:noFill/>
          <a:ln/>
        </p:spPr>
        <p:txBody>
          <a:bodyPr wrap="square" lIns="0" tIns="0" rIns="0" bIns="0" rtlCol="0" anchor="ctr"/>
          <a:lstStyle/>
          <a:p>
            <a:pPr marL="0" indent="0">
              <a:lnSpc>
                <a:spcPct val="115000"/>
              </a:lnSpc>
              <a:buNone/>
            </a:pPr>
            <a:r>
              <a:rPr lang="en-US" sz="1600" dirty="0">
                <a:solidFill>
                  <a:srgbClr val="FFFFFF"/>
                </a:solidFill>
                <a:latin typeface="Apple SD Gothic Neo" pitchFamily="34" charset="0"/>
                <a:ea typeface="Apple SD Gothic Neo" pitchFamily="34" charset="-122"/>
                <a:cs typeface="Apple SD Gothic Neo" pitchFamily="34" charset="-120"/>
              </a:rPr>
              <a:t>3D 프린팅 건반 + 홀센서 + 소프트웨어 음원으로, 누르는 세기와 페달까지 표현하는 88건반 디지털 </a:t>
            </a:r>
            <a:r>
              <a:rPr lang="en-US" sz="1600" dirty="0" err="1">
                <a:solidFill>
                  <a:srgbClr val="FFFFFF"/>
                </a:solidFill>
                <a:latin typeface="Apple SD Gothic Neo" pitchFamily="34" charset="0"/>
                <a:ea typeface="Apple SD Gothic Neo" pitchFamily="34" charset="-122"/>
                <a:cs typeface="Apple SD Gothic Neo" pitchFamily="34" charset="-120"/>
              </a:rPr>
              <a:t>피아노를</a:t>
            </a:r>
            <a:r>
              <a:rPr lang="en-US" sz="1600" dirty="0">
                <a:solidFill>
                  <a:srgbClr val="FFFFFF"/>
                </a:solidFill>
                <a:latin typeface="Apple SD Gothic Neo" pitchFamily="34" charset="0"/>
                <a:ea typeface="Apple SD Gothic Neo" pitchFamily="34" charset="-122"/>
                <a:cs typeface="Apple SD Gothic Neo" pitchFamily="34" charset="-120"/>
              </a:rPr>
              <a:t> </a:t>
            </a:r>
            <a:r>
              <a:rPr lang="en-US" sz="1600" dirty="0" err="1">
                <a:solidFill>
                  <a:srgbClr val="FFFFFF"/>
                </a:solidFill>
                <a:latin typeface="Apple SD Gothic Neo" pitchFamily="34" charset="0"/>
                <a:ea typeface="Apple SD Gothic Neo" pitchFamily="34" charset="-122"/>
                <a:cs typeface="Apple SD Gothic Neo" pitchFamily="34" charset="-120"/>
              </a:rPr>
              <a:t>직접</a:t>
            </a:r>
            <a:r>
              <a:rPr lang="en-US" sz="1600" dirty="0">
                <a:solidFill>
                  <a:srgbClr val="FFFFFF"/>
                </a:solidFill>
                <a:latin typeface="Apple SD Gothic Neo" pitchFamily="34" charset="0"/>
                <a:ea typeface="Apple SD Gothic Neo" pitchFamily="34" charset="-122"/>
                <a:cs typeface="Apple SD Gothic Neo" pitchFamily="34" charset="-120"/>
              </a:rPr>
              <a:t> 설계하고 </a:t>
            </a:r>
            <a:r>
              <a:rPr lang="en-US" sz="1600" dirty="0" err="1">
                <a:solidFill>
                  <a:srgbClr val="FFFFFF"/>
                </a:solidFill>
                <a:latin typeface="Apple SD Gothic Neo" pitchFamily="34" charset="0"/>
                <a:ea typeface="Apple SD Gothic Neo" pitchFamily="34" charset="-122"/>
                <a:cs typeface="Apple SD Gothic Neo" pitchFamily="34" charset="-120"/>
              </a:rPr>
              <a:t>만든다</a:t>
            </a:r>
            <a:r>
              <a:rPr lang="en-US" sz="1600" dirty="0">
                <a:solidFill>
                  <a:srgbClr val="FFFFFF"/>
                </a:solidFill>
                <a:latin typeface="Apple SD Gothic Neo" pitchFamily="34" charset="0"/>
                <a:ea typeface="Apple SD Gothic Neo" pitchFamily="34" charset="-122"/>
                <a:cs typeface="Apple SD Gothic Neo" pitchFamily="34" charset="-120"/>
              </a:rPr>
              <a:t>.</a:t>
            </a:r>
            <a:r>
              <a:rPr lang="ko-KR" altLang="en-US" sz="1600" dirty="0">
                <a:solidFill>
                  <a:srgbClr val="FFFFFF"/>
                </a:solidFill>
                <a:latin typeface="Apple SD Gothic Neo" pitchFamily="34" charset="0"/>
                <a:ea typeface="Apple SD Gothic Neo" pitchFamily="34" charset="-122"/>
                <a:cs typeface="Apple SD Gothic Neo" pitchFamily="34" charset="-120"/>
              </a:rPr>
              <a:t> </a:t>
            </a:r>
            <a:r>
              <a:rPr lang="en-US" altLang="ko-KR" sz="1600" dirty="0">
                <a:solidFill>
                  <a:srgbClr val="FFFFFF"/>
                </a:solidFill>
                <a:latin typeface="Apple SD Gothic Neo" pitchFamily="34" charset="0"/>
                <a:ea typeface="Apple SD Gothic Neo" pitchFamily="34" charset="-122"/>
                <a:cs typeface="Apple SD Gothic Neo" pitchFamily="34" charset="-120"/>
              </a:rPr>
              <a:t>+</a:t>
            </a:r>
            <a:r>
              <a:rPr lang="ko-KR" altLang="en-US" sz="1600" dirty="0">
                <a:solidFill>
                  <a:srgbClr val="FFFFFF"/>
                </a:solidFill>
                <a:latin typeface="Apple SD Gothic Neo" pitchFamily="34" charset="0"/>
                <a:ea typeface="Apple SD Gothic Neo" pitchFamily="34" charset="-122"/>
                <a:cs typeface="Apple SD Gothic Neo" pitchFamily="34" charset="-120"/>
              </a:rPr>
              <a:t> 피아노를 </a:t>
            </a:r>
            <a:endParaRPr lang="en-US" sz="1600" dirty="0"/>
          </a:p>
        </p:txBody>
      </p:sp>
      <p:sp>
        <p:nvSpPr>
          <p:cNvPr id="10" name="Shape 8"/>
          <p:cNvSpPr/>
          <p:nvPr/>
        </p:nvSpPr>
        <p:spPr>
          <a:xfrm>
            <a:off x="548640"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1" name="Shape 9"/>
          <p:cNvSpPr/>
          <p:nvPr/>
        </p:nvSpPr>
        <p:spPr>
          <a:xfrm>
            <a:off x="822960" y="3017520"/>
            <a:ext cx="658368" cy="658368"/>
          </a:xfrm>
          <a:prstGeom prst="ellipse">
            <a:avLst/>
          </a:prstGeom>
          <a:solidFill>
            <a:srgbClr val="FBE9E4"/>
          </a:solidFill>
          <a:ln w="12700">
            <a:solidFill>
              <a:srgbClr val="FBE9E4"/>
            </a:solidFill>
            <a:prstDash val="solid"/>
          </a:ln>
        </p:spPr>
        <p:txBody>
          <a:bodyPr/>
          <a:lstStyle/>
          <a:p>
            <a:endParaRPr lang="en-KR"/>
          </a:p>
        </p:txBody>
      </p:sp>
      <p:pic>
        <p:nvPicPr>
          <p:cNvPr id="12" name="Image 0" descr="preencoded.png"/>
          <p:cNvPicPr>
            <a:picLocks noChangeAspect="1"/>
          </p:cNvPicPr>
          <p:nvPr/>
        </p:nvPicPr>
        <p:blipFill>
          <a:blip r:embed="rId3"/>
          <a:stretch>
            <a:fillRect/>
          </a:stretch>
        </p:blipFill>
        <p:spPr>
          <a:xfrm>
            <a:off x="950976" y="3145536"/>
            <a:ext cx="402336" cy="402336"/>
          </a:xfrm>
          <a:prstGeom prst="rect">
            <a:avLst/>
          </a:prstGeom>
        </p:spPr>
      </p:pic>
      <p:sp>
        <p:nvSpPr>
          <p:cNvPr id="13" name="Text 10"/>
          <p:cNvSpPr txBox="1"/>
          <p:nvPr/>
        </p:nvSpPr>
        <p:spPr>
          <a:xfrm>
            <a:off x="822960"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실제 피아노처럼</a:t>
            </a:r>
            <a:endParaRPr lang="en-US" sz="1600" dirty="0"/>
          </a:p>
        </p:txBody>
      </p:sp>
      <p:sp>
        <p:nvSpPr>
          <p:cNvPr id="14" name="Text 11"/>
          <p:cNvSpPr txBox="1"/>
          <p:nvPr/>
        </p:nvSpPr>
        <p:spPr>
          <a:xfrm>
            <a:off x="777240"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누르는 세기·속도에 따라 소리 크기와 음색이 달라지고, 댐퍼 페달(하프페달)까지 된다. 입문형 디지털 피아노(Yamaha P-145)의 기본기가 기준이다.</a:t>
            </a:r>
            <a:endParaRPr lang="en-US" sz="1250" dirty="0"/>
          </a:p>
        </p:txBody>
      </p:sp>
      <p:sp>
        <p:nvSpPr>
          <p:cNvPr id="15" name="Shape 12"/>
          <p:cNvSpPr/>
          <p:nvPr/>
        </p:nvSpPr>
        <p:spPr>
          <a:xfrm>
            <a:off x="3390824"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6" name="Shape 13"/>
          <p:cNvSpPr/>
          <p:nvPr/>
        </p:nvSpPr>
        <p:spPr>
          <a:xfrm>
            <a:off x="3665144" y="3017520"/>
            <a:ext cx="658368" cy="658368"/>
          </a:xfrm>
          <a:prstGeom prst="ellipse">
            <a:avLst/>
          </a:prstGeom>
          <a:solidFill>
            <a:srgbClr val="FBE9E4"/>
          </a:solidFill>
          <a:ln w="12700">
            <a:solidFill>
              <a:srgbClr val="FBE9E4"/>
            </a:solidFill>
            <a:prstDash val="solid"/>
          </a:ln>
        </p:spPr>
        <p:txBody>
          <a:bodyPr/>
          <a:lstStyle/>
          <a:p>
            <a:endParaRPr lang="en-KR"/>
          </a:p>
        </p:txBody>
      </p:sp>
      <p:pic>
        <p:nvPicPr>
          <p:cNvPr id="17" name="Image 1" descr="preencoded.png"/>
          <p:cNvPicPr>
            <a:picLocks noChangeAspect="1"/>
          </p:cNvPicPr>
          <p:nvPr/>
        </p:nvPicPr>
        <p:blipFill>
          <a:blip r:embed="rId4"/>
          <a:stretch>
            <a:fillRect/>
          </a:stretch>
        </p:blipFill>
        <p:spPr>
          <a:xfrm>
            <a:off x="3793160" y="3145536"/>
            <a:ext cx="402336" cy="402336"/>
          </a:xfrm>
          <a:prstGeom prst="rect">
            <a:avLst/>
          </a:prstGeom>
        </p:spPr>
      </p:pic>
      <p:sp>
        <p:nvSpPr>
          <p:cNvPr id="18" name="Text 14"/>
          <p:cNvSpPr txBox="1"/>
          <p:nvPr/>
        </p:nvSpPr>
        <p:spPr>
          <a:xfrm>
            <a:off x="3665144"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최대한 단순한 구조</a:t>
            </a:r>
            <a:endParaRPr lang="en-US" sz="1600" dirty="0"/>
          </a:p>
        </p:txBody>
      </p:sp>
      <p:sp>
        <p:nvSpPr>
          <p:cNvPr id="19" name="Text 15"/>
          <p:cNvSpPr txBox="1"/>
          <p:nvPr/>
        </p:nvSpPr>
        <p:spPr>
          <a:xfrm>
            <a:off x="3619424"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핀·금속 스프링 없이 플라스틱이 휘어서 눌리고 돌아오는 컴플라이언트 메커니즘을 쓴다. 한 옥타브가 출력물 5개다.</a:t>
            </a:r>
            <a:endParaRPr lang="en-US" sz="1250" dirty="0"/>
          </a:p>
        </p:txBody>
      </p:sp>
      <p:sp>
        <p:nvSpPr>
          <p:cNvPr id="20" name="Shape 16"/>
          <p:cNvSpPr/>
          <p:nvPr/>
        </p:nvSpPr>
        <p:spPr>
          <a:xfrm>
            <a:off x="6233008"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21" name="Shape 17"/>
          <p:cNvSpPr/>
          <p:nvPr/>
        </p:nvSpPr>
        <p:spPr>
          <a:xfrm>
            <a:off x="6507328" y="3017520"/>
            <a:ext cx="658368" cy="658368"/>
          </a:xfrm>
          <a:prstGeom prst="ellipse">
            <a:avLst/>
          </a:prstGeom>
          <a:solidFill>
            <a:srgbClr val="FBE9E4"/>
          </a:solidFill>
          <a:ln w="12700">
            <a:solidFill>
              <a:srgbClr val="FBE9E4"/>
            </a:solidFill>
            <a:prstDash val="solid"/>
          </a:ln>
        </p:spPr>
        <p:txBody>
          <a:bodyPr/>
          <a:lstStyle/>
          <a:p>
            <a:endParaRPr lang="en-KR"/>
          </a:p>
        </p:txBody>
      </p:sp>
      <p:pic>
        <p:nvPicPr>
          <p:cNvPr id="22" name="Image 2" descr="preencoded.png"/>
          <p:cNvPicPr>
            <a:picLocks noChangeAspect="1"/>
          </p:cNvPicPr>
          <p:nvPr/>
        </p:nvPicPr>
        <p:blipFill>
          <a:blip r:embed="rId5"/>
          <a:stretch>
            <a:fillRect/>
          </a:stretch>
        </p:blipFill>
        <p:spPr>
          <a:xfrm>
            <a:off x="6635344" y="3145536"/>
            <a:ext cx="402336" cy="402336"/>
          </a:xfrm>
          <a:prstGeom prst="rect">
            <a:avLst/>
          </a:prstGeom>
        </p:spPr>
      </p:pic>
      <p:sp>
        <p:nvSpPr>
          <p:cNvPr id="23" name="Text 18"/>
          <p:cNvSpPr txBox="1"/>
          <p:nvPr/>
        </p:nvSpPr>
        <p:spPr>
          <a:xfrm>
            <a:off x="6507328"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나눠 들고 다니는 피아노</a:t>
            </a:r>
            <a:endParaRPr lang="en-US" sz="1600" dirty="0"/>
          </a:p>
        </p:txBody>
      </p:sp>
      <p:sp>
        <p:nvSpPr>
          <p:cNvPr id="24" name="Text 19"/>
          <p:cNvSpPr txBox="1"/>
          <p:nvPr/>
        </p:nvSpPr>
        <p:spPr>
          <a:xfrm>
            <a:off x="6461608"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옥타브 모듈 7개와 스피커·제어부를 모두 따로 떼어 보관한다. 보조배터리로 콘센트 없이 연주한다.</a:t>
            </a:r>
            <a:endParaRPr lang="en-US" sz="1250" dirty="0"/>
          </a:p>
        </p:txBody>
      </p:sp>
      <p:sp>
        <p:nvSpPr>
          <p:cNvPr id="25" name="Shape 20"/>
          <p:cNvSpPr/>
          <p:nvPr/>
        </p:nvSpPr>
        <p:spPr>
          <a:xfrm>
            <a:off x="9075191"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26" name="Shape 21"/>
          <p:cNvSpPr/>
          <p:nvPr/>
        </p:nvSpPr>
        <p:spPr>
          <a:xfrm>
            <a:off x="9349511" y="3017520"/>
            <a:ext cx="658368" cy="658368"/>
          </a:xfrm>
          <a:prstGeom prst="ellipse">
            <a:avLst/>
          </a:prstGeom>
          <a:solidFill>
            <a:srgbClr val="FBE9E4"/>
          </a:solidFill>
          <a:ln w="12700">
            <a:solidFill>
              <a:srgbClr val="FBE9E4"/>
            </a:solidFill>
            <a:prstDash val="solid"/>
          </a:ln>
        </p:spPr>
        <p:txBody>
          <a:bodyPr/>
          <a:lstStyle/>
          <a:p>
            <a:endParaRPr lang="en-KR"/>
          </a:p>
        </p:txBody>
      </p:sp>
      <p:pic>
        <p:nvPicPr>
          <p:cNvPr id="27" name="Image 3" descr="preencoded.png"/>
          <p:cNvPicPr>
            <a:picLocks noChangeAspect="1"/>
          </p:cNvPicPr>
          <p:nvPr/>
        </p:nvPicPr>
        <p:blipFill>
          <a:blip r:embed="rId6"/>
          <a:stretch>
            <a:fillRect/>
          </a:stretch>
        </p:blipFill>
        <p:spPr>
          <a:xfrm>
            <a:off x="9477527" y="3145536"/>
            <a:ext cx="402336" cy="402336"/>
          </a:xfrm>
          <a:prstGeom prst="rect">
            <a:avLst/>
          </a:prstGeom>
        </p:spPr>
      </p:pic>
      <p:sp>
        <p:nvSpPr>
          <p:cNvPr id="28" name="Text 22"/>
          <p:cNvSpPr txBox="1"/>
          <p:nvPr/>
        </p:nvSpPr>
        <p:spPr>
          <a:xfrm>
            <a:off x="9349511"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적은 비용, 손으로 제작</a:t>
            </a:r>
            <a:endParaRPr lang="en-US" sz="1600" dirty="0"/>
          </a:p>
        </p:txBody>
      </p:sp>
      <p:sp>
        <p:nvSpPr>
          <p:cNvPr id="29" name="Text 23"/>
          <p:cNvSpPr txBox="1"/>
          <p:nvPr/>
        </p:nvSpPr>
        <p:spPr>
          <a:xfrm>
            <a:off x="9303791"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총 100만원 이하가 목표다. PCB 대신 손 납땜 만능기판, 음원은 무료 프로그램(FluidSynth)을 쓴다.</a:t>
            </a:r>
            <a:endParaRPr lang="en-US" sz="1250" dirty="0"/>
          </a:p>
        </p:txBody>
      </p:sp>
      <p:sp>
        <p:nvSpPr>
          <p:cNvPr id="30" name="Text 24"/>
          <p:cNvSpPr txBox="1"/>
          <p:nvPr/>
        </p:nvSpPr>
        <p:spPr>
          <a:xfrm>
            <a:off x="548640" y="6053328"/>
            <a:ext cx="9144000" cy="274320"/>
          </a:xfrm>
          <a:prstGeom prst="rect">
            <a:avLst/>
          </a:prstGeom>
          <a:noFill/>
          <a:ln/>
        </p:spPr>
        <p:txBody>
          <a:bodyPr wrap="square" lIns="0" tIns="0" rIns="0" bIns="0" rtlCol="0" anchor="t"/>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다음 단계  </a:t>
            </a:r>
            <a:r>
              <a:rPr lang="en-US" sz="1300" dirty="0">
                <a:solidFill>
                  <a:srgbClr val="444A54"/>
                </a:solidFill>
                <a:latin typeface="Apple SD Gothic Neo" pitchFamily="34" charset="0"/>
                <a:ea typeface="Apple SD Gothic Neo" pitchFamily="34" charset="-122"/>
                <a:cs typeface="Apple SD Gothic Neo" pitchFamily="34" charset="-120"/>
              </a:rPr>
              <a:t>완성한 피아노를 컨트롤러로 쓰는 리듬게임까지 이어서 만든다.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무엇을 참고했고, 무엇을 다르게 하나</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816096"/>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475488">
                <a:tc>
                  <a:txBody>
                    <a:bodyPr/>
                    <a:lstStyle/>
                    <a:p>
                      <a:pPr marL="0" indent="0" algn="l">
                        <a:buNone/>
                      </a:pPr>
                      <a:endParaRPr lang="en-US" sz="13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1300" b="1" dirty="0">
                          <a:solidFill>
                            <a:srgbClr val="FFFFFF"/>
                          </a:solidFill>
                          <a:latin typeface="Apple SD Gothic Neo" pitchFamily="34" charset="0"/>
                          <a:ea typeface="Apple SD Gothic Neo" pitchFamily="34" charset="-122"/>
                          <a:cs typeface="Apple SD Gothic Neo" pitchFamily="34" charset="-120"/>
                        </a:rPr>
                        <a:t>입문형 디지털 피아노 (Yamaha P-145)</a:t>
                      </a:r>
                      <a:endParaRPr lang="en-US" sz="13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1300" b="1" dirty="0">
                          <a:solidFill>
                            <a:srgbClr val="FFFFFF"/>
                          </a:solidFill>
                          <a:latin typeface="Apple SD Gothic Neo" pitchFamily="34" charset="0"/>
                          <a:ea typeface="Apple SD Gothic Neo" pitchFamily="34" charset="-122"/>
                          <a:cs typeface="Apple SD Gothic Neo" pitchFamily="34" charset="-120"/>
                        </a:rPr>
                        <a:t>참고 영상: 3D 프린팅 피아노 (dovetail studio)</a:t>
                      </a:r>
                      <a:endParaRPr lang="en-US" sz="13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1300" b="1" dirty="0">
                          <a:solidFill>
                            <a:srgbClr val="FFFFFF"/>
                          </a:solidFill>
                          <a:latin typeface="Apple SD Gothic Neo" pitchFamily="34" charset="0"/>
                          <a:ea typeface="Apple SD Gothic Neo" pitchFamily="34" charset="-122"/>
                          <a:cs typeface="Apple SD Gothic Neo" pitchFamily="34" charset="-120"/>
                        </a:rPr>
                        <a:t>Toccata</a:t>
                      </a:r>
                      <a:endParaRPr lang="en-US" sz="13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D9482B"/>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수</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88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60 (5옥타브 시제품)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88 (A0 ~ C8)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건반이 움직이는 방식</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해머 액션 (완제품)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얇은 4절 링크가 휘고, 무게 레버로 무게감</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리프(얇은 판) 한 장이 회전축이자 복귀 스프링</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한 옥타브 부품 수</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53개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출력물 5개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누름 감지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세기 감지 (내장)</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적외선 반사 센서 — 보정 부담이 큼</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홀센서 + 자석 — 비접촉, 위치를 연속으로 측정</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전자부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직접 설계한 PCB + Pico 1개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손 납땜 만능기판, 모듈마다 USB-MIDI</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스피커</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7 W × 2</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약 21 W × 2 내장 (P-145보다 +3~6 dB)</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분리·휴대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한 덩어리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파트 5종 분리 + 보조배터리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8" name="Text 5"/>
          <p:cNvSpPr txBox="1"/>
          <p:nvPr/>
        </p:nvSpPr>
        <p:spPr>
          <a:xfrm>
            <a:off x="548640" y="5870448"/>
            <a:ext cx="11094415" cy="411480"/>
          </a:xfrm>
          <a:prstGeom prst="rect">
            <a:avLst/>
          </a:prstGeom>
          <a:noFill/>
          <a:ln/>
        </p:spPr>
        <p:txBody>
          <a:bodyPr wrap="square" lIns="0" tIns="0" rIns="0" bIns="0" rtlCol="0" anchor="t"/>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영상 제작자의 교훈  </a:t>
            </a:r>
            <a:r>
              <a:rPr lang="en-US" sz="1300" dirty="0">
                <a:solidFill>
                  <a:srgbClr val="444A54"/>
                </a:solidFill>
                <a:latin typeface="Apple SD Gothic Neo" pitchFamily="34" charset="0"/>
                <a:ea typeface="Apple SD Gothic Neo" pitchFamily="34" charset="-122"/>
                <a:cs typeface="Apple SD Gothic Neo" pitchFamily="34" charset="-120"/>
              </a:rPr>
              <a:t>“센서와 건반의 신뢰성이 부족했다, 다음은 PETG와 홀센서로” → Toccata는 처음부터 PETG + 홀센서로 시작한다.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시스템 구성 — 건반에서 스피커까지</a:t>
            </a:r>
            <a:endParaRPr lang="en-US" sz="2800" dirty="0"/>
          </a:p>
        </p:txBody>
      </p:sp>
      <p:sp>
        <p:nvSpPr>
          <p:cNvPr id="7" name="Shape 5"/>
          <p:cNvSpPr/>
          <p:nvPr/>
        </p:nvSpPr>
        <p:spPr>
          <a:xfrm>
            <a:off x="548640" y="1554480"/>
            <a:ext cx="2834640" cy="2331720"/>
          </a:xfrm>
          <a:prstGeom prst="roundRect">
            <a:avLst>
              <a:gd name="adj" fmla="val 3137"/>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31520" y="1664208"/>
            <a:ext cx="256032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  (O1 ~ O7)</a:t>
            </a:r>
            <a:endParaRPr lang="en-US" sz="1400" dirty="0"/>
          </a:p>
        </p:txBody>
      </p:sp>
      <p:sp>
        <p:nvSpPr>
          <p:cNvPr id="9" name="Text 7"/>
          <p:cNvSpPr txBox="1"/>
          <p:nvPr/>
        </p:nvSpPr>
        <p:spPr>
          <a:xfrm>
            <a:off x="731520" y="2057400"/>
            <a:ext cx="2560320" cy="17373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홀센서 12 + 자석 12</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16채널 먹스 → RP2040-Zero</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USB-MIDI 장치 ‘Toccata O1~O7’</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끝 부속(A0~B0, C8)은 O1·O7에 연결</a:t>
            </a:r>
            <a:endParaRPr lang="en-US" sz="1250" dirty="0"/>
          </a:p>
        </p:txBody>
      </p:sp>
      <p:sp>
        <p:nvSpPr>
          <p:cNvPr id="10" name="Shape 8"/>
          <p:cNvSpPr/>
          <p:nvPr/>
        </p:nvSpPr>
        <p:spPr>
          <a:xfrm>
            <a:off x="548640" y="4160520"/>
            <a:ext cx="2834640" cy="914400"/>
          </a:xfrm>
          <a:prstGeom prst="roundRect">
            <a:avLst>
              <a:gd name="adj" fmla="val 8000"/>
            </a:avLst>
          </a:prstGeom>
          <a:solidFill>
            <a:srgbClr val="F3F4F6"/>
          </a:solidFill>
          <a:ln w="12700">
            <a:solidFill>
              <a:srgbClr val="F3F4F6"/>
            </a:solidFill>
            <a:prstDash val="solid"/>
          </a:ln>
        </p:spPr>
        <p:txBody>
          <a:bodyPr/>
          <a:lstStyle/>
          <a:p>
            <a:endParaRPr lang="en-KR"/>
          </a:p>
        </p:txBody>
      </p:sp>
      <p:sp>
        <p:nvSpPr>
          <p:cNvPr id="11" name="Text 9"/>
          <p:cNvSpPr txBox="1"/>
          <p:nvPr/>
        </p:nvSpPr>
        <p:spPr>
          <a:xfrm>
            <a:off x="731520" y="4251960"/>
            <a:ext cx="2560320" cy="301752"/>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12" name="Text 10"/>
          <p:cNvSpPr txBox="1"/>
          <p:nvPr/>
        </p:nvSpPr>
        <p:spPr>
          <a:xfrm>
            <a:off x="731520" y="4572000"/>
            <a:ext cx="2560320" cy="411480"/>
          </a:xfrm>
          <a:prstGeom prst="rect">
            <a:avLst/>
          </a:prstGeom>
          <a:noFill/>
          <a:ln/>
        </p:spPr>
        <p:txBody>
          <a:bodyPr wrap="square" lIns="0" tIns="0" rIns="0" bIns="0" rtlCol="0" anchor="t"/>
          <a:lstStyle/>
          <a:p>
            <a:pPr marL="0" indent="0">
              <a:buNone/>
            </a:pPr>
            <a:r>
              <a:rPr lang="en-US" sz="1250" dirty="0">
                <a:solidFill>
                  <a:srgbClr val="444A54"/>
                </a:solidFill>
                <a:latin typeface="Apple SD Gothic Neo" pitchFamily="34" charset="0"/>
                <a:ea typeface="Apple SD Gothic Neo" pitchFamily="34" charset="-122"/>
                <a:cs typeface="Apple SD Gothic Neo" pitchFamily="34" charset="-120"/>
              </a:rPr>
              <a:t>스위치 페달을 홀센서로 개조 → PED 보드</a:t>
            </a:r>
            <a:endParaRPr lang="en-US" sz="1250" dirty="0"/>
          </a:p>
        </p:txBody>
      </p:sp>
      <p:sp>
        <p:nvSpPr>
          <p:cNvPr id="13" name="Shape 11"/>
          <p:cNvSpPr/>
          <p:nvPr/>
        </p:nvSpPr>
        <p:spPr>
          <a:xfrm>
            <a:off x="4069080" y="2194560"/>
            <a:ext cx="1920240" cy="1051560"/>
          </a:xfrm>
          <a:prstGeom prst="roundRect">
            <a:avLst>
              <a:gd name="adj" fmla="val 6957"/>
            </a:avLst>
          </a:prstGeom>
          <a:solidFill>
            <a:srgbClr val="FFFFFF"/>
          </a:solidFill>
          <a:ln w="12700">
            <a:solidFill>
              <a:srgbClr val="16181D"/>
            </a:solidFill>
            <a:prstDash val="solid"/>
          </a:ln>
        </p:spPr>
        <p:txBody>
          <a:bodyPr/>
          <a:lstStyle/>
          <a:p>
            <a:endParaRPr lang="en-KR"/>
          </a:p>
        </p:txBody>
      </p:sp>
      <p:sp>
        <p:nvSpPr>
          <p:cNvPr id="14" name="Text 12"/>
          <p:cNvSpPr txBox="1"/>
          <p:nvPr/>
        </p:nvSpPr>
        <p:spPr>
          <a:xfrm>
            <a:off x="4069080" y="2304288"/>
            <a:ext cx="1920240" cy="320040"/>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USB 허브</a:t>
            </a:r>
            <a:endParaRPr lang="en-US" sz="1400" dirty="0"/>
          </a:p>
        </p:txBody>
      </p:sp>
      <p:sp>
        <p:nvSpPr>
          <p:cNvPr id="15" name="Text 13"/>
          <p:cNvSpPr txBox="1"/>
          <p:nvPr/>
        </p:nvSpPr>
        <p:spPr>
          <a:xfrm>
            <a:off x="4069080" y="2651760"/>
            <a:ext cx="1920240" cy="274320"/>
          </a:xfrm>
          <a:prstGeom prst="rect">
            <a:avLst/>
          </a:prstGeom>
          <a:noFill/>
          <a:ln/>
        </p:spPr>
        <p:txBody>
          <a:bodyPr wrap="square" lIns="0" tIns="0" rIns="0" bIns="0" rtlCol="0" anchor="t"/>
          <a:lstStyle/>
          <a:p>
            <a:pPr marL="0" indent="0" algn="ctr">
              <a:buNone/>
            </a:pPr>
            <a:r>
              <a:rPr lang="en-US" sz="1200" dirty="0">
                <a:solidFill>
                  <a:srgbClr val="767D88"/>
                </a:solidFill>
                <a:latin typeface="Apple SD Gothic Neo" pitchFamily="34" charset="0"/>
                <a:ea typeface="Apple SD Gothic Neo" pitchFamily="34" charset="-122"/>
                <a:cs typeface="Apple SD Gothic Neo" pitchFamily="34" charset="-120"/>
              </a:rPr>
              <a:t>10포트 · 전원형</a:t>
            </a:r>
            <a:endParaRPr lang="en-US" sz="1200" dirty="0"/>
          </a:p>
        </p:txBody>
      </p:sp>
      <p:sp>
        <p:nvSpPr>
          <p:cNvPr id="16" name="Shape 14"/>
          <p:cNvSpPr/>
          <p:nvPr/>
        </p:nvSpPr>
        <p:spPr>
          <a:xfrm>
            <a:off x="6629400" y="1783080"/>
            <a:ext cx="2331720" cy="1920240"/>
          </a:xfrm>
          <a:prstGeom prst="roundRect">
            <a:avLst>
              <a:gd name="adj" fmla="val 3810"/>
            </a:avLst>
          </a:prstGeom>
          <a:solidFill>
            <a:srgbClr val="121317"/>
          </a:solidFill>
          <a:ln w="12700">
            <a:solidFill>
              <a:srgbClr val="121317"/>
            </a:solidFill>
            <a:prstDash val="solid"/>
          </a:ln>
        </p:spPr>
        <p:txBody>
          <a:bodyPr/>
          <a:lstStyle/>
          <a:p>
            <a:endParaRPr lang="en-KR"/>
          </a:p>
        </p:txBody>
      </p:sp>
      <p:sp>
        <p:nvSpPr>
          <p:cNvPr id="17" name="Text 15"/>
          <p:cNvSpPr txBox="1"/>
          <p:nvPr/>
        </p:nvSpPr>
        <p:spPr>
          <a:xfrm>
            <a:off x="6629400" y="1938528"/>
            <a:ext cx="2331720" cy="365760"/>
          </a:xfrm>
          <a:prstGeom prst="rect">
            <a:avLst/>
          </a:prstGeom>
          <a:noFill/>
          <a:ln/>
        </p:spPr>
        <p:txBody>
          <a:bodyPr wrap="square" lIns="0" tIns="0" rIns="0" bIns="0" rtlCol="0" anchor="t"/>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Raspberry Pi 5</a:t>
            </a:r>
            <a:endParaRPr lang="en-US" sz="1600" dirty="0"/>
          </a:p>
        </p:txBody>
      </p:sp>
      <p:sp>
        <p:nvSpPr>
          <p:cNvPr id="18" name="Text 16"/>
          <p:cNvSpPr txBox="1"/>
          <p:nvPr/>
        </p:nvSpPr>
        <p:spPr>
          <a:xfrm>
            <a:off x="6720840" y="2377440"/>
            <a:ext cx="2148840" cy="1143000"/>
          </a:xfrm>
          <a:prstGeom prst="rect">
            <a:avLst/>
          </a:prstGeom>
          <a:noFill/>
          <a:ln/>
        </p:spPr>
        <p:txBody>
          <a:bodyPr wrap="square" lIns="0" tIns="0" rIns="0" bIns="0" rtlCol="0" anchor="t"/>
          <a:lstStyle/>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FluidSynth (무료 음원)</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 그랜드 피아노 샘플</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8개 MIDI 입력 병합</a:t>
            </a:r>
            <a:endParaRPr lang="en-US" sz="1250" dirty="0"/>
          </a:p>
        </p:txBody>
      </p:sp>
      <p:sp>
        <p:nvSpPr>
          <p:cNvPr id="19" name="Shape 17"/>
          <p:cNvSpPr/>
          <p:nvPr/>
        </p:nvSpPr>
        <p:spPr>
          <a:xfrm>
            <a:off x="9601200" y="15544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0" name="Text 18"/>
          <p:cNvSpPr txBox="1"/>
          <p:nvPr/>
        </p:nvSpPr>
        <p:spPr>
          <a:xfrm>
            <a:off x="9710928" y="16276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USB-C DAC 동글</a:t>
            </a:r>
            <a:endParaRPr lang="en-US" sz="1300" dirty="0"/>
          </a:p>
        </p:txBody>
      </p:sp>
      <p:sp>
        <p:nvSpPr>
          <p:cNvPr id="21" name="Text 19"/>
          <p:cNvSpPr txBox="1"/>
          <p:nvPr/>
        </p:nvSpPr>
        <p:spPr>
          <a:xfrm>
            <a:off x="9710928" y="19385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디지털 → 아날로그</a:t>
            </a:r>
            <a:endParaRPr lang="en-US" sz="1100" dirty="0"/>
          </a:p>
        </p:txBody>
      </p:sp>
      <p:sp>
        <p:nvSpPr>
          <p:cNvPr id="22" name="Shape 20"/>
          <p:cNvSpPr/>
          <p:nvPr/>
        </p:nvSpPr>
        <p:spPr>
          <a:xfrm>
            <a:off x="10620756" y="2267712"/>
            <a:ext cx="0" cy="201168"/>
          </a:xfrm>
          <a:prstGeom prst="line">
            <a:avLst/>
          </a:prstGeom>
          <a:noFill/>
          <a:ln w="15875">
            <a:solidFill>
              <a:srgbClr val="767D88"/>
            </a:solidFill>
            <a:prstDash val="solid"/>
            <a:tailEnd type="triangle"/>
          </a:ln>
        </p:spPr>
        <p:txBody>
          <a:bodyPr/>
          <a:lstStyle/>
          <a:p>
            <a:endParaRPr lang="en-KR"/>
          </a:p>
        </p:txBody>
      </p:sp>
      <p:sp>
        <p:nvSpPr>
          <p:cNvPr id="23" name="Shape 21"/>
          <p:cNvSpPr/>
          <p:nvPr/>
        </p:nvSpPr>
        <p:spPr>
          <a:xfrm>
            <a:off x="9601200" y="24688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4" name="Text 22"/>
          <p:cNvSpPr txBox="1"/>
          <p:nvPr/>
        </p:nvSpPr>
        <p:spPr>
          <a:xfrm>
            <a:off x="9710928" y="25420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헤드폰 잭</a:t>
            </a:r>
            <a:endParaRPr lang="en-US" sz="1300" dirty="0"/>
          </a:p>
        </p:txBody>
      </p:sp>
      <p:sp>
        <p:nvSpPr>
          <p:cNvPr id="25" name="Text 23"/>
          <p:cNvSpPr txBox="1"/>
          <p:nvPr/>
        </p:nvSpPr>
        <p:spPr>
          <a:xfrm>
            <a:off x="9710928" y="28529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꽂으면 스피커 자동 차단</a:t>
            </a:r>
            <a:endParaRPr lang="en-US" sz="1100" dirty="0"/>
          </a:p>
        </p:txBody>
      </p:sp>
      <p:sp>
        <p:nvSpPr>
          <p:cNvPr id="26" name="Shape 24"/>
          <p:cNvSpPr/>
          <p:nvPr/>
        </p:nvSpPr>
        <p:spPr>
          <a:xfrm>
            <a:off x="10620756" y="3182112"/>
            <a:ext cx="0" cy="201168"/>
          </a:xfrm>
          <a:prstGeom prst="line">
            <a:avLst/>
          </a:prstGeom>
          <a:noFill/>
          <a:ln w="15875">
            <a:solidFill>
              <a:srgbClr val="767D88"/>
            </a:solidFill>
            <a:prstDash val="solid"/>
            <a:tailEnd type="triangle"/>
          </a:ln>
        </p:spPr>
        <p:txBody>
          <a:bodyPr/>
          <a:lstStyle/>
          <a:p>
            <a:endParaRPr lang="en-KR"/>
          </a:p>
        </p:txBody>
      </p:sp>
      <p:sp>
        <p:nvSpPr>
          <p:cNvPr id="27" name="Shape 25"/>
          <p:cNvSpPr/>
          <p:nvPr/>
        </p:nvSpPr>
        <p:spPr>
          <a:xfrm>
            <a:off x="9601200" y="33832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8" name="Text 26"/>
          <p:cNvSpPr txBox="1"/>
          <p:nvPr/>
        </p:nvSpPr>
        <p:spPr>
          <a:xfrm>
            <a:off x="9710928" y="34564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앰프 TPA3110</a:t>
            </a:r>
            <a:endParaRPr lang="en-US" sz="1300" dirty="0"/>
          </a:p>
        </p:txBody>
      </p:sp>
      <p:sp>
        <p:nvSpPr>
          <p:cNvPr id="29" name="Text 27"/>
          <p:cNvSpPr txBox="1"/>
          <p:nvPr/>
        </p:nvSpPr>
        <p:spPr>
          <a:xfrm>
            <a:off x="9710928" y="37673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채널당 약 21 W</a:t>
            </a:r>
            <a:endParaRPr lang="en-US" sz="1100" dirty="0"/>
          </a:p>
        </p:txBody>
      </p:sp>
      <p:sp>
        <p:nvSpPr>
          <p:cNvPr id="30" name="Shape 28"/>
          <p:cNvSpPr/>
          <p:nvPr/>
        </p:nvSpPr>
        <p:spPr>
          <a:xfrm>
            <a:off x="10620756" y="4096512"/>
            <a:ext cx="0" cy="201168"/>
          </a:xfrm>
          <a:prstGeom prst="line">
            <a:avLst/>
          </a:prstGeom>
          <a:noFill/>
          <a:ln w="15875">
            <a:solidFill>
              <a:srgbClr val="767D88"/>
            </a:solidFill>
            <a:prstDash val="solid"/>
            <a:tailEnd type="triangle"/>
          </a:ln>
        </p:spPr>
        <p:txBody>
          <a:bodyPr/>
          <a:lstStyle/>
          <a:p>
            <a:endParaRPr lang="en-KR"/>
          </a:p>
        </p:txBody>
      </p:sp>
      <p:sp>
        <p:nvSpPr>
          <p:cNvPr id="31" name="Shape 29"/>
          <p:cNvSpPr/>
          <p:nvPr/>
        </p:nvSpPr>
        <p:spPr>
          <a:xfrm>
            <a:off x="9601200" y="4297680"/>
            <a:ext cx="2039112" cy="713232"/>
          </a:xfrm>
          <a:prstGeom prst="roundRect">
            <a:avLst>
              <a:gd name="adj" fmla="val 10256"/>
            </a:avLst>
          </a:prstGeom>
          <a:solidFill>
            <a:srgbClr val="FBE9E4"/>
          </a:solidFill>
          <a:ln w="12700">
            <a:solidFill>
              <a:srgbClr val="FBE9E4"/>
            </a:solidFill>
            <a:prstDash val="solid"/>
          </a:ln>
        </p:spPr>
        <p:txBody>
          <a:bodyPr/>
          <a:lstStyle/>
          <a:p>
            <a:endParaRPr lang="en-KR"/>
          </a:p>
        </p:txBody>
      </p:sp>
      <p:sp>
        <p:nvSpPr>
          <p:cNvPr id="32" name="Text 30"/>
          <p:cNvSpPr txBox="1"/>
          <p:nvPr/>
        </p:nvSpPr>
        <p:spPr>
          <a:xfrm>
            <a:off x="9710928" y="43708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스피커 × 2</a:t>
            </a:r>
            <a:endParaRPr lang="en-US" sz="1300" dirty="0"/>
          </a:p>
        </p:txBody>
      </p:sp>
      <p:sp>
        <p:nvSpPr>
          <p:cNvPr id="33" name="Text 31"/>
          <p:cNvSpPr txBox="1"/>
          <p:nvPr/>
        </p:nvSpPr>
        <p:spPr>
          <a:xfrm>
            <a:off x="9710928" y="46817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 밀폐 상자</a:t>
            </a:r>
            <a:endParaRPr lang="en-US" sz="1100" dirty="0"/>
          </a:p>
        </p:txBody>
      </p:sp>
      <p:sp>
        <p:nvSpPr>
          <p:cNvPr id="34" name="Shape 32"/>
          <p:cNvSpPr/>
          <p:nvPr/>
        </p:nvSpPr>
        <p:spPr>
          <a:xfrm>
            <a:off x="3383280" y="2715768"/>
            <a:ext cx="685800" cy="0"/>
          </a:xfrm>
          <a:prstGeom prst="line">
            <a:avLst/>
          </a:prstGeom>
          <a:noFill/>
          <a:ln w="25400">
            <a:solidFill>
              <a:srgbClr val="D9482B"/>
            </a:solidFill>
            <a:prstDash val="solid"/>
            <a:tailEnd type="triangle"/>
          </a:ln>
        </p:spPr>
        <p:txBody>
          <a:bodyPr/>
          <a:lstStyle/>
          <a:p>
            <a:endParaRPr lang="en-KR"/>
          </a:p>
        </p:txBody>
      </p:sp>
      <p:sp>
        <p:nvSpPr>
          <p:cNvPr id="35" name="Text 33"/>
          <p:cNvSpPr txBox="1"/>
          <p:nvPr/>
        </p:nvSpPr>
        <p:spPr>
          <a:xfrm>
            <a:off x="3401568" y="2395728"/>
            <a:ext cx="658368"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USB-C × 7</a:t>
            </a:r>
            <a:endParaRPr lang="en-US" sz="1000" dirty="0"/>
          </a:p>
        </p:txBody>
      </p:sp>
      <p:sp>
        <p:nvSpPr>
          <p:cNvPr id="36" name="Shape 34"/>
          <p:cNvSpPr/>
          <p:nvPr/>
        </p:nvSpPr>
        <p:spPr>
          <a:xfrm>
            <a:off x="3383280" y="4617720"/>
            <a:ext cx="1645920" cy="0"/>
          </a:xfrm>
          <a:prstGeom prst="line">
            <a:avLst/>
          </a:prstGeom>
          <a:noFill/>
          <a:ln w="25400">
            <a:solidFill>
              <a:srgbClr val="D9482B"/>
            </a:solidFill>
            <a:prstDash val="solid"/>
          </a:ln>
        </p:spPr>
        <p:txBody>
          <a:bodyPr/>
          <a:lstStyle/>
          <a:p>
            <a:endParaRPr lang="en-KR"/>
          </a:p>
        </p:txBody>
      </p:sp>
      <p:sp>
        <p:nvSpPr>
          <p:cNvPr id="37" name="Shape 35"/>
          <p:cNvSpPr/>
          <p:nvPr/>
        </p:nvSpPr>
        <p:spPr>
          <a:xfrm flipV="1">
            <a:off x="5029200" y="3246120"/>
            <a:ext cx="0" cy="1371600"/>
          </a:xfrm>
          <a:prstGeom prst="line">
            <a:avLst/>
          </a:prstGeom>
          <a:noFill/>
          <a:ln w="25400">
            <a:solidFill>
              <a:srgbClr val="D9482B"/>
            </a:solidFill>
            <a:prstDash val="solid"/>
            <a:tailEnd type="triangle"/>
          </a:ln>
        </p:spPr>
        <p:txBody>
          <a:bodyPr/>
          <a:lstStyle/>
          <a:p>
            <a:endParaRPr lang="en-KR"/>
          </a:p>
        </p:txBody>
      </p:sp>
      <p:sp>
        <p:nvSpPr>
          <p:cNvPr id="38" name="Text 36"/>
          <p:cNvSpPr txBox="1"/>
          <p:nvPr/>
        </p:nvSpPr>
        <p:spPr>
          <a:xfrm>
            <a:off x="5120640" y="3840480"/>
            <a:ext cx="54864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USB</a:t>
            </a:r>
            <a:endParaRPr lang="en-US" sz="1000" dirty="0"/>
          </a:p>
        </p:txBody>
      </p:sp>
      <p:sp>
        <p:nvSpPr>
          <p:cNvPr id="39" name="Shape 37"/>
          <p:cNvSpPr/>
          <p:nvPr/>
        </p:nvSpPr>
        <p:spPr>
          <a:xfrm>
            <a:off x="5989320" y="2715768"/>
            <a:ext cx="640080" cy="0"/>
          </a:xfrm>
          <a:prstGeom prst="line">
            <a:avLst/>
          </a:prstGeom>
          <a:noFill/>
          <a:ln w="25400">
            <a:solidFill>
              <a:srgbClr val="D9482B"/>
            </a:solidFill>
            <a:prstDash val="solid"/>
            <a:tailEnd type="triangle"/>
          </a:ln>
        </p:spPr>
        <p:txBody>
          <a:bodyPr/>
          <a:lstStyle/>
          <a:p>
            <a:endParaRPr lang="en-KR"/>
          </a:p>
        </p:txBody>
      </p:sp>
      <p:sp>
        <p:nvSpPr>
          <p:cNvPr id="40" name="Text 38"/>
          <p:cNvSpPr txBox="1"/>
          <p:nvPr/>
        </p:nvSpPr>
        <p:spPr>
          <a:xfrm>
            <a:off x="6035040" y="2395728"/>
            <a:ext cx="54864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MIDI</a:t>
            </a:r>
            <a:endParaRPr lang="en-US" sz="1000" dirty="0"/>
          </a:p>
        </p:txBody>
      </p:sp>
      <p:sp>
        <p:nvSpPr>
          <p:cNvPr id="41" name="Shape 39"/>
          <p:cNvSpPr/>
          <p:nvPr/>
        </p:nvSpPr>
        <p:spPr>
          <a:xfrm>
            <a:off x="8961120" y="1911096"/>
            <a:ext cx="640080" cy="0"/>
          </a:xfrm>
          <a:prstGeom prst="line">
            <a:avLst/>
          </a:prstGeom>
          <a:noFill/>
          <a:ln w="25400">
            <a:solidFill>
              <a:srgbClr val="D9482B"/>
            </a:solidFill>
            <a:prstDash val="solid"/>
            <a:tailEnd type="triangle"/>
          </a:ln>
        </p:spPr>
        <p:txBody>
          <a:bodyPr/>
          <a:lstStyle/>
          <a:p>
            <a:endParaRPr lang="en-KR"/>
          </a:p>
        </p:txBody>
      </p:sp>
      <p:sp>
        <p:nvSpPr>
          <p:cNvPr id="42" name="Text 40"/>
          <p:cNvSpPr txBox="1"/>
          <p:nvPr/>
        </p:nvSpPr>
        <p:spPr>
          <a:xfrm>
            <a:off x="8961120" y="1591056"/>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오디오</a:t>
            </a:r>
            <a:endParaRPr lang="en-US" sz="1000" dirty="0"/>
          </a:p>
        </p:txBody>
      </p:sp>
      <p:sp>
        <p:nvSpPr>
          <p:cNvPr id="43" name="Shape 41"/>
          <p:cNvSpPr/>
          <p:nvPr/>
        </p:nvSpPr>
        <p:spPr>
          <a:xfrm>
            <a:off x="548640" y="5440680"/>
            <a:ext cx="11094415" cy="822960"/>
          </a:xfrm>
          <a:prstGeom prst="roundRect">
            <a:avLst>
              <a:gd name="adj" fmla="val 8889"/>
            </a:avLst>
          </a:prstGeom>
          <a:solidFill>
            <a:srgbClr val="FFFFFF"/>
          </a:solidFill>
          <a:ln w="12700">
            <a:solidFill>
              <a:srgbClr val="DDE0E5"/>
            </a:solidFill>
            <a:prstDash val="solid"/>
          </a:ln>
        </p:spPr>
        <p:txBody>
          <a:bodyPr/>
          <a:lstStyle/>
          <a:p>
            <a:endParaRPr lang="en-KR"/>
          </a:p>
        </p:txBody>
      </p:sp>
      <p:sp>
        <p:nvSpPr>
          <p:cNvPr id="44" name="Text 42"/>
          <p:cNvSpPr txBox="1"/>
          <p:nvPr/>
        </p:nvSpPr>
        <p:spPr>
          <a:xfrm>
            <a:off x="777240" y="5440680"/>
            <a:ext cx="640080" cy="822960"/>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전원</a:t>
            </a:r>
            <a:endParaRPr lang="en-US" sz="1300" dirty="0"/>
          </a:p>
        </p:txBody>
      </p:sp>
      <p:sp>
        <p:nvSpPr>
          <p:cNvPr id="45" name="Text 43"/>
          <p:cNvSpPr txBox="1"/>
          <p:nvPr/>
        </p:nvSpPr>
        <p:spPr>
          <a:xfrm>
            <a:off x="1508760"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65 W 충전기 또는</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보조배터리 (PD 20 V)</a:t>
            </a:r>
            <a:endParaRPr lang="en-US" sz="1250" dirty="0"/>
          </a:p>
        </p:txBody>
      </p:sp>
      <p:sp>
        <p:nvSpPr>
          <p:cNvPr id="46" name="Shape 44"/>
          <p:cNvSpPr/>
          <p:nvPr/>
        </p:nvSpPr>
        <p:spPr>
          <a:xfrm>
            <a:off x="3612566" y="5852160"/>
            <a:ext cx="402336" cy="0"/>
          </a:xfrm>
          <a:prstGeom prst="line">
            <a:avLst/>
          </a:prstGeom>
          <a:noFill/>
          <a:ln w="15875">
            <a:solidFill>
              <a:srgbClr val="767D88"/>
            </a:solidFill>
            <a:prstDash val="solid"/>
            <a:tailEnd type="triangle"/>
          </a:ln>
        </p:spPr>
        <p:txBody>
          <a:bodyPr/>
          <a:lstStyle/>
          <a:p>
            <a:endParaRPr lang="en-KR"/>
          </a:p>
        </p:txBody>
      </p:sp>
      <p:sp>
        <p:nvSpPr>
          <p:cNvPr id="47" name="Text 45"/>
          <p:cNvSpPr txBox="1"/>
          <p:nvPr/>
        </p:nvSpPr>
        <p:spPr>
          <a:xfrm>
            <a:off x="4088054"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PD 트리거</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 20 V</a:t>
            </a:r>
            <a:endParaRPr lang="en-US" sz="1250" dirty="0"/>
          </a:p>
        </p:txBody>
      </p:sp>
      <p:sp>
        <p:nvSpPr>
          <p:cNvPr id="48" name="Shape 46"/>
          <p:cNvSpPr/>
          <p:nvPr/>
        </p:nvSpPr>
        <p:spPr>
          <a:xfrm>
            <a:off x="6191860" y="5852160"/>
            <a:ext cx="402336" cy="0"/>
          </a:xfrm>
          <a:prstGeom prst="line">
            <a:avLst/>
          </a:prstGeom>
          <a:noFill/>
          <a:ln w="15875">
            <a:solidFill>
              <a:srgbClr val="767D88"/>
            </a:solidFill>
            <a:prstDash val="solid"/>
            <a:tailEnd type="triangle"/>
          </a:ln>
        </p:spPr>
        <p:txBody>
          <a:bodyPr/>
          <a:lstStyle/>
          <a:p>
            <a:endParaRPr lang="en-KR"/>
          </a:p>
        </p:txBody>
      </p:sp>
      <p:sp>
        <p:nvSpPr>
          <p:cNvPr id="49" name="Text 47"/>
          <p:cNvSpPr txBox="1"/>
          <p:nvPr/>
        </p:nvSpPr>
        <p:spPr>
          <a:xfrm>
            <a:off x="6667348"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퓨즈 · 전원 스위치</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버스</a:t>
            </a:r>
            <a:endParaRPr lang="en-US" sz="1250" dirty="0"/>
          </a:p>
        </p:txBody>
      </p:sp>
      <p:sp>
        <p:nvSpPr>
          <p:cNvPr id="50" name="Shape 48"/>
          <p:cNvSpPr/>
          <p:nvPr/>
        </p:nvSpPr>
        <p:spPr>
          <a:xfrm>
            <a:off x="8771153" y="5852160"/>
            <a:ext cx="402336" cy="0"/>
          </a:xfrm>
          <a:prstGeom prst="line">
            <a:avLst/>
          </a:prstGeom>
          <a:noFill/>
          <a:ln w="15875">
            <a:solidFill>
              <a:srgbClr val="767D88"/>
            </a:solidFill>
            <a:prstDash val="solid"/>
            <a:tailEnd type="triangle"/>
          </a:ln>
        </p:spPr>
        <p:txBody>
          <a:bodyPr/>
          <a:lstStyle/>
          <a:p>
            <a:endParaRPr lang="en-KR"/>
          </a:p>
        </p:txBody>
      </p:sp>
      <p:sp>
        <p:nvSpPr>
          <p:cNvPr id="51" name="Text 49"/>
          <p:cNvSpPr txBox="1"/>
          <p:nvPr/>
        </p:nvSpPr>
        <p:spPr>
          <a:xfrm>
            <a:off x="9246641"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앰프는 20 V 그대로</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5.1 V 강압 → Pi 5 · USB 허브</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본체 구성 — 5종 파트를 끼워서 조립</a:t>
            </a:r>
            <a:endParaRPr lang="en-US" sz="2800" dirty="0"/>
          </a:p>
        </p:txBody>
      </p:sp>
      <p:pic>
        <p:nvPicPr>
          <p:cNvPr id="7" name="Image 0" descr="/private/tmp/claude-501/-Users-kwg-Desktop-mydrive-project-Toccata/78323d34-2a2b-4f50-ae4c-82ce3905c7c6/scratchpad/ppt/assets/d_layout.png"/>
          <p:cNvPicPr>
            <a:picLocks noChangeAspect="1"/>
          </p:cNvPicPr>
          <p:nvPr/>
        </p:nvPicPr>
        <p:blipFill>
          <a:blip r:embed="rId3"/>
          <a:stretch>
            <a:fillRect/>
          </a:stretch>
        </p:blipFill>
        <p:spPr>
          <a:xfrm>
            <a:off x="548640" y="1508760"/>
            <a:ext cx="6949440" cy="3327735"/>
          </a:xfrm>
          <a:prstGeom prst="rect">
            <a:avLst/>
          </a:prstGeom>
        </p:spPr>
      </p:pic>
      <p:sp>
        <p:nvSpPr>
          <p:cNvPr id="8" name="Text 5"/>
          <p:cNvSpPr txBox="1"/>
          <p:nvPr/>
        </p:nvSpPr>
        <p:spPr>
          <a:xfrm>
            <a:off x="548640" y="4909647"/>
            <a:ext cx="6949440" cy="256032"/>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전체 배치 평면도 (단위 mm, 설계 도면에서 발췌)</a:t>
            </a:r>
            <a:endParaRPr lang="en-US" sz="1000" dirty="0"/>
          </a:p>
        </p:txBody>
      </p:sp>
      <p:sp>
        <p:nvSpPr>
          <p:cNvPr id="9" name="Text 6"/>
          <p:cNvSpPr txBox="1"/>
          <p:nvPr/>
        </p:nvSpPr>
        <p:spPr>
          <a:xfrm>
            <a:off x="548640" y="53492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1254 × 410 mm</a:t>
            </a:r>
            <a:endParaRPr lang="en-US" sz="2000" dirty="0"/>
          </a:p>
        </p:txBody>
      </p:sp>
      <p:sp>
        <p:nvSpPr>
          <p:cNvPr id="10" name="Text 7"/>
          <p:cNvSpPr txBox="1"/>
          <p:nvPr/>
        </p:nvSpPr>
        <p:spPr>
          <a:xfrm>
            <a:off x="548640" y="57607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전체 크기 (직사각형)</a:t>
            </a:r>
            <a:endParaRPr lang="en-US" sz="1200" dirty="0"/>
          </a:p>
        </p:txBody>
      </p:sp>
      <p:sp>
        <p:nvSpPr>
          <p:cNvPr id="11" name="Text 8"/>
          <p:cNvSpPr txBox="1"/>
          <p:nvPr/>
        </p:nvSpPr>
        <p:spPr>
          <a:xfrm>
            <a:off x="2926080" y="53492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약 3.3 kg</a:t>
            </a:r>
            <a:endParaRPr lang="en-US" sz="2000" dirty="0"/>
          </a:p>
        </p:txBody>
      </p:sp>
      <p:sp>
        <p:nvSpPr>
          <p:cNvPr id="12" name="Text 9"/>
          <p:cNvSpPr txBox="1"/>
          <p:nvPr/>
        </p:nvSpPr>
        <p:spPr>
          <a:xfrm>
            <a:off x="2926080" y="57607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가장 무거운 파트 (가운데 유닛)</a:t>
            </a:r>
            <a:endParaRPr lang="en-US" sz="1200" dirty="0"/>
          </a:p>
        </p:txBody>
      </p:sp>
      <p:sp>
        <p:nvSpPr>
          <p:cNvPr id="13" name="Text 10"/>
          <p:cNvSpPr txBox="1"/>
          <p:nvPr/>
        </p:nvSpPr>
        <p:spPr>
          <a:xfrm>
            <a:off x="5303520" y="53492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납땜 0곳</a:t>
            </a:r>
            <a:endParaRPr lang="en-US" sz="2000" dirty="0"/>
          </a:p>
        </p:txBody>
      </p:sp>
      <p:sp>
        <p:nvSpPr>
          <p:cNvPr id="14" name="Text 11"/>
          <p:cNvSpPr txBox="1"/>
          <p:nvPr/>
        </p:nvSpPr>
        <p:spPr>
          <a:xfrm>
            <a:off x="5303520" y="57607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파트 사이는 커넥터로만 연결</a:t>
            </a:r>
            <a:endParaRPr lang="en-US" sz="1200" dirty="0"/>
          </a:p>
        </p:txBody>
      </p:sp>
      <p:sp>
        <p:nvSpPr>
          <p:cNvPr id="15" name="Shape 12"/>
          <p:cNvSpPr/>
          <p:nvPr/>
        </p:nvSpPr>
        <p:spPr>
          <a:xfrm>
            <a:off x="7909560" y="1554480"/>
            <a:ext cx="365760" cy="365760"/>
          </a:xfrm>
          <a:prstGeom prst="ellipse">
            <a:avLst/>
          </a:prstGeom>
          <a:solidFill>
            <a:srgbClr val="16181D"/>
          </a:solidFill>
          <a:ln w="12700">
            <a:solidFill>
              <a:srgbClr val="16181D"/>
            </a:solidFill>
            <a:prstDash val="solid"/>
          </a:ln>
        </p:spPr>
        <p:txBody>
          <a:bodyPr/>
          <a:lstStyle/>
          <a:p>
            <a:endParaRPr lang="en-KR"/>
          </a:p>
        </p:txBody>
      </p:sp>
      <p:sp>
        <p:nvSpPr>
          <p:cNvPr id="16" name="Text 13"/>
          <p:cNvSpPr txBox="1"/>
          <p:nvPr/>
        </p:nvSpPr>
        <p:spPr>
          <a:xfrm>
            <a:off x="7909560" y="1554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1</a:t>
            </a:r>
            <a:endParaRPr lang="en-US" sz="1200" dirty="0"/>
          </a:p>
        </p:txBody>
      </p:sp>
      <p:sp>
        <p:nvSpPr>
          <p:cNvPr id="17" name="Text 14"/>
          <p:cNvSpPr txBox="1"/>
          <p:nvPr/>
        </p:nvSpPr>
        <p:spPr>
          <a:xfrm>
            <a:off x="8412480" y="1508760"/>
            <a:ext cx="323057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a:t>
            </a:r>
            <a:endParaRPr lang="en-US" sz="1400" dirty="0"/>
          </a:p>
        </p:txBody>
      </p:sp>
      <p:sp>
        <p:nvSpPr>
          <p:cNvPr id="18" name="Text 15"/>
          <p:cNvSpPr txBox="1"/>
          <p:nvPr/>
        </p:nvSpPr>
        <p:spPr>
          <a:xfrm>
            <a:off x="8412480" y="1828800"/>
            <a:ext cx="323057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도~시 12건반, 폭 164.5 mm. 도브테일로 위에서 끼우고 들어서 뺀다. 모듈끼리 전선 없음</a:t>
            </a:r>
            <a:endParaRPr lang="en-US" sz="1150" dirty="0"/>
          </a:p>
        </p:txBody>
      </p:sp>
      <p:sp>
        <p:nvSpPr>
          <p:cNvPr id="19" name="Shape 16"/>
          <p:cNvSpPr/>
          <p:nvPr/>
        </p:nvSpPr>
        <p:spPr>
          <a:xfrm>
            <a:off x="7909560" y="24688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0" name="Text 17"/>
          <p:cNvSpPr txBox="1"/>
          <p:nvPr/>
        </p:nvSpPr>
        <p:spPr>
          <a:xfrm>
            <a:off x="7909560" y="24688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2</a:t>
            </a:r>
            <a:endParaRPr lang="en-US" sz="1200" dirty="0"/>
          </a:p>
        </p:txBody>
      </p:sp>
      <p:sp>
        <p:nvSpPr>
          <p:cNvPr id="21" name="Text 18"/>
          <p:cNvSpPr txBox="1"/>
          <p:nvPr/>
        </p:nvSpPr>
        <p:spPr>
          <a:xfrm>
            <a:off x="8412480" y="2423160"/>
            <a:ext cx="323057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끝 부속 × 2</a:t>
            </a:r>
            <a:endParaRPr lang="en-US" sz="1400" dirty="0"/>
          </a:p>
        </p:txBody>
      </p:sp>
      <p:sp>
        <p:nvSpPr>
          <p:cNvPr id="22" name="Text 19"/>
          <p:cNvSpPr txBox="1"/>
          <p:nvPr/>
        </p:nvSpPr>
        <p:spPr>
          <a:xfrm>
            <a:off x="8412480" y="2743200"/>
            <a:ext cx="323057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왼쪽 A0~B0(3건반), 오른쪽 C8(1건반). 왼쪽에 헤드폰 잭</a:t>
            </a:r>
            <a:endParaRPr lang="en-US" sz="1150" dirty="0"/>
          </a:p>
        </p:txBody>
      </p:sp>
      <p:sp>
        <p:nvSpPr>
          <p:cNvPr id="23" name="Shape 20"/>
          <p:cNvSpPr/>
          <p:nvPr/>
        </p:nvSpPr>
        <p:spPr>
          <a:xfrm>
            <a:off x="7909560" y="33832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4" name="Text 21"/>
          <p:cNvSpPr txBox="1"/>
          <p:nvPr/>
        </p:nvSpPr>
        <p:spPr>
          <a:xfrm>
            <a:off x="7909560" y="33832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3</a:t>
            </a:r>
            <a:endParaRPr lang="en-US" sz="1200" dirty="0"/>
          </a:p>
        </p:txBody>
      </p:sp>
      <p:sp>
        <p:nvSpPr>
          <p:cNvPr id="25" name="Text 22"/>
          <p:cNvSpPr txBox="1"/>
          <p:nvPr/>
        </p:nvSpPr>
        <p:spPr>
          <a:xfrm>
            <a:off x="8412480" y="3337560"/>
            <a:ext cx="323057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스피커 파트 × 2</a:t>
            </a:r>
            <a:endParaRPr lang="en-US" sz="1400" dirty="0"/>
          </a:p>
        </p:txBody>
      </p:sp>
      <p:sp>
        <p:nvSpPr>
          <p:cNvPr id="26" name="Text 23"/>
          <p:cNvSpPr txBox="1"/>
          <p:nvPr/>
        </p:nvSpPr>
        <p:spPr>
          <a:xfrm>
            <a:off x="8412480" y="3657600"/>
            <a:ext cx="323057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4인치 유닛 + 합판 밀폐 상자(5 L). XT30 커넥터</a:t>
            </a:r>
            <a:endParaRPr lang="en-US" sz="1150" dirty="0"/>
          </a:p>
        </p:txBody>
      </p:sp>
      <p:sp>
        <p:nvSpPr>
          <p:cNvPr id="27" name="Shape 24"/>
          <p:cNvSpPr/>
          <p:nvPr/>
        </p:nvSpPr>
        <p:spPr>
          <a:xfrm>
            <a:off x="7909560" y="42976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8" name="Text 25"/>
          <p:cNvSpPr txBox="1"/>
          <p:nvPr/>
        </p:nvSpPr>
        <p:spPr>
          <a:xfrm>
            <a:off x="7909560" y="4297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4</a:t>
            </a:r>
            <a:endParaRPr lang="en-US" sz="1200" dirty="0"/>
          </a:p>
        </p:txBody>
      </p:sp>
      <p:sp>
        <p:nvSpPr>
          <p:cNvPr id="29" name="Text 26"/>
          <p:cNvSpPr txBox="1"/>
          <p:nvPr/>
        </p:nvSpPr>
        <p:spPr>
          <a:xfrm>
            <a:off x="8412480" y="4251960"/>
            <a:ext cx="323057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가운데 유닛</a:t>
            </a:r>
            <a:endParaRPr lang="en-US" sz="1400" dirty="0"/>
          </a:p>
        </p:txBody>
      </p:sp>
      <p:sp>
        <p:nvSpPr>
          <p:cNvPr id="30" name="Text 27"/>
          <p:cNvSpPr txBox="1"/>
          <p:nvPr/>
        </p:nvSpPr>
        <p:spPr>
          <a:xfrm>
            <a:off x="8412480" y="4572000"/>
            <a:ext cx="323057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보관함 · 제어부(Pi 5·앰프·전원) 칸 · 보조배터리 칸</a:t>
            </a:r>
            <a:endParaRPr lang="en-US" sz="1150" dirty="0"/>
          </a:p>
        </p:txBody>
      </p:sp>
      <p:sp>
        <p:nvSpPr>
          <p:cNvPr id="31" name="Shape 28"/>
          <p:cNvSpPr/>
          <p:nvPr/>
        </p:nvSpPr>
        <p:spPr>
          <a:xfrm>
            <a:off x="7909560" y="5212080"/>
            <a:ext cx="365760" cy="365760"/>
          </a:xfrm>
          <a:prstGeom prst="ellipse">
            <a:avLst/>
          </a:prstGeom>
          <a:solidFill>
            <a:srgbClr val="16181D"/>
          </a:solidFill>
          <a:ln w="12700">
            <a:solidFill>
              <a:srgbClr val="16181D"/>
            </a:solidFill>
            <a:prstDash val="solid"/>
          </a:ln>
        </p:spPr>
        <p:txBody>
          <a:bodyPr/>
          <a:lstStyle/>
          <a:p>
            <a:endParaRPr lang="en-KR"/>
          </a:p>
        </p:txBody>
      </p:sp>
      <p:sp>
        <p:nvSpPr>
          <p:cNvPr id="32" name="Text 29"/>
          <p:cNvSpPr txBox="1"/>
          <p:nvPr/>
        </p:nvSpPr>
        <p:spPr>
          <a:xfrm>
            <a:off x="7909560" y="52120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5</a:t>
            </a:r>
            <a:endParaRPr lang="en-US" sz="1200" dirty="0"/>
          </a:p>
        </p:txBody>
      </p:sp>
      <p:sp>
        <p:nvSpPr>
          <p:cNvPr id="33" name="Text 30"/>
          <p:cNvSpPr txBox="1"/>
          <p:nvPr/>
        </p:nvSpPr>
        <p:spPr>
          <a:xfrm>
            <a:off x="8412480" y="5166360"/>
            <a:ext cx="323057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34" name="Text 31"/>
          <p:cNvSpPr txBox="1"/>
          <p:nvPr/>
        </p:nvSpPr>
        <p:spPr>
          <a:xfrm>
            <a:off x="8412480" y="5486400"/>
            <a:ext cx="323057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mm 케이블로 연결</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① — 건반은 ‘휘어서’ 움직인다</a:t>
            </a:r>
            <a:endParaRPr lang="en-US" sz="2800" dirty="0"/>
          </a:p>
        </p:txBody>
      </p:sp>
      <p:pic>
        <p:nvPicPr>
          <p:cNvPr id="7" name="Image 0" descr="/private/tmp/claude-501/-Users-kwg-Desktop-mydrive-project-Toccata/78323d34-2a2b-4f50-ae4c-82ce3905c7c6/scratchpad/ppt/assets/d_side.png"/>
          <p:cNvPicPr>
            <a:picLocks noChangeAspect="1"/>
          </p:cNvPicPr>
          <p:nvPr/>
        </p:nvPicPr>
        <p:blipFill>
          <a:blip r:embed="rId3"/>
          <a:stretch>
            <a:fillRect/>
          </a:stretch>
        </p:blipFill>
        <p:spPr>
          <a:xfrm>
            <a:off x="548640" y="1417320"/>
            <a:ext cx="7315200" cy="3286253"/>
          </a:xfrm>
          <a:prstGeom prst="rect">
            <a:avLst/>
          </a:prstGeom>
        </p:spPr>
      </p:pic>
      <p:sp>
        <p:nvSpPr>
          <p:cNvPr id="8" name="Text 5"/>
          <p:cNvSpPr txBox="1"/>
          <p:nvPr/>
        </p:nvSpPr>
        <p:spPr>
          <a:xfrm>
            <a:off x="548640" y="4740149"/>
            <a:ext cx="731520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백건 측면 단면도 — 실선: 쉬는 상태, 점선: 끝까지 누른 상태 (단위 mm)</a:t>
            </a:r>
            <a:endParaRPr lang="en-US" sz="1000" dirty="0"/>
          </a:p>
        </p:txBody>
      </p:sp>
      <p:sp>
        <p:nvSpPr>
          <p:cNvPr id="9" name="Text 6"/>
          <p:cNvSpPr txBox="1"/>
          <p:nvPr/>
        </p:nvSpPr>
        <p:spPr>
          <a:xfrm>
            <a:off x="8503920" y="1463040"/>
            <a:ext cx="313913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10 mm</a:t>
            </a:r>
            <a:endParaRPr lang="en-US" sz="2200" dirty="0"/>
          </a:p>
        </p:txBody>
      </p:sp>
      <p:sp>
        <p:nvSpPr>
          <p:cNvPr id="10" name="Text 7"/>
          <p:cNvSpPr txBox="1"/>
          <p:nvPr/>
        </p:nvSpPr>
        <p:spPr>
          <a:xfrm>
            <a:off x="8503920" y="1865376"/>
            <a:ext cx="313913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눌리는 깊이 (백건, 흑건 9.5 mm)</a:t>
            </a:r>
            <a:endParaRPr lang="en-US" sz="1150" dirty="0"/>
          </a:p>
        </p:txBody>
      </p:sp>
      <p:sp>
        <p:nvSpPr>
          <p:cNvPr id="11" name="Text 8"/>
          <p:cNvSpPr txBox="1"/>
          <p:nvPr/>
        </p:nvSpPr>
        <p:spPr>
          <a:xfrm>
            <a:off x="8503920" y="2286000"/>
            <a:ext cx="313913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42 → 64 g</a:t>
            </a:r>
            <a:endParaRPr lang="en-US" sz="2200" dirty="0"/>
          </a:p>
        </p:txBody>
      </p:sp>
      <p:sp>
        <p:nvSpPr>
          <p:cNvPr id="12" name="Text 9"/>
          <p:cNvSpPr txBox="1"/>
          <p:nvPr/>
        </p:nvSpPr>
        <p:spPr>
          <a:xfrm>
            <a:off x="8503920" y="2688336"/>
            <a:ext cx="313913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누르는 힘 (시작 → 바닥)</a:t>
            </a:r>
            <a:endParaRPr lang="en-US" sz="1150" dirty="0"/>
          </a:p>
        </p:txBody>
      </p:sp>
      <p:sp>
        <p:nvSpPr>
          <p:cNvPr id="13" name="Text 10"/>
          <p:cNvSpPr txBox="1"/>
          <p:nvPr/>
        </p:nvSpPr>
        <p:spPr>
          <a:xfrm>
            <a:off x="8503920" y="3108960"/>
            <a:ext cx="313913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3.35°</a:t>
            </a:r>
            <a:endParaRPr lang="en-US" sz="2200" dirty="0"/>
          </a:p>
        </p:txBody>
      </p:sp>
      <p:sp>
        <p:nvSpPr>
          <p:cNvPr id="14" name="Text 11"/>
          <p:cNvSpPr txBox="1"/>
          <p:nvPr/>
        </p:nvSpPr>
        <p:spPr>
          <a:xfrm>
            <a:off x="8503920" y="3511296"/>
            <a:ext cx="313913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백건 회전각</a:t>
            </a:r>
            <a:endParaRPr lang="en-US" sz="1150" dirty="0"/>
          </a:p>
        </p:txBody>
      </p:sp>
      <p:sp>
        <p:nvSpPr>
          <p:cNvPr id="15" name="Text 12"/>
          <p:cNvSpPr txBox="1"/>
          <p:nvPr/>
        </p:nvSpPr>
        <p:spPr>
          <a:xfrm>
            <a:off x="8503920" y="3931920"/>
            <a:ext cx="313913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PETG</a:t>
            </a:r>
            <a:endParaRPr lang="en-US" sz="2200" dirty="0"/>
          </a:p>
        </p:txBody>
      </p:sp>
      <p:sp>
        <p:nvSpPr>
          <p:cNvPr id="16" name="Text 13"/>
          <p:cNvSpPr txBox="1"/>
          <p:nvPr/>
        </p:nvSpPr>
        <p:spPr>
          <a:xfrm>
            <a:off x="8503920" y="4334256"/>
            <a:ext cx="313913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모든 출력물의 재료</a:t>
            </a:r>
            <a:endParaRPr lang="en-US" sz="1150" dirty="0"/>
          </a:p>
        </p:txBody>
      </p:sp>
      <p:sp>
        <p:nvSpPr>
          <p:cNvPr id="17" name="Shape 14"/>
          <p:cNvSpPr/>
          <p:nvPr/>
        </p:nvSpPr>
        <p:spPr>
          <a:xfrm>
            <a:off x="548640"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18" name="Text 15"/>
          <p:cNvSpPr txBox="1"/>
          <p:nvPr/>
        </p:nvSpPr>
        <p:spPr>
          <a:xfrm>
            <a:off x="731520"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회전·복귀  </a:t>
            </a:r>
            <a:r>
              <a:rPr lang="en-US" sz="1400" b="1" dirty="0">
                <a:solidFill>
                  <a:srgbClr val="D9482B"/>
                </a:solidFill>
                <a:latin typeface="Apple SD Gothic Neo" pitchFamily="34" charset="0"/>
                <a:ea typeface="Apple SD Gothic Neo" pitchFamily="34" charset="-122"/>
                <a:cs typeface="Apple SD Gothic Neo" pitchFamily="34" charset="-120"/>
              </a:rPr>
              <a:t>리프</a:t>
            </a:r>
            <a:endParaRPr lang="en-US" sz="1400" dirty="0"/>
          </a:p>
        </p:txBody>
      </p:sp>
      <p:sp>
        <p:nvSpPr>
          <p:cNvPr id="19" name="Text 16"/>
          <p:cNvSpPr txBox="1"/>
          <p:nvPr/>
        </p:nvSpPr>
        <p:spPr>
          <a:xfrm>
            <a:off x="731520"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건반 윗판이 뒤로 이어진 얇은 판. 누르면 휘고, 손을 떼면 탄성으로 돌아온다</a:t>
            </a:r>
            <a:endParaRPr lang="en-US" sz="1150" dirty="0"/>
          </a:p>
        </p:txBody>
      </p:sp>
      <p:sp>
        <p:nvSpPr>
          <p:cNvPr id="20" name="Shape 17"/>
          <p:cNvSpPr/>
          <p:nvPr/>
        </p:nvSpPr>
        <p:spPr>
          <a:xfrm>
            <a:off x="3379394"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1" name="Text 18"/>
          <p:cNvSpPr txBox="1"/>
          <p:nvPr/>
        </p:nvSpPr>
        <p:spPr>
          <a:xfrm>
            <a:off x="3562274"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쉬는 높이  </a:t>
            </a:r>
            <a:r>
              <a:rPr lang="en-US" sz="1400" b="1" dirty="0">
                <a:solidFill>
                  <a:srgbClr val="D9482B"/>
                </a:solidFill>
                <a:latin typeface="Apple SD Gothic Neo" pitchFamily="34" charset="0"/>
                <a:ea typeface="Apple SD Gothic Neo" pitchFamily="34" charset="-122"/>
                <a:cs typeface="Apple SD Gothic Neo" pitchFamily="34" charset="-120"/>
              </a:rPr>
              <a:t>훅 + 펠트</a:t>
            </a:r>
            <a:endParaRPr lang="en-US" sz="1400" dirty="0"/>
          </a:p>
        </p:txBody>
      </p:sp>
      <p:sp>
        <p:nvSpPr>
          <p:cNvPr id="22" name="Text 19"/>
          <p:cNvSpPr txBox="1"/>
          <p:nvPr/>
        </p:nvSpPr>
        <p:spPr>
          <a:xfrm>
            <a:off x="3562274"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리프를 미리 휘게 조여 건반이 훅을 위로 누른 채 쉰다</a:t>
            </a:r>
            <a:endParaRPr lang="en-US" sz="1150" dirty="0"/>
          </a:p>
        </p:txBody>
      </p:sp>
      <p:sp>
        <p:nvSpPr>
          <p:cNvPr id="23" name="Shape 20"/>
          <p:cNvSpPr/>
          <p:nvPr/>
        </p:nvSpPr>
        <p:spPr>
          <a:xfrm>
            <a:off x="6210148"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4" name="Text 21"/>
          <p:cNvSpPr txBox="1"/>
          <p:nvPr/>
        </p:nvSpPr>
        <p:spPr>
          <a:xfrm>
            <a:off x="6393028"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눌림 멈춤  </a:t>
            </a:r>
            <a:r>
              <a:rPr lang="en-US" sz="1400" b="1" dirty="0">
                <a:solidFill>
                  <a:srgbClr val="D9482B"/>
                </a:solidFill>
                <a:latin typeface="Apple SD Gothic Neo" pitchFamily="34" charset="0"/>
                <a:ea typeface="Apple SD Gothic Neo" pitchFamily="34" charset="-122"/>
                <a:cs typeface="Apple SD Gothic Neo" pitchFamily="34" charset="-120"/>
              </a:rPr>
              <a:t>앞 펠트 + 뒤 스톱</a:t>
            </a:r>
            <a:endParaRPr lang="en-US" sz="1400" dirty="0"/>
          </a:p>
        </p:txBody>
      </p:sp>
      <p:sp>
        <p:nvSpPr>
          <p:cNvPr id="25" name="Text 22"/>
          <p:cNvSpPr txBox="1"/>
          <p:nvPr/>
        </p:nvSpPr>
        <p:spPr>
          <a:xfrm>
            <a:off x="6393028"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바닥 펠트에 닿아 멈추고, 뒤 스톱이 리프의 S자 휨을 막는다</a:t>
            </a:r>
            <a:endParaRPr lang="en-US" sz="1150" dirty="0"/>
          </a:p>
        </p:txBody>
      </p:sp>
      <p:sp>
        <p:nvSpPr>
          <p:cNvPr id="26" name="Shape 23"/>
          <p:cNvSpPr/>
          <p:nvPr/>
        </p:nvSpPr>
        <p:spPr>
          <a:xfrm>
            <a:off x="9040901"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7" name="Text 24"/>
          <p:cNvSpPr txBox="1"/>
          <p:nvPr/>
        </p:nvSpPr>
        <p:spPr>
          <a:xfrm>
            <a:off x="9223781"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위치 측정  </a:t>
            </a:r>
            <a:r>
              <a:rPr lang="en-US" sz="1400" b="1" dirty="0">
                <a:solidFill>
                  <a:srgbClr val="D9482B"/>
                </a:solidFill>
                <a:latin typeface="Apple SD Gothic Neo" pitchFamily="34" charset="0"/>
                <a:ea typeface="Apple SD Gothic Neo" pitchFamily="34" charset="-122"/>
                <a:cs typeface="Apple SD Gothic Neo" pitchFamily="34" charset="-120"/>
              </a:rPr>
              <a:t>자석 + 홀센서</a:t>
            </a:r>
            <a:endParaRPr lang="en-US" sz="1400" dirty="0"/>
          </a:p>
        </p:txBody>
      </p:sp>
      <p:sp>
        <p:nvSpPr>
          <p:cNvPr id="28" name="Text 25"/>
          <p:cNvSpPr txBox="1"/>
          <p:nvPr/>
        </p:nvSpPr>
        <p:spPr>
          <a:xfrm>
            <a:off x="9223781"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건반 밑 자석이 센서로 다가가는 거리를 전압으로 읽는다</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② — 누르면 소리가 나기까지</a:t>
            </a:r>
            <a:endParaRPr lang="en-US" sz="2800" dirty="0"/>
          </a:p>
        </p:txBody>
      </p:sp>
      <p:sp>
        <p:nvSpPr>
          <p:cNvPr id="7" name="Text 5"/>
          <p:cNvSpPr txBox="1"/>
          <p:nvPr/>
        </p:nvSpPr>
        <p:spPr>
          <a:xfrm>
            <a:off x="548640" y="1371600"/>
            <a:ext cx="2286000" cy="274320"/>
          </a:xfrm>
          <a:prstGeom prst="rect">
            <a:avLst/>
          </a:prstGeom>
          <a:noFill/>
          <a:ln/>
        </p:spPr>
        <p:txBody>
          <a:bodyPr wrap="square" lIns="0" tIns="0" rIns="0" bIns="0" rtlCol="0" anchor="t"/>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위치</a:t>
            </a:r>
            <a:endParaRPr lang="en-US" sz="1200" dirty="0"/>
          </a:p>
        </p:txBody>
      </p:sp>
      <p:sp>
        <p:nvSpPr>
          <p:cNvPr id="8" name="Shape 6"/>
          <p:cNvSpPr/>
          <p:nvPr/>
        </p:nvSpPr>
        <p:spPr>
          <a:xfrm>
            <a:off x="731520" y="1828800"/>
            <a:ext cx="502920" cy="4114800"/>
          </a:xfrm>
          <a:prstGeom prst="rect">
            <a:avLst/>
          </a:prstGeom>
          <a:solidFill>
            <a:srgbClr val="F3F4F6"/>
          </a:solidFill>
          <a:ln w="12700">
            <a:solidFill>
              <a:srgbClr val="DDE0E5"/>
            </a:solidFill>
            <a:prstDash val="solid"/>
          </a:ln>
        </p:spPr>
        <p:txBody>
          <a:bodyPr/>
          <a:lstStyle/>
          <a:p>
            <a:endParaRPr lang="en-KR"/>
          </a:p>
        </p:txBody>
      </p:sp>
      <p:sp>
        <p:nvSpPr>
          <p:cNvPr id="9" name="Shape 7"/>
          <p:cNvSpPr/>
          <p:nvPr/>
        </p:nvSpPr>
        <p:spPr>
          <a:xfrm>
            <a:off x="731520" y="2240280"/>
            <a:ext cx="502920" cy="2057400"/>
          </a:xfrm>
          <a:prstGeom prst="rect">
            <a:avLst/>
          </a:prstGeom>
          <a:solidFill>
            <a:srgbClr val="FBE9E4"/>
          </a:solidFill>
          <a:ln w="12700">
            <a:solidFill>
              <a:srgbClr val="D9482B"/>
            </a:solidFill>
            <a:prstDash val="solid"/>
          </a:ln>
        </p:spPr>
        <p:txBody>
          <a:bodyPr/>
          <a:lstStyle/>
          <a:p>
            <a:endParaRPr lang="en-KR"/>
          </a:p>
        </p:txBody>
      </p:sp>
      <p:sp>
        <p:nvSpPr>
          <p:cNvPr id="10" name="Shape 8"/>
          <p:cNvSpPr/>
          <p:nvPr/>
        </p:nvSpPr>
        <p:spPr>
          <a:xfrm>
            <a:off x="640080" y="1828800"/>
            <a:ext cx="731520" cy="0"/>
          </a:xfrm>
          <a:prstGeom prst="line">
            <a:avLst/>
          </a:prstGeom>
          <a:noFill/>
          <a:ln w="15875">
            <a:solidFill>
              <a:srgbClr val="767D88"/>
            </a:solidFill>
            <a:prstDash val="solid"/>
          </a:ln>
        </p:spPr>
        <p:txBody>
          <a:bodyPr/>
          <a:lstStyle/>
          <a:p>
            <a:endParaRPr lang="en-KR"/>
          </a:p>
        </p:txBody>
      </p:sp>
      <p:sp>
        <p:nvSpPr>
          <p:cNvPr id="11" name="Text 9"/>
          <p:cNvSpPr txBox="1"/>
          <p:nvPr/>
        </p:nvSpPr>
        <p:spPr>
          <a:xfrm>
            <a:off x="1463040" y="17007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100%  바닥 (10 mm 눌림)</a:t>
            </a:r>
            <a:endParaRPr lang="en-US" sz="1150" dirty="0"/>
          </a:p>
        </p:txBody>
      </p:sp>
      <p:sp>
        <p:nvSpPr>
          <p:cNvPr id="12" name="Shape 10"/>
          <p:cNvSpPr/>
          <p:nvPr/>
        </p:nvSpPr>
        <p:spPr>
          <a:xfrm>
            <a:off x="640080" y="2240280"/>
            <a:ext cx="731520" cy="0"/>
          </a:xfrm>
          <a:prstGeom prst="line">
            <a:avLst/>
          </a:prstGeom>
          <a:noFill/>
          <a:ln w="15875">
            <a:solidFill>
              <a:srgbClr val="D9482B"/>
            </a:solidFill>
            <a:prstDash val="solid"/>
          </a:ln>
        </p:spPr>
        <p:txBody>
          <a:bodyPr/>
          <a:lstStyle/>
          <a:p>
            <a:endParaRPr lang="en-KR"/>
          </a:p>
        </p:txBody>
      </p:sp>
      <p:sp>
        <p:nvSpPr>
          <p:cNvPr id="13" name="Text 11"/>
          <p:cNvSpPr txBox="1"/>
          <p:nvPr/>
        </p:nvSpPr>
        <p:spPr>
          <a:xfrm>
            <a:off x="1463040" y="2112264"/>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90%  Note On — 소리 시작</a:t>
            </a:r>
            <a:endParaRPr lang="en-US" sz="1150" dirty="0"/>
          </a:p>
        </p:txBody>
      </p:sp>
      <p:sp>
        <p:nvSpPr>
          <p:cNvPr id="14" name="Shape 12"/>
          <p:cNvSpPr/>
          <p:nvPr/>
        </p:nvSpPr>
        <p:spPr>
          <a:xfrm>
            <a:off x="640080" y="3474720"/>
            <a:ext cx="731520" cy="0"/>
          </a:xfrm>
          <a:prstGeom prst="line">
            <a:avLst/>
          </a:prstGeom>
          <a:noFill/>
          <a:ln w="15875">
            <a:solidFill>
              <a:srgbClr val="444A54"/>
            </a:solidFill>
            <a:prstDash val="solid"/>
          </a:ln>
        </p:spPr>
        <p:txBody>
          <a:bodyPr/>
          <a:lstStyle/>
          <a:p>
            <a:endParaRPr lang="en-KR"/>
          </a:p>
        </p:txBody>
      </p:sp>
      <p:sp>
        <p:nvSpPr>
          <p:cNvPr id="15" name="Text 13"/>
          <p:cNvSpPr txBox="1"/>
          <p:nvPr/>
        </p:nvSpPr>
        <p:spPr>
          <a:xfrm>
            <a:off x="1463040" y="334670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60%  여기서 다시 누르면 재타건</a:t>
            </a:r>
            <a:endParaRPr lang="en-US" sz="1150" dirty="0"/>
          </a:p>
        </p:txBody>
      </p:sp>
      <p:sp>
        <p:nvSpPr>
          <p:cNvPr id="16" name="Shape 14"/>
          <p:cNvSpPr/>
          <p:nvPr/>
        </p:nvSpPr>
        <p:spPr>
          <a:xfrm>
            <a:off x="640080" y="4297680"/>
            <a:ext cx="731520" cy="0"/>
          </a:xfrm>
          <a:prstGeom prst="line">
            <a:avLst/>
          </a:prstGeom>
          <a:noFill/>
          <a:ln w="15875">
            <a:solidFill>
              <a:srgbClr val="D9482B"/>
            </a:solidFill>
            <a:prstDash val="solid"/>
          </a:ln>
        </p:spPr>
        <p:txBody>
          <a:bodyPr/>
          <a:lstStyle/>
          <a:p>
            <a:endParaRPr lang="en-KR"/>
          </a:p>
        </p:txBody>
      </p:sp>
      <p:sp>
        <p:nvSpPr>
          <p:cNvPr id="17" name="Text 15"/>
          <p:cNvSpPr txBox="1"/>
          <p:nvPr/>
        </p:nvSpPr>
        <p:spPr>
          <a:xfrm>
            <a:off x="1463040" y="4023360"/>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40%  속도 측정 시작</a:t>
            </a:r>
            <a:endParaRPr lang="en-US" sz="1150" dirty="0"/>
          </a:p>
        </p:txBody>
      </p:sp>
      <p:sp>
        <p:nvSpPr>
          <p:cNvPr id="18" name="Shape 16"/>
          <p:cNvSpPr/>
          <p:nvPr/>
        </p:nvSpPr>
        <p:spPr>
          <a:xfrm>
            <a:off x="640080" y="4503420"/>
            <a:ext cx="731520" cy="0"/>
          </a:xfrm>
          <a:prstGeom prst="line">
            <a:avLst/>
          </a:prstGeom>
          <a:noFill/>
          <a:ln w="15875">
            <a:solidFill>
              <a:srgbClr val="444A54"/>
            </a:solidFill>
            <a:prstDash val="solid"/>
          </a:ln>
        </p:spPr>
        <p:txBody>
          <a:bodyPr/>
          <a:lstStyle/>
          <a:p>
            <a:endParaRPr lang="en-KR"/>
          </a:p>
        </p:txBody>
      </p:sp>
      <p:sp>
        <p:nvSpPr>
          <p:cNvPr id="19" name="Text 17"/>
          <p:cNvSpPr txBox="1"/>
          <p:nvPr/>
        </p:nvSpPr>
        <p:spPr>
          <a:xfrm>
            <a:off x="1463040" y="455828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Note Off — 소리 멈춤</a:t>
            </a:r>
            <a:endParaRPr lang="en-US" sz="1150" dirty="0"/>
          </a:p>
        </p:txBody>
      </p:sp>
      <p:sp>
        <p:nvSpPr>
          <p:cNvPr id="20" name="Shape 18"/>
          <p:cNvSpPr/>
          <p:nvPr/>
        </p:nvSpPr>
        <p:spPr>
          <a:xfrm>
            <a:off x="640080" y="5943600"/>
            <a:ext cx="731520" cy="0"/>
          </a:xfrm>
          <a:prstGeom prst="line">
            <a:avLst/>
          </a:prstGeom>
          <a:noFill/>
          <a:ln w="15875">
            <a:solidFill>
              <a:srgbClr val="767D88"/>
            </a:solidFill>
            <a:prstDash val="solid"/>
          </a:ln>
        </p:spPr>
        <p:txBody>
          <a:bodyPr/>
          <a:lstStyle/>
          <a:p>
            <a:endParaRPr lang="en-KR"/>
          </a:p>
        </p:txBody>
      </p:sp>
      <p:sp>
        <p:nvSpPr>
          <p:cNvPr id="21" name="Text 19"/>
          <p:cNvSpPr txBox="1"/>
          <p:nvPr/>
        </p:nvSpPr>
        <p:spPr>
          <a:xfrm>
            <a:off x="1463040" y="58155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0%  쉬는 상태</a:t>
            </a:r>
            <a:endParaRPr lang="en-US" sz="1150" dirty="0"/>
          </a:p>
        </p:txBody>
      </p:sp>
      <p:sp>
        <p:nvSpPr>
          <p:cNvPr id="22" name="Text 20"/>
          <p:cNvSpPr txBox="1"/>
          <p:nvPr/>
        </p:nvSpPr>
        <p:spPr>
          <a:xfrm>
            <a:off x="1463040" y="2610612"/>
            <a:ext cx="2377440" cy="502920"/>
          </a:xfrm>
          <a:prstGeom prst="rect">
            <a:avLst/>
          </a:prstGeom>
          <a:noFill/>
          <a:ln/>
        </p:spPr>
        <p:txBody>
          <a:bodyPr wrap="square" lIns="0" tIns="0" rIns="0" bIns="0" rtlCol="0" anchor="t"/>
          <a:lstStyle/>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40% → 90%를 지나는</a:t>
            </a:r>
            <a:endParaRPr lang="en-US" sz="1100" dirty="0"/>
          </a:p>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시간이 짧을수록 세게</a:t>
            </a:r>
            <a:endParaRPr lang="en-US" sz="1100" dirty="0"/>
          </a:p>
        </p:txBody>
      </p:sp>
      <p:sp>
        <p:nvSpPr>
          <p:cNvPr id="23" name="Shape 21"/>
          <p:cNvSpPr/>
          <p:nvPr/>
        </p:nvSpPr>
        <p:spPr>
          <a:xfrm>
            <a:off x="4754880" y="1490472"/>
            <a:ext cx="420624" cy="420624"/>
          </a:xfrm>
          <a:prstGeom prst="ellipse">
            <a:avLst/>
          </a:prstGeom>
          <a:solidFill>
            <a:srgbClr val="16181D"/>
          </a:solidFill>
          <a:ln w="12700">
            <a:solidFill>
              <a:srgbClr val="16181D"/>
            </a:solidFill>
            <a:prstDash val="solid"/>
          </a:ln>
        </p:spPr>
        <p:txBody>
          <a:bodyPr/>
          <a:lstStyle/>
          <a:p>
            <a:endParaRPr lang="en-KR"/>
          </a:p>
        </p:txBody>
      </p:sp>
      <p:sp>
        <p:nvSpPr>
          <p:cNvPr id="24" name="Text 22"/>
          <p:cNvSpPr txBox="1"/>
          <p:nvPr/>
        </p:nvSpPr>
        <p:spPr>
          <a:xfrm>
            <a:off x="4754880" y="149047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25" name="Text 23"/>
          <p:cNvSpPr txBox="1"/>
          <p:nvPr/>
        </p:nvSpPr>
        <p:spPr>
          <a:xfrm>
            <a:off x="5349240" y="1517904"/>
            <a:ext cx="914400" cy="365760"/>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누름</a:t>
            </a:r>
            <a:endParaRPr lang="en-US" sz="1500" dirty="0"/>
          </a:p>
        </p:txBody>
      </p:sp>
      <p:sp>
        <p:nvSpPr>
          <p:cNvPr id="26" name="Text 24"/>
          <p:cNvSpPr txBox="1"/>
          <p:nvPr/>
        </p:nvSpPr>
        <p:spPr>
          <a:xfrm>
            <a:off x="6217920" y="1517904"/>
            <a:ext cx="54251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건반이 돌면서 밑면 자석이 홀센서 쪽으로 10.8 mm → 4.7 mm까지 다가간다.</a:t>
            </a:r>
            <a:endParaRPr lang="en-US" sz="1300" dirty="0"/>
          </a:p>
        </p:txBody>
      </p:sp>
      <p:sp>
        <p:nvSpPr>
          <p:cNvPr id="27" name="Shape 25"/>
          <p:cNvSpPr/>
          <p:nvPr/>
        </p:nvSpPr>
        <p:spPr>
          <a:xfrm>
            <a:off x="4754880" y="2340864"/>
            <a:ext cx="420624" cy="420624"/>
          </a:xfrm>
          <a:prstGeom prst="ellipse">
            <a:avLst/>
          </a:prstGeom>
          <a:solidFill>
            <a:srgbClr val="16181D"/>
          </a:solidFill>
          <a:ln w="12700">
            <a:solidFill>
              <a:srgbClr val="16181D"/>
            </a:solidFill>
            <a:prstDash val="solid"/>
          </a:ln>
        </p:spPr>
        <p:txBody>
          <a:bodyPr/>
          <a:lstStyle/>
          <a:p>
            <a:endParaRPr lang="en-KR"/>
          </a:p>
        </p:txBody>
      </p:sp>
      <p:sp>
        <p:nvSpPr>
          <p:cNvPr id="28" name="Text 26"/>
          <p:cNvSpPr txBox="1"/>
          <p:nvPr/>
        </p:nvSpPr>
        <p:spPr>
          <a:xfrm>
            <a:off x="4754880" y="234086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29" name="Text 27"/>
          <p:cNvSpPr txBox="1"/>
          <p:nvPr/>
        </p:nvSpPr>
        <p:spPr>
          <a:xfrm>
            <a:off x="5349240" y="2368296"/>
            <a:ext cx="914400" cy="365760"/>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측정</a:t>
            </a:r>
            <a:endParaRPr lang="en-US" sz="1500" dirty="0"/>
          </a:p>
        </p:txBody>
      </p:sp>
      <p:sp>
        <p:nvSpPr>
          <p:cNvPr id="30" name="Text 28"/>
          <p:cNvSpPr txBox="1"/>
          <p:nvPr/>
        </p:nvSpPr>
        <p:spPr>
          <a:xfrm>
            <a:off x="6217920" y="2368296"/>
            <a:ext cx="54251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RP2040-Zero가 16채널 먹스로 12건반을 차례로, 건반마다 초당 5,952번 읽는다.</a:t>
            </a:r>
            <a:endParaRPr lang="en-US" sz="1300" dirty="0"/>
          </a:p>
        </p:txBody>
      </p:sp>
      <p:sp>
        <p:nvSpPr>
          <p:cNvPr id="31" name="Shape 29"/>
          <p:cNvSpPr/>
          <p:nvPr/>
        </p:nvSpPr>
        <p:spPr>
          <a:xfrm>
            <a:off x="4754880" y="3191256"/>
            <a:ext cx="420624" cy="420624"/>
          </a:xfrm>
          <a:prstGeom prst="ellipse">
            <a:avLst/>
          </a:prstGeom>
          <a:solidFill>
            <a:srgbClr val="16181D"/>
          </a:solidFill>
          <a:ln w="12700">
            <a:solidFill>
              <a:srgbClr val="16181D"/>
            </a:solidFill>
            <a:prstDash val="solid"/>
          </a:ln>
        </p:spPr>
        <p:txBody>
          <a:bodyPr/>
          <a:lstStyle/>
          <a:p>
            <a:endParaRPr lang="en-KR"/>
          </a:p>
        </p:txBody>
      </p:sp>
      <p:sp>
        <p:nvSpPr>
          <p:cNvPr id="32" name="Text 30"/>
          <p:cNvSpPr txBox="1"/>
          <p:nvPr/>
        </p:nvSpPr>
        <p:spPr>
          <a:xfrm>
            <a:off x="4754880" y="319125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3</a:t>
            </a:r>
            <a:endParaRPr lang="en-US" sz="1300" dirty="0"/>
          </a:p>
        </p:txBody>
      </p:sp>
      <p:sp>
        <p:nvSpPr>
          <p:cNvPr id="33" name="Text 31"/>
          <p:cNvSpPr txBox="1"/>
          <p:nvPr/>
        </p:nvSpPr>
        <p:spPr>
          <a:xfrm>
            <a:off x="5349240" y="3218688"/>
            <a:ext cx="914400" cy="365760"/>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계산</a:t>
            </a:r>
            <a:endParaRPr lang="en-US" sz="1500" dirty="0"/>
          </a:p>
        </p:txBody>
      </p:sp>
      <p:sp>
        <p:nvSpPr>
          <p:cNvPr id="34" name="Text 32"/>
          <p:cNvSpPr txBox="1"/>
          <p:nvPr/>
        </p:nvSpPr>
        <p:spPr>
          <a:xfrm>
            <a:off x="6217920" y="3218688"/>
            <a:ext cx="54251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위치가 40% → 90%를 지나는 시간으로 세기(벨로시티)를 구한다. 건반별 편차는 보정 모드로 학습해 저장한다.</a:t>
            </a:r>
            <a:endParaRPr lang="en-US" sz="1300" dirty="0"/>
          </a:p>
        </p:txBody>
      </p:sp>
      <p:sp>
        <p:nvSpPr>
          <p:cNvPr id="35" name="Shape 33"/>
          <p:cNvSpPr/>
          <p:nvPr/>
        </p:nvSpPr>
        <p:spPr>
          <a:xfrm>
            <a:off x="4754880" y="4041648"/>
            <a:ext cx="420624" cy="420624"/>
          </a:xfrm>
          <a:prstGeom prst="ellipse">
            <a:avLst/>
          </a:prstGeom>
          <a:solidFill>
            <a:srgbClr val="16181D"/>
          </a:solidFill>
          <a:ln w="12700">
            <a:solidFill>
              <a:srgbClr val="16181D"/>
            </a:solidFill>
            <a:prstDash val="solid"/>
          </a:ln>
        </p:spPr>
        <p:txBody>
          <a:bodyPr/>
          <a:lstStyle/>
          <a:p>
            <a:endParaRPr lang="en-KR"/>
          </a:p>
        </p:txBody>
      </p:sp>
      <p:sp>
        <p:nvSpPr>
          <p:cNvPr id="36" name="Text 34"/>
          <p:cNvSpPr txBox="1"/>
          <p:nvPr/>
        </p:nvSpPr>
        <p:spPr>
          <a:xfrm>
            <a:off x="4754880" y="4041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4</a:t>
            </a:r>
            <a:endParaRPr lang="en-US" sz="1300" dirty="0"/>
          </a:p>
        </p:txBody>
      </p:sp>
      <p:sp>
        <p:nvSpPr>
          <p:cNvPr id="37" name="Text 35"/>
          <p:cNvSpPr txBox="1"/>
          <p:nvPr/>
        </p:nvSpPr>
        <p:spPr>
          <a:xfrm>
            <a:off x="5349240" y="4069080"/>
            <a:ext cx="914400" cy="365760"/>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전송</a:t>
            </a:r>
            <a:endParaRPr lang="en-US" sz="1500" dirty="0"/>
          </a:p>
        </p:txBody>
      </p:sp>
      <p:sp>
        <p:nvSpPr>
          <p:cNvPr id="38" name="Text 36"/>
          <p:cNvSpPr txBox="1"/>
          <p:nvPr/>
        </p:nvSpPr>
        <p:spPr>
          <a:xfrm>
            <a:off x="6217920" y="4069080"/>
            <a:ext cx="54251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USB-MIDI 장치 ‘Toccata O1~O7’·‘PED’가 Note On/Off와 페달 값(0~127)을 Pi 5로 보낸다.</a:t>
            </a:r>
            <a:endParaRPr lang="en-US" sz="1300" dirty="0"/>
          </a:p>
        </p:txBody>
      </p:sp>
      <p:sp>
        <p:nvSpPr>
          <p:cNvPr id="39" name="Shape 37"/>
          <p:cNvSpPr/>
          <p:nvPr/>
        </p:nvSpPr>
        <p:spPr>
          <a:xfrm>
            <a:off x="4754880" y="4892040"/>
            <a:ext cx="420624" cy="420624"/>
          </a:xfrm>
          <a:prstGeom prst="ellipse">
            <a:avLst/>
          </a:prstGeom>
          <a:solidFill>
            <a:srgbClr val="16181D"/>
          </a:solidFill>
          <a:ln w="12700">
            <a:solidFill>
              <a:srgbClr val="16181D"/>
            </a:solidFill>
            <a:prstDash val="solid"/>
          </a:ln>
        </p:spPr>
        <p:txBody>
          <a:bodyPr/>
          <a:lstStyle/>
          <a:p>
            <a:endParaRPr lang="en-KR"/>
          </a:p>
        </p:txBody>
      </p:sp>
      <p:sp>
        <p:nvSpPr>
          <p:cNvPr id="40" name="Text 38"/>
          <p:cNvSpPr txBox="1"/>
          <p:nvPr/>
        </p:nvSpPr>
        <p:spPr>
          <a:xfrm>
            <a:off x="4754880" y="48920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5</a:t>
            </a:r>
            <a:endParaRPr lang="en-US" sz="1300" dirty="0"/>
          </a:p>
        </p:txBody>
      </p:sp>
      <p:sp>
        <p:nvSpPr>
          <p:cNvPr id="41" name="Text 39"/>
          <p:cNvSpPr txBox="1"/>
          <p:nvPr/>
        </p:nvSpPr>
        <p:spPr>
          <a:xfrm>
            <a:off x="5349240" y="4919472"/>
            <a:ext cx="914400" cy="365760"/>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소리</a:t>
            </a:r>
            <a:endParaRPr lang="en-US" sz="1500" dirty="0"/>
          </a:p>
        </p:txBody>
      </p:sp>
      <p:sp>
        <p:nvSpPr>
          <p:cNvPr id="42" name="Text 40"/>
          <p:cNvSpPr txBox="1"/>
          <p:nvPr/>
        </p:nvSpPr>
        <p:spPr>
          <a:xfrm>
            <a:off x="6217920" y="4919472"/>
            <a:ext cx="54251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Pi 5의 FluidSynth가 그랜드 피아노 샘플로 소리를 만들어 스피커나 헤드폰으로 내보낸다.</a:t>
            </a:r>
            <a:endParaRPr lang="en-US" sz="1300" dirty="0"/>
          </a:p>
        </p:txBody>
      </p:sp>
      <p:sp>
        <p:nvSpPr>
          <p:cNvPr id="43" name="Shape 41"/>
          <p:cNvSpPr/>
          <p:nvPr/>
        </p:nvSpPr>
        <p:spPr>
          <a:xfrm>
            <a:off x="4754880" y="5760720"/>
            <a:ext cx="6888175" cy="548640"/>
          </a:xfrm>
          <a:prstGeom prst="roundRect">
            <a:avLst>
              <a:gd name="adj" fmla="val 13333"/>
            </a:avLst>
          </a:prstGeom>
          <a:solidFill>
            <a:srgbClr val="121317"/>
          </a:solidFill>
          <a:ln w="12700">
            <a:solidFill>
              <a:srgbClr val="121317"/>
            </a:solidFill>
            <a:prstDash val="solid"/>
          </a:ln>
        </p:spPr>
        <p:txBody>
          <a:bodyPr/>
          <a:lstStyle/>
          <a:p>
            <a:endParaRPr lang="en-KR"/>
          </a:p>
        </p:txBody>
      </p:sp>
      <p:sp>
        <p:nvSpPr>
          <p:cNvPr id="44" name="Text 42"/>
          <p:cNvSpPr txBox="1"/>
          <p:nvPr/>
        </p:nvSpPr>
        <p:spPr>
          <a:xfrm>
            <a:off x="4983480" y="5760720"/>
            <a:ext cx="6430975" cy="548640"/>
          </a:xfrm>
          <a:prstGeom prst="rect">
            <a:avLst/>
          </a:prstGeom>
          <a:noFill/>
          <a:ln/>
        </p:spPr>
        <p:txBody>
          <a:bodyPr wrap="square" lIns="0" tIns="0" rIns="0" bIns="0" rtlCol="0" anchor="ctr"/>
          <a:lstStyle/>
          <a:p>
            <a:pPr marL="0" indent="0">
              <a:buNone/>
            </a:pPr>
            <a:r>
              <a:rPr lang="en-US" sz="1350" b="1" dirty="0">
                <a:solidFill>
                  <a:srgbClr val="D9482B"/>
                </a:solidFill>
                <a:latin typeface="Apple SD Gothic Neo" pitchFamily="34" charset="0"/>
                <a:ea typeface="Apple SD Gothic Neo" pitchFamily="34" charset="-122"/>
                <a:cs typeface="Apple SD Gothic Neo" pitchFamily="34" charset="-120"/>
              </a:rPr>
              <a:t>목표 지연  </a:t>
            </a:r>
            <a:r>
              <a:rPr lang="en-US" sz="1350" dirty="0">
                <a:solidFill>
                  <a:srgbClr val="FFFFFF"/>
                </a:solidFill>
                <a:latin typeface="Apple SD Gothic Neo" pitchFamily="34" charset="0"/>
                <a:ea typeface="Apple SD Gothic Neo" pitchFamily="34" charset="-122"/>
                <a:cs typeface="Apple SD Gothic Neo" pitchFamily="34" charset="-120"/>
              </a:rPr>
              <a:t>누르고 소리가 나기까지 10 ms 미만 (예상 8~10 ms)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센서 — 누름을 재는 4가지 부품</a:t>
            </a:r>
            <a:endParaRPr lang="en-US" sz="2800" dirty="0"/>
          </a:p>
        </p:txBody>
      </p:sp>
      <p:sp>
        <p:nvSpPr>
          <p:cNvPr id="7" name="Shape 5"/>
          <p:cNvSpPr/>
          <p:nvPr/>
        </p:nvSpPr>
        <p:spPr>
          <a:xfrm>
            <a:off x="548640"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assets/p_L20.jpg"/>
          <p:cNvPicPr>
            <a:picLocks noChangeAspect="1"/>
          </p:cNvPicPr>
          <p:nvPr/>
        </p:nvPicPr>
        <p:blipFill>
          <a:blip r:embed="rId3"/>
          <a:stretch>
            <a:fillRect/>
          </a:stretch>
        </p:blipFill>
        <p:spPr>
          <a:xfrm>
            <a:off x="1055332" y="1673352"/>
            <a:ext cx="1554480" cy="1554480"/>
          </a:xfrm>
          <a:prstGeom prst="rect">
            <a:avLst/>
          </a:prstGeom>
        </p:spPr>
      </p:pic>
      <p:sp>
        <p:nvSpPr>
          <p:cNvPr id="9" name="Text 6"/>
          <p:cNvSpPr txBox="1"/>
          <p:nvPr/>
        </p:nvSpPr>
        <p:spPr>
          <a:xfrm>
            <a:off x="749808"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홀센서</a:t>
            </a:r>
            <a:endParaRPr lang="en-US" sz="1150" dirty="0"/>
          </a:p>
        </p:txBody>
      </p:sp>
      <p:sp>
        <p:nvSpPr>
          <p:cNvPr id="10" name="Text 7"/>
          <p:cNvSpPr txBox="1"/>
          <p:nvPr/>
        </p:nvSpPr>
        <p:spPr>
          <a:xfrm>
            <a:off x="749808"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TI DRV5055A2</a:t>
            </a:r>
            <a:endParaRPr lang="en-US" sz="1500" dirty="0"/>
          </a:p>
        </p:txBody>
      </p:sp>
      <p:sp>
        <p:nvSpPr>
          <p:cNvPr id="11" name="Text 8"/>
          <p:cNvSpPr txBox="1"/>
          <p:nvPr/>
        </p:nvSpPr>
        <p:spPr>
          <a:xfrm>
            <a:off x="749808"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선형 홀센서: 자기장 → 전압</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3.3 V · 30 mV/mT · ±44 mT</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온도 보상, 건반마다 1개</a:t>
            </a:r>
            <a:endParaRPr lang="en-US" sz="1150" dirty="0"/>
          </a:p>
        </p:txBody>
      </p:sp>
      <p:sp>
        <p:nvSpPr>
          <p:cNvPr id="12" name="Text 9"/>
          <p:cNvSpPr txBox="1"/>
          <p:nvPr/>
        </p:nvSpPr>
        <p:spPr>
          <a:xfrm>
            <a:off x="749808" y="5074920"/>
            <a:ext cx="2165528" cy="27432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89개 사용 · 개당 891원</a:t>
            </a:r>
            <a:endParaRPr lang="en-US" sz="1150" dirty="0"/>
          </a:p>
        </p:txBody>
      </p:sp>
      <p:sp>
        <p:nvSpPr>
          <p:cNvPr id="13" name="Shape 10"/>
          <p:cNvSpPr/>
          <p:nvPr/>
        </p:nvSpPr>
        <p:spPr>
          <a:xfrm>
            <a:off x="3390824"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14" name="Image 1" descr="/private/tmp/claude-501/-Users-kwg-Desktop-mydrive-project-Toccata/78323d34-2a2b-4f50-ae4c-82ce3905c7c6/scratchpad/ppt/assets/p_L21.jpg"/>
          <p:cNvPicPr>
            <a:picLocks noChangeAspect="1"/>
          </p:cNvPicPr>
          <p:nvPr/>
        </p:nvPicPr>
        <p:blipFill>
          <a:blip r:embed="rId4"/>
          <a:stretch>
            <a:fillRect/>
          </a:stretch>
        </p:blipFill>
        <p:spPr>
          <a:xfrm>
            <a:off x="3897516" y="1673352"/>
            <a:ext cx="1554480" cy="1554480"/>
          </a:xfrm>
          <a:prstGeom prst="rect">
            <a:avLst/>
          </a:prstGeom>
        </p:spPr>
      </p:pic>
      <p:sp>
        <p:nvSpPr>
          <p:cNvPr id="15" name="Text 11"/>
          <p:cNvSpPr txBox="1"/>
          <p:nvPr/>
        </p:nvSpPr>
        <p:spPr>
          <a:xfrm>
            <a:off x="3591992"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endParaRPr lang="en-US" sz="1150" dirty="0"/>
          </a:p>
        </p:txBody>
      </p:sp>
      <p:sp>
        <p:nvSpPr>
          <p:cNvPr id="16" name="Text 12"/>
          <p:cNvSpPr txBox="1"/>
          <p:nvPr/>
        </p:nvSpPr>
        <p:spPr>
          <a:xfrm>
            <a:off x="3591992"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네오디뮴 Ø5 × 2 mm N35</a:t>
            </a:r>
            <a:endParaRPr lang="en-US" sz="1500" dirty="0"/>
          </a:p>
        </p:txBody>
      </p:sp>
      <p:sp>
        <p:nvSpPr>
          <p:cNvPr id="17" name="Text 13"/>
          <p:cNvSpPr txBox="1"/>
          <p:nvPr/>
        </p:nvSpPr>
        <p:spPr>
          <a:xfrm>
            <a:off x="3591992"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건반 밑면 포켓에 1개씩</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누르면 센서 쪽으로 다가감</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페달에도 1개</a:t>
            </a:r>
            <a:endParaRPr lang="en-US" sz="1150" dirty="0"/>
          </a:p>
        </p:txBody>
      </p:sp>
      <p:sp>
        <p:nvSpPr>
          <p:cNvPr id="18" name="Text 14"/>
          <p:cNvSpPr txBox="1"/>
          <p:nvPr/>
        </p:nvSpPr>
        <p:spPr>
          <a:xfrm>
            <a:off x="3591992" y="5074920"/>
            <a:ext cx="2165528" cy="27432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89개 사용 · 개당 80원</a:t>
            </a:r>
            <a:endParaRPr lang="en-US" sz="1150" dirty="0"/>
          </a:p>
        </p:txBody>
      </p:sp>
      <p:sp>
        <p:nvSpPr>
          <p:cNvPr id="19" name="Shape 15"/>
          <p:cNvSpPr/>
          <p:nvPr/>
        </p:nvSpPr>
        <p:spPr>
          <a:xfrm>
            <a:off x="6233008"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0" name="Image 2" descr="/private/tmp/claude-501/-Users-kwg-Desktop-mydrive-project-Toccata/78323d34-2a2b-4f50-ae4c-82ce3905c7c6/scratchpad/ppt/assets/p_L18.jpg"/>
          <p:cNvPicPr>
            <a:picLocks noChangeAspect="1"/>
          </p:cNvPicPr>
          <p:nvPr/>
        </p:nvPicPr>
        <p:blipFill>
          <a:blip r:embed="rId5"/>
          <a:stretch>
            <a:fillRect/>
          </a:stretch>
        </p:blipFill>
        <p:spPr>
          <a:xfrm>
            <a:off x="6739700" y="1673352"/>
            <a:ext cx="1554480" cy="1554480"/>
          </a:xfrm>
          <a:prstGeom prst="rect">
            <a:avLst/>
          </a:prstGeom>
        </p:spPr>
      </p:pic>
      <p:sp>
        <p:nvSpPr>
          <p:cNvPr id="21" name="Text 16"/>
          <p:cNvSpPr txBox="1"/>
          <p:nvPr/>
        </p:nvSpPr>
        <p:spPr>
          <a:xfrm>
            <a:off x="6434176"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마이크로컨트롤러</a:t>
            </a:r>
            <a:endParaRPr lang="en-US" sz="1150" dirty="0"/>
          </a:p>
        </p:txBody>
      </p:sp>
      <p:sp>
        <p:nvSpPr>
          <p:cNvPr id="22" name="Text 17"/>
          <p:cNvSpPr txBox="1"/>
          <p:nvPr/>
        </p:nvSpPr>
        <p:spPr>
          <a:xfrm>
            <a:off x="6434176"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RP2040-Zero</a:t>
            </a:r>
            <a:endParaRPr lang="en-US" sz="1500" dirty="0"/>
          </a:p>
        </p:txBody>
      </p:sp>
      <p:sp>
        <p:nvSpPr>
          <p:cNvPr id="23" name="Text 18"/>
          <p:cNvSpPr txBox="1"/>
          <p:nvPr/>
        </p:nvSpPr>
        <p:spPr>
          <a:xfrm>
            <a:off x="6434176"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ADC로 센서 전압 읽기</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세기 계산 + USB-MIDI 전송</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 7 + 페달 1</a:t>
            </a:r>
            <a:endParaRPr lang="en-US" sz="1150" dirty="0"/>
          </a:p>
        </p:txBody>
      </p:sp>
      <p:sp>
        <p:nvSpPr>
          <p:cNvPr id="24" name="Text 19"/>
          <p:cNvSpPr txBox="1"/>
          <p:nvPr/>
        </p:nvSpPr>
        <p:spPr>
          <a:xfrm>
            <a:off x="6434176" y="5074920"/>
            <a:ext cx="2165528" cy="27432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8개 · 개당 3,300원</a:t>
            </a:r>
            <a:endParaRPr lang="en-US" sz="1150" dirty="0"/>
          </a:p>
        </p:txBody>
      </p:sp>
      <p:sp>
        <p:nvSpPr>
          <p:cNvPr id="25" name="Shape 20"/>
          <p:cNvSpPr/>
          <p:nvPr/>
        </p:nvSpPr>
        <p:spPr>
          <a:xfrm>
            <a:off x="9075191"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6" name="Image 3" descr="/private/tmp/claude-501/-Users-kwg-Desktop-mydrive-project-Toccata/78323d34-2a2b-4f50-ae4c-82ce3905c7c6/scratchpad/ppt/assets/p_L19.jpg"/>
          <p:cNvPicPr>
            <a:picLocks noChangeAspect="1"/>
          </p:cNvPicPr>
          <p:nvPr/>
        </p:nvPicPr>
        <p:blipFill>
          <a:blip r:embed="rId6"/>
          <a:stretch>
            <a:fillRect/>
          </a:stretch>
        </p:blipFill>
        <p:spPr>
          <a:xfrm>
            <a:off x="9581883" y="1673352"/>
            <a:ext cx="1554480" cy="1554480"/>
          </a:xfrm>
          <a:prstGeom prst="rect">
            <a:avLst/>
          </a:prstGeom>
        </p:spPr>
      </p:pic>
      <p:sp>
        <p:nvSpPr>
          <p:cNvPr id="27" name="Text 21"/>
          <p:cNvSpPr txBox="1"/>
          <p:nvPr/>
        </p:nvSpPr>
        <p:spPr>
          <a:xfrm>
            <a:off x="9276359"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멀티플렉서</a:t>
            </a:r>
            <a:endParaRPr lang="en-US" sz="1150" dirty="0"/>
          </a:p>
        </p:txBody>
      </p:sp>
      <p:sp>
        <p:nvSpPr>
          <p:cNvPr id="28" name="Text 22"/>
          <p:cNvSpPr txBox="1"/>
          <p:nvPr/>
        </p:nvSpPr>
        <p:spPr>
          <a:xfrm>
            <a:off x="9276359"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CD74HC4067 16채널</a:t>
            </a:r>
            <a:endParaRPr lang="en-US" sz="1500" dirty="0"/>
          </a:p>
        </p:txBody>
      </p:sp>
      <p:sp>
        <p:nvSpPr>
          <p:cNvPr id="29" name="Text 23"/>
          <p:cNvSpPr txBox="1"/>
          <p:nvPr/>
        </p:nvSpPr>
        <p:spPr>
          <a:xfrm>
            <a:off x="9276359"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센서 12 + 끝 부속 4를</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 1개로 차례로 읽게 함</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모듈마다 1개</a:t>
            </a:r>
            <a:endParaRPr lang="en-US" sz="1150" dirty="0"/>
          </a:p>
        </p:txBody>
      </p:sp>
      <p:sp>
        <p:nvSpPr>
          <p:cNvPr id="30" name="Text 24"/>
          <p:cNvSpPr txBox="1"/>
          <p:nvPr/>
        </p:nvSpPr>
        <p:spPr>
          <a:xfrm>
            <a:off x="9276359" y="5074920"/>
            <a:ext cx="2165528" cy="27432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7개 · 개당 500원</a:t>
            </a:r>
            <a:endParaRPr lang="en-US" sz="1150" dirty="0"/>
          </a:p>
        </p:txBody>
      </p:sp>
      <p:sp>
        <p:nvSpPr>
          <p:cNvPr id="31" name="Shape 25"/>
          <p:cNvSpPr/>
          <p:nvPr/>
        </p:nvSpPr>
        <p:spPr>
          <a:xfrm>
            <a:off x="548640" y="5669280"/>
            <a:ext cx="11094415" cy="658368"/>
          </a:xfrm>
          <a:prstGeom prst="roundRect">
            <a:avLst>
              <a:gd name="adj" fmla="val 11111"/>
            </a:avLst>
          </a:prstGeom>
          <a:solidFill>
            <a:srgbClr val="F3F4F6"/>
          </a:solidFill>
          <a:ln w="12700">
            <a:solidFill>
              <a:srgbClr val="F3F4F6"/>
            </a:solidFill>
            <a:prstDash val="solid"/>
          </a:ln>
        </p:spPr>
        <p:txBody>
          <a:bodyPr/>
          <a:lstStyle/>
          <a:p>
            <a:endParaRPr lang="en-KR"/>
          </a:p>
        </p:txBody>
      </p:sp>
      <p:sp>
        <p:nvSpPr>
          <p:cNvPr id="32" name="Text 26"/>
          <p:cNvSpPr txBox="1"/>
          <p:nvPr/>
        </p:nvSpPr>
        <p:spPr>
          <a:xfrm>
            <a:off x="777240" y="5669280"/>
            <a:ext cx="10637215" cy="658368"/>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왜 홀센서인가  </a:t>
            </a:r>
            <a:r>
              <a:rPr lang="en-US" sz="1300" dirty="0">
                <a:solidFill>
                  <a:srgbClr val="444A54"/>
                </a:solidFill>
                <a:latin typeface="Apple SD Gothic Neo" pitchFamily="34" charset="0"/>
                <a:ea typeface="Apple SD Gothic Neo" pitchFamily="34" charset="-122"/>
                <a:cs typeface="Apple SD Gothic Neo" pitchFamily="34" charset="-120"/>
              </a:rPr>
              <a:t>닿지 않고 재서 마모가 없고, 주변 빛이나 색의 영향을 받지 않으며, 건반 위치를 연속으로 재서 세기를 계산할 수 있다.</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제어 · 소리 · 전원 · 페달</a:t>
            </a:r>
            <a:endParaRPr lang="en-US" sz="2800" dirty="0"/>
          </a:p>
        </p:txBody>
      </p:sp>
      <p:sp>
        <p:nvSpPr>
          <p:cNvPr id="7" name="Shape 5"/>
          <p:cNvSpPr/>
          <p:nvPr/>
        </p:nvSpPr>
        <p:spPr>
          <a:xfrm>
            <a:off x="548640"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assets/p_L01.jpg"/>
          <p:cNvPicPr>
            <a:picLocks noChangeAspect="1"/>
          </p:cNvPicPr>
          <p:nvPr/>
        </p:nvPicPr>
        <p:blipFill>
          <a:blip r:embed="rId3"/>
          <a:stretch>
            <a:fillRect/>
          </a:stretch>
        </p:blipFill>
        <p:spPr>
          <a:xfrm>
            <a:off x="685800" y="1645920"/>
            <a:ext cx="1143000" cy="1143000"/>
          </a:xfrm>
          <a:prstGeom prst="rect">
            <a:avLst/>
          </a:prstGeom>
        </p:spPr>
      </p:pic>
      <p:sp>
        <p:nvSpPr>
          <p:cNvPr id="9" name="Text 6"/>
          <p:cNvSpPr txBox="1"/>
          <p:nvPr/>
        </p:nvSpPr>
        <p:spPr>
          <a:xfrm>
            <a:off x="1920240" y="1691640"/>
            <a:ext cx="109339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119,900원</a:t>
            </a:r>
            <a:endParaRPr lang="en-US" sz="1400" dirty="0"/>
          </a:p>
        </p:txBody>
      </p:sp>
      <p:sp>
        <p:nvSpPr>
          <p:cNvPr id="10" name="Text 7"/>
          <p:cNvSpPr txBox="1"/>
          <p:nvPr/>
        </p:nvSpPr>
        <p:spPr>
          <a:xfrm>
            <a:off x="731520"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Raspberry Pi 5 (2GB)</a:t>
            </a:r>
            <a:endParaRPr lang="en-US" sz="1300" dirty="0"/>
          </a:p>
        </p:txBody>
      </p:sp>
      <p:sp>
        <p:nvSpPr>
          <p:cNvPr id="11" name="Text 8"/>
          <p:cNvSpPr txBox="1"/>
          <p:nvPr/>
        </p:nvSpPr>
        <p:spPr>
          <a:xfrm>
            <a:off x="731520"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음원 컴퓨터 · FluidSynth</a:t>
            </a:r>
            <a:endParaRPr lang="en-US" sz="1100" dirty="0"/>
          </a:p>
        </p:txBody>
      </p:sp>
      <p:sp>
        <p:nvSpPr>
          <p:cNvPr id="12" name="Shape 9"/>
          <p:cNvSpPr/>
          <p:nvPr/>
        </p:nvSpPr>
        <p:spPr>
          <a:xfrm>
            <a:off x="3379394"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pic>
        <p:nvPicPr>
          <p:cNvPr id="13" name="Image 1" descr="/private/tmp/claude-501/-Users-kwg-Desktop-mydrive-project-Toccata/78323d34-2a2b-4f50-ae4c-82ce3905c7c6/scratchpad/ppt/assets/p_L17.jpg"/>
          <p:cNvPicPr>
            <a:picLocks noChangeAspect="1"/>
          </p:cNvPicPr>
          <p:nvPr/>
        </p:nvPicPr>
        <p:blipFill>
          <a:blip r:embed="rId4"/>
          <a:stretch>
            <a:fillRect/>
          </a:stretch>
        </p:blipFill>
        <p:spPr>
          <a:xfrm>
            <a:off x="3516554" y="1645920"/>
            <a:ext cx="1143000" cy="1143000"/>
          </a:xfrm>
          <a:prstGeom prst="rect">
            <a:avLst/>
          </a:prstGeom>
        </p:spPr>
      </p:pic>
      <p:sp>
        <p:nvSpPr>
          <p:cNvPr id="14" name="Text 10"/>
          <p:cNvSpPr txBox="1"/>
          <p:nvPr/>
        </p:nvSpPr>
        <p:spPr>
          <a:xfrm>
            <a:off x="4750994" y="1691640"/>
            <a:ext cx="109339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30,700원</a:t>
            </a:r>
            <a:endParaRPr lang="en-US" sz="1400" dirty="0"/>
          </a:p>
        </p:txBody>
      </p:sp>
      <p:sp>
        <p:nvSpPr>
          <p:cNvPr id="15" name="Text 11"/>
          <p:cNvSpPr txBox="1"/>
          <p:nvPr/>
        </p:nvSpPr>
        <p:spPr>
          <a:xfrm>
            <a:off x="3562274"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 허브 10포트</a:t>
            </a:r>
            <a:endParaRPr lang="en-US" sz="1300" dirty="0"/>
          </a:p>
        </p:txBody>
      </p:sp>
      <p:sp>
        <p:nvSpPr>
          <p:cNvPr id="16" name="Text 12"/>
          <p:cNvSpPr txBox="1"/>
          <p:nvPr/>
        </p:nvSpPr>
        <p:spPr>
          <a:xfrm>
            <a:off x="3562274"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모듈 7 + 페달 연결 · 전원형</a:t>
            </a:r>
            <a:endParaRPr lang="en-US" sz="1100" dirty="0"/>
          </a:p>
        </p:txBody>
      </p:sp>
      <p:sp>
        <p:nvSpPr>
          <p:cNvPr id="17" name="Shape 13"/>
          <p:cNvSpPr/>
          <p:nvPr/>
        </p:nvSpPr>
        <p:spPr>
          <a:xfrm>
            <a:off x="6210148"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pic>
        <p:nvPicPr>
          <p:cNvPr id="18" name="Image 2" descr="/private/tmp/claude-501/-Users-kwg-Desktop-mydrive-project-Toccata/78323d34-2a2b-4f50-ae4c-82ce3905c7c6/scratchpad/ppt/assets/p_L51.jpg"/>
          <p:cNvPicPr>
            <a:picLocks noChangeAspect="1"/>
          </p:cNvPicPr>
          <p:nvPr/>
        </p:nvPicPr>
        <p:blipFill>
          <a:blip r:embed="rId5"/>
          <a:stretch>
            <a:fillRect/>
          </a:stretch>
        </p:blipFill>
        <p:spPr>
          <a:xfrm>
            <a:off x="6347308" y="1645920"/>
            <a:ext cx="1143000" cy="1143000"/>
          </a:xfrm>
          <a:prstGeom prst="rect">
            <a:avLst/>
          </a:prstGeom>
        </p:spPr>
      </p:pic>
      <p:sp>
        <p:nvSpPr>
          <p:cNvPr id="19" name="Text 14"/>
          <p:cNvSpPr txBox="1"/>
          <p:nvPr/>
        </p:nvSpPr>
        <p:spPr>
          <a:xfrm>
            <a:off x="7581748" y="1691640"/>
            <a:ext cx="109339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14,900원</a:t>
            </a:r>
            <a:endParaRPr lang="en-US" sz="1400" dirty="0"/>
          </a:p>
        </p:txBody>
      </p:sp>
      <p:sp>
        <p:nvSpPr>
          <p:cNvPr id="20" name="Text 15"/>
          <p:cNvSpPr txBox="1"/>
          <p:nvPr/>
        </p:nvSpPr>
        <p:spPr>
          <a:xfrm>
            <a:off x="6393028"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Apple USB-C 동글</a:t>
            </a:r>
            <a:endParaRPr lang="en-US" sz="1300" dirty="0"/>
          </a:p>
        </p:txBody>
      </p:sp>
      <p:sp>
        <p:nvSpPr>
          <p:cNvPr id="21" name="Text 16"/>
          <p:cNvSpPr txBox="1"/>
          <p:nvPr/>
        </p:nvSpPr>
        <p:spPr>
          <a:xfrm>
            <a:off x="6393028"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DAC + 헤드폰 앰프</a:t>
            </a:r>
            <a:endParaRPr lang="en-US" sz="1100" dirty="0"/>
          </a:p>
        </p:txBody>
      </p:sp>
      <p:sp>
        <p:nvSpPr>
          <p:cNvPr id="22" name="Shape 17"/>
          <p:cNvSpPr/>
          <p:nvPr/>
        </p:nvSpPr>
        <p:spPr>
          <a:xfrm>
            <a:off x="9040901"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pic>
        <p:nvPicPr>
          <p:cNvPr id="23" name="Image 3" descr="/private/tmp/claude-501/-Users-kwg-Desktop-mydrive-project-Toccata/78323d34-2a2b-4f50-ae4c-82ce3905c7c6/scratchpad/ppt/assets/p_L53.jpg"/>
          <p:cNvPicPr>
            <a:picLocks noChangeAspect="1"/>
          </p:cNvPicPr>
          <p:nvPr/>
        </p:nvPicPr>
        <p:blipFill>
          <a:blip r:embed="rId6"/>
          <a:stretch>
            <a:fillRect/>
          </a:stretch>
        </p:blipFill>
        <p:spPr>
          <a:xfrm>
            <a:off x="9178061" y="1645920"/>
            <a:ext cx="1143000" cy="1143000"/>
          </a:xfrm>
          <a:prstGeom prst="rect">
            <a:avLst/>
          </a:prstGeom>
        </p:spPr>
      </p:pic>
      <p:sp>
        <p:nvSpPr>
          <p:cNvPr id="24" name="Text 18"/>
          <p:cNvSpPr txBox="1"/>
          <p:nvPr/>
        </p:nvSpPr>
        <p:spPr>
          <a:xfrm>
            <a:off x="10412501" y="1691640"/>
            <a:ext cx="109339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2,750원</a:t>
            </a:r>
            <a:endParaRPr lang="en-US" sz="1400" dirty="0"/>
          </a:p>
        </p:txBody>
      </p:sp>
      <p:sp>
        <p:nvSpPr>
          <p:cNvPr id="25" name="Text 19"/>
          <p:cNvSpPr txBox="1"/>
          <p:nvPr/>
        </p:nvSpPr>
        <p:spPr>
          <a:xfrm>
            <a:off x="9223781"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XH-A232 앰프 보드</a:t>
            </a:r>
            <a:endParaRPr lang="en-US" sz="1300" dirty="0"/>
          </a:p>
        </p:txBody>
      </p:sp>
      <p:sp>
        <p:nvSpPr>
          <p:cNvPr id="26" name="Text 20"/>
          <p:cNvSpPr txBox="1"/>
          <p:nvPr/>
        </p:nvSpPr>
        <p:spPr>
          <a:xfrm>
            <a:off x="9223781"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TPA3110 · 20 V · 채널당 약 21 W</a:t>
            </a:r>
            <a:endParaRPr lang="en-US" sz="1100" dirty="0"/>
          </a:p>
        </p:txBody>
      </p:sp>
      <p:sp>
        <p:nvSpPr>
          <p:cNvPr id="27" name="Shape 21"/>
          <p:cNvSpPr/>
          <p:nvPr/>
        </p:nvSpPr>
        <p:spPr>
          <a:xfrm>
            <a:off x="548640"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pic>
        <p:nvPicPr>
          <p:cNvPr id="28" name="Image 4" descr="/private/tmp/claude-501/-Users-kwg-Desktop-mydrive-project-Toccata/78323d34-2a2b-4f50-ae4c-82ce3905c7c6/scratchpad/ppt/assets/p_L07.jpg"/>
          <p:cNvPicPr>
            <a:picLocks noChangeAspect="1"/>
          </p:cNvPicPr>
          <p:nvPr/>
        </p:nvPicPr>
        <p:blipFill>
          <a:blip r:embed="rId7"/>
          <a:stretch>
            <a:fillRect/>
          </a:stretch>
        </p:blipFill>
        <p:spPr>
          <a:xfrm>
            <a:off x="685800" y="3904488"/>
            <a:ext cx="1143000" cy="1143000"/>
          </a:xfrm>
          <a:prstGeom prst="rect">
            <a:avLst/>
          </a:prstGeom>
        </p:spPr>
      </p:pic>
      <p:sp>
        <p:nvSpPr>
          <p:cNvPr id="29" name="Text 22"/>
          <p:cNvSpPr txBox="1"/>
          <p:nvPr/>
        </p:nvSpPr>
        <p:spPr>
          <a:xfrm>
            <a:off x="1920240" y="3950208"/>
            <a:ext cx="109339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19,200원</a:t>
            </a:r>
            <a:endParaRPr lang="en-US" sz="1400" dirty="0"/>
          </a:p>
        </p:txBody>
      </p:sp>
      <p:sp>
        <p:nvSpPr>
          <p:cNvPr id="30" name="Text 23"/>
          <p:cNvSpPr txBox="1"/>
          <p:nvPr/>
        </p:nvSpPr>
        <p:spPr>
          <a:xfrm>
            <a:off x="731520"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삼미 CW-100B25 × 2</a:t>
            </a:r>
            <a:endParaRPr lang="en-US" sz="1300" dirty="0"/>
          </a:p>
        </p:txBody>
      </p:sp>
      <p:sp>
        <p:nvSpPr>
          <p:cNvPr id="31" name="Text 24"/>
          <p:cNvSpPr txBox="1"/>
          <p:nvPr/>
        </p:nvSpPr>
        <p:spPr>
          <a:xfrm>
            <a:off x="731520"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8 Ω 풀레인지 스피커</a:t>
            </a:r>
            <a:endParaRPr lang="en-US" sz="1100" dirty="0"/>
          </a:p>
        </p:txBody>
      </p:sp>
      <p:sp>
        <p:nvSpPr>
          <p:cNvPr id="32" name="Shape 25"/>
          <p:cNvSpPr/>
          <p:nvPr/>
        </p:nvSpPr>
        <p:spPr>
          <a:xfrm>
            <a:off x="3379394"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pic>
        <p:nvPicPr>
          <p:cNvPr id="33" name="Image 5" descr="/private/tmp/claude-501/-Users-kwg-Desktop-mydrive-project-Toccata/78323d34-2a2b-4f50-ae4c-82ce3905c7c6/scratchpad/ppt/assets/p_L57.jpg"/>
          <p:cNvPicPr>
            <a:picLocks noChangeAspect="1"/>
          </p:cNvPicPr>
          <p:nvPr/>
        </p:nvPicPr>
        <p:blipFill>
          <a:blip r:embed="rId8"/>
          <a:stretch>
            <a:fillRect/>
          </a:stretch>
        </p:blipFill>
        <p:spPr>
          <a:xfrm>
            <a:off x="3516554" y="3904488"/>
            <a:ext cx="1143000" cy="1143000"/>
          </a:xfrm>
          <a:prstGeom prst="rect">
            <a:avLst/>
          </a:prstGeom>
        </p:spPr>
      </p:pic>
      <p:sp>
        <p:nvSpPr>
          <p:cNvPr id="34" name="Text 26"/>
          <p:cNvSpPr txBox="1"/>
          <p:nvPr/>
        </p:nvSpPr>
        <p:spPr>
          <a:xfrm>
            <a:off x="4750994" y="3950208"/>
            <a:ext cx="109339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4,950원</a:t>
            </a:r>
            <a:endParaRPr lang="en-US" sz="1400" dirty="0"/>
          </a:p>
        </p:txBody>
      </p:sp>
      <p:sp>
        <p:nvSpPr>
          <p:cNvPr id="35" name="Text 27"/>
          <p:cNvSpPr txBox="1"/>
          <p:nvPr/>
        </p:nvSpPr>
        <p:spPr>
          <a:xfrm>
            <a:off x="3562274"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PD 트리거 (HUSB238)</a:t>
            </a:r>
            <a:endParaRPr lang="en-US" sz="1300" dirty="0"/>
          </a:p>
        </p:txBody>
      </p:sp>
      <p:sp>
        <p:nvSpPr>
          <p:cNvPr id="36" name="Text 28"/>
          <p:cNvSpPr txBox="1"/>
          <p:nvPr/>
        </p:nvSpPr>
        <p:spPr>
          <a:xfrm>
            <a:off x="3562274"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입력 → 20 V</a:t>
            </a:r>
            <a:endParaRPr lang="en-US" sz="1100" dirty="0"/>
          </a:p>
        </p:txBody>
      </p:sp>
      <p:sp>
        <p:nvSpPr>
          <p:cNvPr id="37" name="Shape 29"/>
          <p:cNvSpPr/>
          <p:nvPr/>
        </p:nvSpPr>
        <p:spPr>
          <a:xfrm>
            <a:off x="6210148"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pic>
        <p:nvPicPr>
          <p:cNvPr id="38" name="Image 6" descr="/private/tmp/claude-501/-Users-kwg-Desktop-mydrive-project-Toccata/78323d34-2a2b-4f50-ae4c-82ce3905c7c6/scratchpad/ppt/assets/p_L58.jpg"/>
          <p:cNvPicPr>
            <a:picLocks noChangeAspect="1"/>
          </p:cNvPicPr>
          <p:nvPr/>
        </p:nvPicPr>
        <p:blipFill>
          <a:blip r:embed="rId9"/>
          <a:stretch>
            <a:fillRect/>
          </a:stretch>
        </p:blipFill>
        <p:spPr>
          <a:xfrm>
            <a:off x="6347308" y="3904488"/>
            <a:ext cx="1143000" cy="1143000"/>
          </a:xfrm>
          <a:prstGeom prst="rect">
            <a:avLst/>
          </a:prstGeom>
        </p:spPr>
      </p:pic>
      <p:sp>
        <p:nvSpPr>
          <p:cNvPr id="39" name="Text 30"/>
          <p:cNvSpPr txBox="1"/>
          <p:nvPr/>
        </p:nvSpPr>
        <p:spPr>
          <a:xfrm>
            <a:off x="7581748" y="3950208"/>
            <a:ext cx="109339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5,170원</a:t>
            </a:r>
            <a:endParaRPr lang="en-US" sz="1400" dirty="0"/>
          </a:p>
        </p:txBody>
      </p:sp>
      <p:sp>
        <p:nvSpPr>
          <p:cNvPr id="40" name="Text 31"/>
          <p:cNvSpPr txBox="1"/>
          <p:nvPr/>
        </p:nvSpPr>
        <p:spPr>
          <a:xfrm>
            <a:off x="6393028"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XL4016 강압 모듈</a:t>
            </a:r>
            <a:endParaRPr lang="en-US" sz="1300" dirty="0"/>
          </a:p>
        </p:txBody>
      </p:sp>
      <p:sp>
        <p:nvSpPr>
          <p:cNvPr id="41" name="Text 32"/>
          <p:cNvSpPr txBox="1"/>
          <p:nvPr/>
        </p:nvSpPr>
        <p:spPr>
          <a:xfrm>
            <a:off x="6393028"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5.1 V (Pi 5 · 허브)</a:t>
            </a:r>
            <a:endParaRPr lang="en-US" sz="1100" dirty="0"/>
          </a:p>
        </p:txBody>
      </p:sp>
      <p:sp>
        <p:nvSpPr>
          <p:cNvPr id="42" name="Shape 33"/>
          <p:cNvSpPr/>
          <p:nvPr/>
        </p:nvSpPr>
        <p:spPr>
          <a:xfrm>
            <a:off x="9040901"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pic>
        <p:nvPicPr>
          <p:cNvPr id="43" name="Image 7" descr="/private/tmp/claude-501/-Users-kwg-Desktop-mydrive-project-Toccata/78323d34-2a2b-4f50-ae4c-82ce3905c7c6/scratchpad/ppt/assets/p_L43.jpg"/>
          <p:cNvPicPr>
            <a:picLocks noChangeAspect="1"/>
          </p:cNvPicPr>
          <p:nvPr/>
        </p:nvPicPr>
        <p:blipFill>
          <a:blip r:embed="rId10"/>
          <a:stretch>
            <a:fillRect/>
          </a:stretch>
        </p:blipFill>
        <p:spPr>
          <a:xfrm>
            <a:off x="9178061" y="3904488"/>
            <a:ext cx="1143000" cy="1143000"/>
          </a:xfrm>
          <a:prstGeom prst="rect">
            <a:avLst/>
          </a:prstGeom>
        </p:spPr>
      </p:pic>
      <p:sp>
        <p:nvSpPr>
          <p:cNvPr id="44" name="Text 34"/>
          <p:cNvSpPr txBox="1"/>
          <p:nvPr/>
        </p:nvSpPr>
        <p:spPr>
          <a:xfrm>
            <a:off x="10412501" y="3950208"/>
            <a:ext cx="109339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8,500원</a:t>
            </a:r>
            <a:endParaRPr lang="en-US" sz="1400" dirty="0"/>
          </a:p>
        </p:txBody>
      </p:sp>
      <p:sp>
        <p:nvSpPr>
          <p:cNvPr id="45" name="Text 35"/>
          <p:cNvSpPr txBox="1"/>
          <p:nvPr/>
        </p:nvSpPr>
        <p:spPr>
          <a:xfrm>
            <a:off x="9223781"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서스테인 페달 (듀로)</a:t>
            </a:r>
            <a:endParaRPr lang="en-US" sz="1300" dirty="0"/>
          </a:p>
        </p:txBody>
      </p:sp>
      <p:sp>
        <p:nvSpPr>
          <p:cNvPr id="46" name="Text 36"/>
          <p:cNvSpPr txBox="1"/>
          <p:nvPr/>
        </p:nvSpPr>
        <p:spPr>
          <a:xfrm>
            <a:off x="9223781"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홀센서로 개조 → 하프페달</a:t>
            </a:r>
            <a:endParaRPr lang="en-US" sz="1100" dirty="0"/>
          </a:p>
        </p:txBody>
      </p:sp>
      <p:sp>
        <p:nvSpPr>
          <p:cNvPr id="47" name="Text 37"/>
          <p:cNvSpPr txBox="1"/>
          <p:nvPr/>
        </p:nvSpPr>
        <p:spPr>
          <a:xfrm>
            <a:off x="548640" y="5943600"/>
            <a:ext cx="11094415" cy="320040"/>
          </a:xfrm>
          <a:prstGeom prst="rect">
            <a:avLst/>
          </a:prstGeom>
          <a:noFill/>
          <a:ln/>
        </p:spPr>
        <p:txBody>
          <a:bodyPr wrap="square" lIns="0" tIns="0" rIns="0" bIns="0" rtlCol="0" anchor="t"/>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구조 재료  </a:t>
            </a:r>
            <a:r>
              <a:rPr lang="en-US" sz="1200" dirty="0">
                <a:solidFill>
                  <a:srgbClr val="444A54"/>
                </a:solidFill>
                <a:latin typeface="Apple SD Gothic Neo" pitchFamily="34" charset="0"/>
                <a:ea typeface="Apple SD Gothic Neo" pitchFamily="34" charset="-122"/>
                <a:cs typeface="Apple SD Gothic Neo" pitchFamily="34" charset="-120"/>
              </a:rPr>
              <a:t>PETG 필라멘트 7 kg  ·  오꾸메 합판 2장  ·  M3 나사 · 펠트 · EVA 시트       </a:t>
            </a:r>
            <a:r>
              <a:rPr lang="en-US" sz="1200" b="1" dirty="0">
                <a:solidFill>
                  <a:srgbClr val="D9482B"/>
                </a:solidFill>
                <a:latin typeface="Apple SD Gothic Neo" pitchFamily="34" charset="0"/>
                <a:ea typeface="Apple SD Gothic Neo" pitchFamily="34" charset="-122"/>
                <a:cs typeface="Apple SD Gothic Neo" pitchFamily="34" charset="-120"/>
              </a:rPr>
              <a:t>음원 소프트웨어  </a:t>
            </a:r>
            <a:r>
              <a:rPr lang="en-US" sz="1200" dirty="0">
                <a:solidFill>
                  <a:srgbClr val="444A54"/>
                </a:solidFill>
                <a:latin typeface="Apple SD Gothic Neo" pitchFamily="34" charset="0"/>
                <a:ea typeface="Apple SD Gothic Neo" pitchFamily="34" charset="-122"/>
                <a:cs typeface="Apple SD Gothic Neo" pitchFamily="34" charset="-120"/>
              </a:rPr>
              <a:t>FluidSynth + Salamander Grand Piano (무료)</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비용 — 목표 100만원 이하</a:t>
            </a:r>
            <a:endParaRPr lang="en-US" sz="2800" dirty="0"/>
          </a:p>
        </p:txBody>
      </p:sp>
      <p:sp>
        <p:nvSpPr>
          <p:cNvPr id="7" name="Text 5"/>
          <p:cNvSpPr txBox="1"/>
          <p:nvPr/>
        </p:nvSpPr>
        <p:spPr>
          <a:xfrm>
            <a:off x="548640" y="1463040"/>
            <a:ext cx="658368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피아노에 들어가는 부품 548,578원의 구성</a:t>
            </a:r>
            <a:endParaRPr lang="en-US" sz="1400" dirty="0"/>
          </a:p>
        </p:txBody>
      </p:sp>
      <p:graphicFrame>
        <p:nvGraphicFramePr>
          <p:cNvPr id="8" name="Chart 0"/>
          <p:cNvGraphicFramePr/>
          <p:nvPr/>
        </p:nvGraphicFramePr>
        <p:xfrm>
          <a:off x="457200" y="1783080"/>
          <a:ext cx="68580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548640" y="5897880"/>
            <a:ext cx="6675120" cy="274320"/>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소프트웨어(FluidSynth · 피아노 음원)는 무료 · 가격은 2026-09-25 판매처 확인값</a:t>
            </a:r>
            <a:endParaRPr lang="en-US" sz="1050" dirty="0"/>
          </a:p>
        </p:txBody>
      </p:sp>
      <p:sp>
        <p:nvSpPr>
          <p:cNvPr id="10" name="Shape 7"/>
          <p:cNvSpPr/>
          <p:nvPr/>
        </p:nvSpPr>
        <p:spPr>
          <a:xfrm>
            <a:off x="7726680" y="1508760"/>
            <a:ext cx="3916375" cy="804672"/>
          </a:xfrm>
          <a:prstGeom prst="roundRect">
            <a:avLst>
              <a:gd name="adj" fmla="val 9091"/>
            </a:avLst>
          </a:prstGeom>
          <a:solidFill>
            <a:srgbClr val="F3F4F6"/>
          </a:solidFill>
          <a:ln w="12700">
            <a:solidFill>
              <a:srgbClr val="F3F4F6"/>
            </a:solidFill>
            <a:prstDash val="solid"/>
          </a:ln>
        </p:spPr>
        <p:txBody>
          <a:bodyPr/>
          <a:lstStyle/>
          <a:p>
            <a:endParaRPr lang="en-KR"/>
          </a:p>
        </p:txBody>
      </p:sp>
      <p:sp>
        <p:nvSpPr>
          <p:cNvPr id="11" name="Text 8"/>
          <p:cNvSpPr txBox="1"/>
          <p:nvPr/>
        </p:nvSpPr>
        <p:spPr>
          <a:xfrm>
            <a:off x="7955280" y="1600200"/>
            <a:ext cx="1097280" cy="320040"/>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부품</a:t>
            </a:r>
            <a:endParaRPr lang="en-US" sz="1300" dirty="0"/>
          </a:p>
        </p:txBody>
      </p:sp>
      <p:sp>
        <p:nvSpPr>
          <p:cNvPr id="12" name="Text 9"/>
          <p:cNvSpPr txBox="1"/>
          <p:nvPr/>
        </p:nvSpPr>
        <p:spPr>
          <a:xfrm>
            <a:off x="8961120" y="1572768"/>
            <a:ext cx="2453335" cy="365760"/>
          </a:xfrm>
          <a:prstGeom prst="rect">
            <a:avLst/>
          </a:prstGeom>
          <a:noFill/>
          <a:ln/>
        </p:spPr>
        <p:txBody>
          <a:bodyPr wrap="square" lIns="0" tIns="0" rIns="0" bIns="0" rtlCol="0" anchor="t"/>
          <a:lstStyle/>
          <a:p>
            <a:pPr marL="0" indent="0" algn="r">
              <a:buNone/>
            </a:pPr>
            <a:r>
              <a:rPr lang="en-US" sz="1800" b="1" dirty="0">
                <a:solidFill>
                  <a:srgbClr val="16181D"/>
                </a:solidFill>
                <a:latin typeface="Apple SD Gothic Neo" pitchFamily="34" charset="0"/>
                <a:ea typeface="Apple SD Gothic Neo" pitchFamily="34" charset="-122"/>
                <a:cs typeface="Apple SD Gothic Neo" pitchFamily="34" charset="-120"/>
              </a:rPr>
              <a:t>548,578원</a:t>
            </a:r>
            <a:endParaRPr lang="en-US" sz="1800" dirty="0"/>
          </a:p>
        </p:txBody>
      </p:sp>
      <p:sp>
        <p:nvSpPr>
          <p:cNvPr id="13" name="Text 10"/>
          <p:cNvSpPr txBox="1"/>
          <p:nvPr/>
        </p:nvSpPr>
        <p:spPr>
          <a:xfrm>
            <a:off x="7955280" y="1965960"/>
            <a:ext cx="3459175"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피아노에 들어가는 것</a:t>
            </a:r>
            <a:endParaRPr lang="en-US" sz="1100" dirty="0"/>
          </a:p>
        </p:txBody>
      </p:sp>
      <p:sp>
        <p:nvSpPr>
          <p:cNvPr id="14" name="Shape 11"/>
          <p:cNvSpPr/>
          <p:nvPr/>
        </p:nvSpPr>
        <p:spPr>
          <a:xfrm>
            <a:off x="7726680" y="2441448"/>
            <a:ext cx="3916375" cy="804672"/>
          </a:xfrm>
          <a:prstGeom prst="roundRect">
            <a:avLst>
              <a:gd name="adj" fmla="val 9091"/>
            </a:avLst>
          </a:prstGeom>
          <a:solidFill>
            <a:srgbClr val="F3F4F6"/>
          </a:solidFill>
          <a:ln w="12700">
            <a:solidFill>
              <a:srgbClr val="F3F4F6"/>
            </a:solidFill>
            <a:prstDash val="solid"/>
          </a:ln>
        </p:spPr>
        <p:txBody>
          <a:bodyPr/>
          <a:lstStyle/>
          <a:p>
            <a:endParaRPr lang="en-KR"/>
          </a:p>
        </p:txBody>
      </p:sp>
      <p:sp>
        <p:nvSpPr>
          <p:cNvPr id="15" name="Text 12"/>
          <p:cNvSpPr txBox="1"/>
          <p:nvPr/>
        </p:nvSpPr>
        <p:spPr>
          <a:xfrm>
            <a:off x="7955280" y="2532888"/>
            <a:ext cx="1097280" cy="320040"/>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소모품</a:t>
            </a:r>
            <a:endParaRPr lang="en-US" sz="1300" dirty="0"/>
          </a:p>
        </p:txBody>
      </p:sp>
      <p:sp>
        <p:nvSpPr>
          <p:cNvPr id="16" name="Text 13"/>
          <p:cNvSpPr txBox="1"/>
          <p:nvPr/>
        </p:nvSpPr>
        <p:spPr>
          <a:xfrm>
            <a:off x="8961120" y="2505456"/>
            <a:ext cx="2453335" cy="365760"/>
          </a:xfrm>
          <a:prstGeom prst="rect">
            <a:avLst/>
          </a:prstGeom>
          <a:noFill/>
          <a:ln/>
        </p:spPr>
        <p:txBody>
          <a:bodyPr wrap="square" lIns="0" tIns="0" rIns="0" bIns="0" rtlCol="0" anchor="t"/>
          <a:lstStyle/>
          <a:p>
            <a:pPr marL="0" indent="0" algn="r">
              <a:buNone/>
            </a:pPr>
            <a:r>
              <a:rPr lang="en-US" sz="1800" b="1" dirty="0">
                <a:solidFill>
                  <a:srgbClr val="16181D"/>
                </a:solidFill>
                <a:latin typeface="Apple SD Gothic Neo" pitchFamily="34" charset="0"/>
                <a:ea typeface="Apple SD Gothic Neo" pitchFamily="34" charset="-122"/>
                <a:cs typeface="Apple SD Gothic Neo" pitchFamily="34" charset="-120"/>
              </a:rPr>
              <a:t>165,284원</a:t>
            </a:r>
            <a:endParaRPr lang="en-US" sz="1800" dirty="0"/>
          </a:p>
        </p:txBody>
      </p:sp>
      <p:sp>
        <p:nvSpPr>
          <p:cNvPr id="17" name="Text 14"/>
          <p:cNvSpPr txBox="1"/>
          <p:nvPr/>
        </p:nvSpPr>
        <p:spPr>
          <a:xfrm>
            <a:off x="7955280" y="2898648"/>
            <a:ext cx="3459175"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필라멘트 7 kg · 케이블 · 납 · 본드</a:t>
            </a:r>
            <a:endParaRPr lang="en-US" sz="1100" dirty="0"/>
          </a:p>
        </p:txBody>
      </p:sp>
      <p:sp>
        <p:nvSpPr>
          <p:cNvPr id="18" name="Shape 15"/>
          <p:cNvSpPr/>
          <p:nvPr/>
        </p:nvSpPr>
        <p:spPr>
          <a:xfrm>
            <a:off x="7726680" y="3374136"/>
            <a:ext cx="3916375" cy="804672"/>
          </a:xfrm>
          <a:prstGeom prst="roundRect">
            <a:avLst>
              <a:gd name="adj" fmla="val 9091"/>
            </a:avLst>
          </a:prstGeom>
          <a:solidFill>
            <a:srgbClr val="F3F4F6"/>
          </a:solidFill>
          <a:ln w="12700">
            <a:solidFill>
              <a:srgbClr val="F3F4F6"/>
            </a:solidFill>
            <a:prstDash val="solid"/>
          </a:ln>
        </p:spPr>
        <p:txBody>
          <a:bodyPr/>
          <a:lstStyle/>
          <a:p>
            <a:endParaRPr lang="en-KR"/>
          </a:p>
        </p:txBody>
      </p:sp>
      <p:sp>
        <p:nvSpPr>
          <p:cNvPr id="19" name="Text 16"/>
          <p:cNvSpPr txBox="1"/>
          <p:nvPr/>
        </p:nvSpPr>
        <p:spPr>
          <a:xfrm>
            <a:off x="7955280" y="3465576"/>
            <a:ext cx="1097280" cy="320040"/>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공구</a:t>
            </a:r>
            <a:endParaRPr lang="en-US" sz="1300" dirty="0"/>
          </a:p>
        </p:txBody>
      </p:sp>
      <p:sp>
        <p:nvSpPr>
          <p:cNvPr id="20" name="Text 17"/>
          <p:cNvSpPr txBox="1"/>
          <p:nvPr/>
        </p:nvSpPr>
        <p:spPr>
          <a:xfrm>
            <a:off x="8961120" y="3438144"/>
            <a:ext cx="2453335" cy="365760"/>
          </a:xfrm>
          <a:prstGeom prst="rect">
            <a:avLst/>
          </a:prstGeom>
          <a:noFill/>
          <a:ln/>
        </p:spPr>
        <p:txBody>
          <a:bodyPr wrap="square" lIns="0" tIns="0" rIns="0" bIns="0" rtlCol="0" anchor="t"/>
          <a:lstStyle/>
          <a:p>
            <a:pPr marL="0" indent="0" algn="r">
              <a:buNone/>
            </a:pPr>
            <a:r>
              <a:rPr lang="en-US" sz="1800" b="1" dirty="0">
                <a:solidFill>
                  <a:srgbClr val="16181D"/>
                </a:solidFill>
                <a:latin typeface="Apple SD Gothic Neo" pitchFamily="34" charset="0"/>
                <a:ea typeface="Apple SD Gothic Neo" pitchFamily="34" charset="-122"/>
                <a:cs typeface="Apple SD Gothic Neo" pitchFamily="34" charset="-120"/>
              </a:rPr>
              <a:t>89,470원</a:t>
            </a:r>
            <a:endParaRPr lang="en-US" sz="1800" dirty="0"/>
          </a:p>
        </p:txBody>
      </p:sp>
      <p:sp>
        <p:nvSpPr>
          <p:cNvPr id="21" name="Text 18"/>
          <p:cNvSpPr txBox="1"/>
          <p:nvPr/>
        </p:nvSpPr>
        <p:spPr>
          <a:xfrm>
            <a:off x="7955280" y="3831336"/>
            <a:ext cx="3459175"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인두 · 멀티미터 · 캘리퍼스 (있으면 0원)</a:t>
            </a:r>
            <a:endParaRPr lang="en-US" sz="1100" dirty="0"/>
          </a:p>
        </p:txBody>
      </p:sp>
      <p:sp>
        <p:nvSpPr>
          <p:cNvPr id="22" name="Shape 19"/>
          <p:cNvSpPr/>
          <p:nvPr/>
        </p:nvSpPr>
        <p:spPr>
          <a:xfrm>
            <a:off x="7726680" y="4389120"/>
            <a:ext cx="3916375" cy="1417320"/>
          </a:xfrm>
          <a:prstGeom prst="roundRect">
            <a:avLst>
              <a:gd name="adj" fmla="val 5161"/>
            </a:avLst>
          </a:prstGeom>
          <a:solidFill>
            <a:srgbClr val="121317"/>
          </a:solidFill>
          <a:ln w="12700">
            <a:solidFill>
              <a:srgbClr val="121317"/>
            </a:solidFill>
            <a:prstDash val="solid"/>
          </a:ln>
        </p:spPr>
        <p:txBody>
          <a:bodyPr/>
          <a:lstStyle/>
          <a:p>
            <a:endParaRPr lang="en-KR"/>
          </a:p>
        </p:txBody>
      </p:sp>
      <p:sp>
        <p:nvSpPr>
          <p:cNvPr id="23" name="Text 20"/>
          <p:cNvSpPr txBox="1"/>
          <p:nvPr/>
        </p:nvSpPr>
        <p:spPr>
          <a:xfrm>
            <a:off x="7955280" y="4498848"/>
            <a:ext cx="3459175" cy="292608"/>
          </a:xfrm>
          <a:prstGeom prst="rect">
            <a:avLst/>
          </a:prstGeom>
          <a:noFill/>
          <a:ln/>
        </p:spPr>
        <p:txBody>
          <a:bodyPr wrap="square" lIns="0" tIns="0" rIns="0" bIns="0" rtlCol="0" anchor="t"/>
          <a:lstStyle/>
          <a:p>
            <a:pPr marL="0" indent="0">
              <a:buNone/>
            </a:pPr>
            <a:r>
              <a:rPr lang="en-US" sz="1300" b="1" dirty="0">
                <a:solidFill>
                  <a:srgbClr val="B9BEC7"/>
                </a:solidFill>
                <a:latin typeface="Apple SD Gothic Neo" pitchFamily="34" charset="0"/>
                <a:ea typeface="Apple SD Gothic Neo" pitchFamily="34" charset="-122"/>
                <a:cs typeface="Apple SD Gothic Neo" pitchFamily="34" charset="-120"/>
              </a:rPr>
              <a:t>전체 제작비</a:t>
            </a:r>
            <a:endParaRPr lang="en-US" sz="1300" dirty="0"/>
          </a:p>
        </p:txBody>
      </p:sp>
      <p:sp>
        <p:nvSpPr>
          <p:cNvPr id="24" name="Text 21"/>
          <p:cNvSpPr txBox="1"/>
          <p:nvPr/>
        </p:nvSpPr>
        <p:spPr>
          <a:xfrm>
            <a:off x="7955280" y="4773168"/>
            <a:ext cx="3459175" cy="566928"/>
          </a:xfrm>
          <a:prstGeom prst="rect">
            <a:avLst/>
          </a:prstGeom>
          <a:noFill/>
          <a:ln/>
        </p:spPr>
        <p:txBody>
          <a:bodyPr wrap="square" lIns="0" tIns="0" rIns="0" bIns="0" rtlCol="0" anchor="t"/>
          <a:lstStyle/>
          <a:p>
            <a:pPr marL="0" indent="0">
              <a:buNone/>
            </a:pPr>
            <a:r>
              <a:rPr lang="en-US" sz="3200" b="1" dirty="0">
                <a:solidFill>
                  <a:srgbClr val="FFFFFF"/>
                </a:solidFill>
                <a:latin typeface="Apple SD Gothic Neo" pitchFamily="34" charset="0"/>
                <a:ea typeface="Apple SD Gothic Neo" pitchFamily="34" charset="-122"/>
                <a:cs typeface="Apple SD Gothic Neo" pitchFamily="34" charset="-120"/>
              </a:rPr>
              <a:t>803,332원</a:t>
            </a:r>
            <a:endParaRPr lang="en-US" sz="3200" dirty="0"/>
          </a:p>
        </p:txBody>
      </p:sp>
      <p:sp>
        <p:nvSpPr>
          <p:cNvPr id="25" name="Text 22"/>
          <p:cNvSpPr txBox="1"/>
          <p:nvPr/>
        </p:nvSpPr>
        <p:spPr>
          <a:xfrm>
            <a:off x="7955280" y="5376672"/>
            <a:ext cx="3459175" cy="292608"/>
          </a:xfrm>
          <a:prstGeom prst="rect">
            <a:avLst/>
          </a:prstGeom>
          <a:noFill/>
          <a:ln/>
        </p:spPr>
        <p:txBody>
          <a:bodyPr wrap="square" lIns="0" tIns="0" rIns="0" bIns="0" rtlCol="0" anchor="t"/>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100만원 한도 안  </a:t>
            </a:r>
            <a:r>
              <a:rPr lang="en-US" sz="1200" dirty="0">
                <a:solidFill>
                  <a:srgbClr val="B9BEC7"/>
                </a:solidFill>
                <a:latin typeface="Apple SD Gothic Neo" pitchFamily="34" charset="0"/>
                <a:ea typeface="Apple SD Gothic Neo" pitchFamily="34" charset="-122"/>
                <a:cs typeface="Apple SD Gothic Neo" pitchFamily="34" charset="-120"/>
              </a:rPr>
              <a:t>(3D 프린터는 별도)</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제작 계획 — 약 11주, 시험부터 먼저</a:t>
            </a:r>
            <a:endParaRPr lang="en-US" sz="2800" dirty="0"/>
          </a:p>
        </p:txBody>
      </p:sp>
      <p:sp>
        <p:nvSpPr>
          <p:cNvPr id="7" name="Text 5"/>
          <p:cNvSpPr txBox="1"/>
          <p:nvPr/>
        </p:nvSpPr>
        <p:spPr>
          <a:xfrm>
            <a:off x="4480560"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1주</a:t>
            </a:r>
            <a:endParaRPr lang="en-US" sz="1050" dirty="0"/>
          </a:p>
        </p:txBody>
      </p:sp>
      <p:sp>
        <p:nvSpPr>
          <p:cNvPr id="8" name="Text 6"/>
          <p:cNvSpPr txBox="1"/>
          <p:nvPr/>
        </p:nvSpPr>
        <p:spPr>
          <a:xfrm>
            <a:off x="5077435"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2주</a:t>
            </a:r>
            <a:endParaRPr lang="en-US" sz="1050" dirty="0"/>
          </a:p>
        </p:txBody>
      </p:sp>
      <p:sp>
        <p:nvSpPr>
          <p:cNvPr id="9" name="Shape 7"/>
          <p:cNvSpPr/>
          <p:nvPr/>
        </p:nvSpPr>
        <p:spPr>
          <a:xfrm>
            <a:off x="5077435" y="1755648"/>
            <a:ext cx="0" cy="3913632"/>
          </a:xfrm>
          <a:prstGeom prst="line">
            <a:avLst/>
          </a:prstGeom>
          <a:noFill/>
          <a:ln w="9525">
            <a:solidFill>
              <a:srgbClr val="DDE0E5"/>
            </a:solidFill>
            <a:prstDash val="dash"/>
          </a:ln>
        </p:spPr>
        <p:txBody>
          <a:bodyPr/>
          <a:lstStyle/>
          <a:p>
            <a:endParaRPr lang="en-KR"/>
          </a:p>
        </p:txBody>
      </p:sp>
      <p:sp>
        <p:nvSpPr>
          <p:cNvPr id="10" name="Text 8"/>
          <p:cNvSpPr txBox="1"/>
          <p:nvPr/>
        </p:nvSpPr>
        <p:spPr>
          <a:xfrm>
            <a:off x="5674309"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3주</a:t>
            </a:r>
            <a:endParaRPr lang="en-US" sz="1050" dirty="0"/>
          </a:p>
        </p:txBody>
      </p:sp>
      <p:sp>
        <p:nvSpPr>
          <p:cNvPr id="11" name="Shape 9"/>
          <p:cNvSpPr/>
          <p:nvPr/>
        </p:nvSpPr>
        <p:spPr>
          <a:xfrm>
            <a:off x="5674309" y="1755648"/>
            <a:ext cx="0" cy="3913632"/>
          </a:xfrm>
          <a:prstGeom prst="line">
            <a:avLst/>
          </a:prstGeom>
          <a:noFill/>
          <a:ln w="9525">
            <a:solidFill>
              <a:srgbClr val="DDE0E5"/>
            </a:solidFill>
            <a:prstDash val="dash"/>
          </a:ln>
        </p:spPr>
        <p:txBody>
          <a:bodyPr/>
          <a:lstStyle/>
          <a:p>
            <a:endParaRPr lang="en-KR"/>
          </a:p>
        </p:txBody>
      </p:sp>
      <p:sp>
        <p:nvSpPr>
          <p:cNvPr id="12" name="Text 10"/>
          <p:cNvSpPr txBox="1"/>
          <p:nvPr/>
        </p:nvSpPr>
        <p:spPr>
          <a:xfrm>
            <a:off x="6271184"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4주</a:t>
            </a:r>
            <a:endParaRPr lang="en-US" sz="1050" dirty="0"/>
          </a:p>
        </p:txBody>
      </p:sp>
      <p:sp>
        <p:nvSpPr>
          <p:cNvPr id="13" name="Shape 11"/>
          <p:cNvSpPr/>
          <p:nvPr/>
        </p:nvSpPr>
        <p:spPr>
          <a:xfrm>
            <a:off x="6271184" y="1755648"/>
            <a:ext cx="0" cy="3913632"/>
          </a:xfrm>
          <a:prstGeom prst="line">
            <a:avLst/>
          </a:prstGeom>
          <a:noFill/>
          <a:ln w="9525">
            <a:solidFill>
              <a:srgbClr val="DDE0E5"/>
            </a:solidFill>
            <a:prstDash val="dash"/>
          </a:ln>
        </p:spPr>
        <p:txBody>
          <a:bodyPr/>
          <a:lstStyle/>
          <a:p>
            <a:endParaRPr lang="en-KR"/>
          </a:p>
        </p:txBody>
      </p:sp>
      <p:sp>
        <p:nvSpPr>
          <p:cNvPr id="14" name="Text 12"/>
          <p:cNvSpPr txBox="1"/>
          <p:nvPr/>
        </p:nvSpPr>
        <p:spPr>
          <a:xfrm>
            <a:off x="6868058"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5주</a:t>
            </a:r>
            <a:endParaRPr lang="en-US" sz="1050" dirty="0"/>
          </a:p>
        </p:txBody>
      </p:sp>
      <p:sp>
        <p:nvSpPr>
          <p:cNvPr id="15" name="Shape 13"/>
          <p:cNvSpPr/>
          <p:nvPr/>
        </p:nvSpPr>
        <p:spPr>
          <a:xfrm>
            <a:off x="6868058" y="1755648"/>
            <a:ext cx="0" cy="3913632"/>
          </a:xfrm>
          <a:prstGeom prst="line">
            <a:avLst/>
          </a:prstGeom>
          <a:noFill/>
          <a:ln w="9525">
            <a:solidFill>
              <a:srgbClr val="DDE0E5"/>
            </a:solidFill>
            <a:prstDash val="dash"/>
          </a:ln>
        </p:spPr>
        <p:txBody>
          <a:bodyPr/>
          <a:lstStyle/>
          <a:p>
            <a:endParaRPr lang="en-KR"/>
          </a:p>
        </p:txBody>
      </p:sp>
      <p:sp>
        <p:nvSpPr>
          <p:cNvPr id="16" name="Text 14"/>
          <p:cNvSpPr txBox="1"/>
          <p:nvPr/>
        </p:nvSpPr>
        <p:spPr>
          <a:xfrm>
            <a:off x="7464933"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6주</a:t>
            </a:r>
            <a:endParaRPr lang="en-US" sz="1050" dirty="0"/>
          </a:p>
        </p:txBody>
      </p:sp>
      <p:sp>
        <p:nvSpPr>
          <p:cNvPr id="17" name="Shape 15"/>
          <p:cNvSpPr/>
          <p:nvPr/>
        </p:nvSpPr>
        <p:spPr>
          <a:xfrm>
            <a:off x="7464933" y="1755648"/>
            <a:ext cx="0" cy="3913632"/>
          </a:xfrm>
          <a:prstGeom prst="line">
            <a:avLst/>
          </a:prstGeom>
          <a:noFill/>
          <a:ln w="9525">
            <a:solidFill>
              <a:srgbClr val="DDE0E5"/>
            </a:solidFill>
            <a:prstDash val="dash"/>
          </a:ln>
        </p:spPr>
        <p:txBody>
          <a:bodyPr/>
          <a:lstStyle/>
          <a:p>
            <a:endParaRPr lang="en-KR"/>
          </a:p>
        </p:txBody>
      </p:sp>
      <p:sp>
        <p:nvSpPr>
          <p:cNvPr id="18" name="Text 16"/>
          <p:cNvSpPr txBox="1"/>
          <p:nvPr/>
        </p:nvSpPr>
        <p:spPr>
          <a:xfrm>
            <a:off x="8061808"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7주</a:t>
            </a:r>
            <a:endParaRPr lang="en-US" sz="1050" dirty="0"/>
          </a:p>
        </p:txBody>
      </p:sp>
      <p:sp>
        <p:nvSpPr>
          <p:cNvPr id="19" name="Shape 17"/>
          <p:cNvSpPr/>
          <p:nvPr/>
        </p:nvSpPr>
        <p:spPr>
          <a:xfrm>
            <a:off x="8061808" y="1755648"/>
            <a:ext cx="0" cy="3913632"/>
          </a:xfrm>
          <a:prstGeom prst="line">
            <a:avLst/>
          </a:prstGeom>
          <a:noFill/>
          <a:ln w="9525">
            <a:solidFill>
              <a:srgbClr val="DDE0E5"/>
            </a:solidFill>
            <a:prstDash val="dash"/>
          </a:ln>
        </p:spPr>
        <p:txBody>
          <a:bodyPr/>
          <a:lstStyle/>
          <a:p>
            <a:endParaRPr lang="en-KR"/>
          </a:p>
        </p:txBody>
      </p:sp>
      <p:sp>
        <p:nvSpPr>
          <p:cNvPr id="20" name="Text 18"/>
          <p:cNvSpPr txBox="1"/>
          <p:nvPr/>
        </p:nvSpPr>
        <p:spPr>
          <a:xfrm>
            <a:off x="8658682"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8주</a:t>
            </a:r>
            <a:endParaRPr lang="en-US" sz="1050" dirty="0"/>
          </a:p>
        </p:txBody>
      </p:sp>
      <p:sp>
        <p:nvSpPr>
          <p:cNvPr id="21" name="Shape 19"/>
          <p:cNvSpPr/>
          <p:nvPr/>
        </p:nvSpPr>
        <p:spPr>
          <a:xfrm>
            <a:off x="8658682" y="1755648"/>
            <a:ext cx="0" cy="3913632"/>
          </a:xfrm>
          <a:prstGeom prst="line">
            <a:avLst/>
          </a:prstGeom>
          <a:noFill/>
          <a:ln w="9525">
            <a:solidFill>
              <a:srgbClr val="DDE0E5"/>
            </a:solidFill>
            <a:prstDash val="dash"/>
          </a:ln>
        </p:spPr>
        <p:txBody>
          <a:bodyPr/>
          <a:lstStyle/>
          <a:p>
            <a:endParaRPr lang="en-KR"/>
          </a:p>
        </p:txBody>
      </p:sp>
      <p:sp>
        <p:nvSpPr>
          <p:cNvPr id="22" name="Text 20"/>
          <p:cNvSpPr txBox="1"/>
          <p:nvPr/>
        </p:nvSpPr>
        <p:spPr>
          <a:xfrm>
            <a:off x="9255557"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9주</a:t>
            </a:r>
            <a:endParaRPr lang="en-US" sz="1050" dirty="0"/>
          </a:p>
        </p:txBody>
      </p:sp>
      <p:sp>
        <p:nvSpPr>
          <p:cNvPr id="23" name="Shape 21"/>
          <p:cNvSpPr/>
          <p:nvPr/>
        </p:nvSpPr>
        <p:spPr>
          <a:xfrm>
            <a:off x="9255557" y="1755648"/>
            <a:ext cx="0" cy="3913632"/>
          </a:xfrm>
          <a:prstGeom prst="line">
            <a:avLst/>
          </a:prstGeom>
          <a:noFill/>
          <a:ln w="9525">
            <a:solidFill>
              <a:srgbClr val="DDE0E5"/>
            </a:solidFill>
            <a:prstDash val="dash"/>
          </a:ln>
        </p:spPr>
        <p:txBody>
          <a:bodyPr/>
          <a:lstStyle/>
          <a:p>
            <a:endParaRPr lang="en-KR"/>
          </a:p>
        </p:txBody>
      </p:sp>
      <p:sp>
        <p:nvSpPr>
          <p:cNvPr id="24" name="Text 22"/>
          <p:cNvSpPr txBox="1"/>
          <p:nvPr/>
        </p:nvSpPr>
        <p:spPr>
          <a:xfrm>
            <a:off x="9852431"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10주</a:t>
            </a:r>
            <a:endParaRPr lang="en-US" sz="1050" dirty="0"/>
          </a:p>
        </p:txBody>
      </p:sp>
      <p:sp>
        <p:nvSpPr>
          <p:cNvPr id="25" name="Shape 23"/>
          <p:cNvSpPr/>
          <p:nvPr/>
        </p:nvSpPr>
        <p:spPr>
          <a:xfrm>
            <a:off x="9852431" y="1755648"/>
            <a:ext cx="0" cy="3913632"/>
          </a:xfrm>
          <a:prstGeom prst="line">
            <a:avLst/>
          </a:prstGeom>
          <a:noFill/>
          <a:ln w="9525">
            <a:solidFill>
              <a:srgbClr val="DDE0E5"/>
            </a:solidFill>
            <a:prstDash val="dash"/>
          </a:ln>
        </p:spPr>
        <p:txBody>
          <a:bodyPr/>
          <a:lstStyle/>
          <a:p>
            <a:endParaRPr lang="en-KR"/>
          </a:p>
        </p:txBody>
      </p:sp>
      <p:sp>
        <p:nvSpPr>
          <p:cNvPr id="26" name="Text 24"/>
          <p:cNvSpPr txBox="1"/>
          <p:nvPr/>
        </p:nvSpPr>
        <p:spPr>
          <a:xfrm>
            <a:off x="10449306"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11주</a:t>
            </a:r>
            <a:endParaRPr lang="en-US" sz="1050" dirty="0"/>
          </a:p>
        </p:txBody>
      </p:sp>
      <p:sp>
        <p:nvSpPr>
          <p:cNvPr id="27" name="Shape 25"/>
          <p:cNvSpPr/>
          <p:nvPr/>
        </p:nvSpPr>
        <p:spPr>
          <a:xfrm>
            <a:off x="10449306" y="1755648"/>
            <a:ext cx="0" cy="3913632"/>
          </a:xfrm>
          <a:prstGeom prst="line">
            <a:avLst/>
          </a:prstGeom>
          <a:noFill/>
          <a:ln w="9525">
            <a:solidFill>
              <a:srgbClr val="DDE0E5"/>
            </a:solidFill>
            <a:prstDash val="dash"/>
          </a:ln>
        </p:spPr>
        <p:txBody>
          <a:bodyPr/>
          <a:lstStyle/>
          <a:p>
            <a:endParaRPr lang="en-KR"/>
          </a:p>
        </p:txBody>
      </p:sp>
      <p:sp>
        <p:nvSpPr>
          <p:cNvPr id="28" name="Text 26"/>
          <p:cNvSpPr txBox="1"/>
          <p:nvPr/>
        </p:nvSpPr>
        <p:spPr>
          <a:xfrm>
            <a:off x="11046181" y="1463040"/>
            <a:ext cx="596875" cy="256032"/>
          </a:xfrm>
          <a:prstGeom prst="rect">
            <a:avLst/>
          </a:prstGeom>
          <a:noFill/>
          <a:ln/>
        </p:spPr>
        <p:txBody>
          <a:bodyPr wrap="square" lIns="0" tIns="0" rIns="0" bIns="0" rtlCol="0" anchor="t"/>
          <a:lstStyle/>
          <a:p>
            <a:pPr marL="0" indent="0" algn="ctr">
              <a:buNone/>
            </a:pPr>
            <a:r>
              <a:rPr lang="en-US" sz="1050" dirty="0">
                <a:solidFill>
                  <a:srgbClr val="767D88"/>
                </a:solidFill>
                <a:latin typeface="Apple SD Gothic Neo" pitchFamily="34" charset="0"/>
                <a:ea typeface="Apple SD Gothic Neo" pitchFamily="34" charset="-122"/>
                <a:cs typeface="Apple SD Gothic Neo" pitchFamily="34" charset="-120"/>
              </a:rPr>
              <a:t>12주</a:t>
            </a:r>
            <a:endParaRPr lang="en-US" sz="1050" dirty="0"/>
          </a:p>
        </p:txBody>
      </p:sp>
      <p:sp>
        <p:nvSpPr>
          <p:cNvPr id="29" name="Shape 27"/>
          <p:cNvSpPr/>
          <p:nvPr/>
        </p:nvSpPr>
        <p:spPr>
          <a:xfrm>
            <a:off x="11046181" y="1755648"/>
            <a:ext cx="0" cy="3913632"/>
          </a:xfrm>
          <a:prstGeom prst="line">
            <a:avLst/>
          </a:prstGeom>
          <a:noFill/>
          <a:ln w="9525">
            <a:solidFill>
              <a:srgbClr val="DDE0E5"/>
            </a:solidFill>
            <a:prstDash val="dash"/>
          </a:ln>
        </p:spPr>
        <p:txBody>
          <a:bodyPr/>
          <a:lstStyle/>
          <a:p>
            <a:endParaRPr lang="en-KR"/>
          </a:p>
        </p:txBody>
      </p:sp>
      <p:sp>
        <p:nvSpPr>
          <p:cNvPr id="30" name="Text 28"/>
          <p:cNvSpPr txBox="1"/>
          <p:nvPr/>
        </p:nvSpPr>
        <p:spPr>
          <a:xfrm>
            <a:off x="548640" y="1783080"/>
            <a:ext cx="3794760" cy="274320"/>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부품 주문 · 프린터 준비</a:t>
            </a:r>
            <a:endParaRPr lang="en-US" sz="1300" dirty="0"/>
          </a:p>
        </p:txBody>
      </p:sp>
      <p:sp>
        <p:nvSpPr>
          <p:cNvPr id="31" name="Text 29"/>
          <p:cNvSpPr txBox="1"/>
          <p:nvPr/>
        </p:nvSpPr>
        <p:spPr>
          <a:xfrm>
            <a:off x="548640" y="2057400"/>
            <a:ext cx="3794760" cy="274320"/>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Pi 5는 납기가 길 수 있어 가장 먼저 주문</a:t>
            </a:r>
            <a:endParaRPr lang="en-US" sz="1050" dirty="0"/>
          </a:p>
        </p:txBody>
      </p:sp>
      <p:sp>
        <p:nvSpPr>
          <p:cNvPr id="32" name="Shape 30"/>
          <p:cNvSpPr/>
          <p:nvPr/>
        </p:nvSpPr>
        <p:spPr>
          <a:xfrm>
            <a:off x="4517136" y="1856232"/>
            <a:ext cx="523723" cy="329184"/>
          </a:xfrm>
          <a:prstGeom prst="roundRect">
            <a:avLst>
              <a:gd name="adj" fmla="val 16667"/>
            </a:avLst>
          </a:prstGeom>
          <a:solidFill>
            <a:srgbClr val="16181D"/>
          </a:solidFill>
          <a:ln w="12700">
            <a:solidFill>
              <a:srgbClr val="16181D"/>
            </a:solidFill>
            <a:prstDash val="solid"/>
          </a:ln>
        </p:spPr>
        <p:txBody>
          <a:bodyPr/>
          <a:lstStyle/>
          <a:p>
            <a:endParaRPr lang="en-KR"/>
          </a:p>
        </p:txBody>
      </p:sp>
      <p:sp>
        <p:nvSpPr>
          <p:cNvPr id="33" name="Text 31"/>
          <p:cNvSpPr txBox="1"/>
          <p:nvPr/>
        </p:nvSpPr>
        <p:spPr>
          <a:xfrm>
            <a:off x="548640" y="2331720"/>
            <a:ext cx="3794760" cy="274320"/>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단계 0 재료 시험</a:t>
            </a:r>
            <a:endParaRPr lang="en-US" sz="1300" dirty="0"/>
          </a:p>
        </p:txBody>
      </p:sp>
      <p:sp>
        <p:nvSpPr>
          <p:cNvPr id="34" name="Text 32"/>
          <p:cNvSpPr txBox="1"/>
          <p:nvPr/>
        </p:nvSpPr>
        <p:spPr>
          <a:xfrm>
            <a:off x="548640" y="2606040"/>
            <a:ext cx="3794760" cy="274320"/>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시편 출력 13.5 h · 리프 강성 · 10⁶회 반복 · 자석 간섭</a:t>
            </a:r>
            <a:endParaRPr lang="en-US" sz="1050" dirty="0"/>
          </a:p>
        </p:txBody>
      </p:sp>
      <p:sp>
        <p:nvSpPr>
          <p:cNvPr id="35" name="Shape 33"/>
          <p:cNvSpPr/>
          <p:nvPr/>
        </p:nvSpPr>
        <p:spPr>
          <a:xfrm>
            <a:off x="5114011" y="2404872"/>
            <a:ext cx="1120597" cy="329184"/>
          </a:xfrm>
          <a:prstGeom prst="roundRect">
            <a:avLst>
              <a:gd name="adj" fmla="val 16667"/>
            </a:avLst>
          </a:prstGeom>
          <a:solidFill>
            <a:srgbClr val="D9482B"/>
          </a:solidFill>
          <a:ln w="12700">
            <a:solidFill>
              <a:srgbClr val="D9482B"/>
            </a:solidFill>
            <a:prstDash val="solid"/>
          </a:ln>
        </p:spPr>
        <p:txBody>
          <a:bodyPr/>
          <a:lstStyle/>
          <a:p>
            <a:endParaRPr lang="en-KR"/>
          </a:p>
        </p:txBody>
      </p:sp>
      <p:sp>
        <p:nvSpPr>
          <p:cNvPr id="36" name="Shape 34"/>
          <p:cNvSpPr/>
          <p:nvPr/>
        </p:nvSpPr>
        <p:spPr>
          <a:xfrm>
            <a:off x="5114011" y="2761488"/>
            <a:ext cx="2911221" cy="128016"/>
          </a:xfrm>
          <a:prstGeom prst="roundRect">
            <a:avLst>
              <a:gd name="adj" fmla="val 28571"/>
            </a:avLst>
          </a:prstGeom>
          <a:solidFill>
            <a:srgbClr val="FBE9E4"/>
          </a:solidFill>
          <a:ln w="9525">
            <a:solidFill>
              <a:srgbClr val="D9482B"/>
            </a:solidFill>
            <a:prstDash val="solid"/>
          </a:ln>
        </p:spPr>
        <p:txBody>
          <a:bodyPr/>
          <a:lstStyle/>
          <a:p>
            <a:endParaRPr lang="en-KR"/>
          </a:p>
        </p:txBody>
      </p:sp>
      <p:sp>
        <p:nvSpPr>
          <p:cNvPr id="37" name="Text 35"/>
          <p:cNvSpPr txBox="1"/>
          <p:nvPr/>
        </p:nvSpPr>
        <p:spPr>
          <a:xfrm>
            <a:off x="6362624" y="2404872"/>
            <a:ext cx="1790624" cy="329184"/>
          </a:xfrm>
          <a:prstGeom prst="rect">
            <a:avLst/>
          </a:prstGeom>
          <a:noFill/>
          <a:ln/>
        </p:spPr>
        <p:txBody>
          <a:bodyPr wrap="square" lIns="0" tIns="0" rIns="0" bIns="0" rtlCol="0" anchor="ctr"/>
          <a:lstStyle/>
          <a:p>
            <a:pPr marL="0" indent="0">
              <a:buNone/>
            </a:pPr>
            <a:r>
              <a:rPr lang="en-US" sz="1000" dirty="0">
                <a:solidFill>
                  <a:srgbClr val="D9482B"/>
                </a:solidFill>
                <a:latin typeface="Apple SD Gothic Neo" pitchFamily="34" charset="0"/>
                <a:ea typeface="Apple SD Gothic Neo" pitchFamily="34" charset="-122"/>
                <a:cs typeface="Apple SD Gothic Neo" pitchFamily="34" charset="-120"/>
              </a:rPr>
              <a:t>이완 시험 30일 (병행)</a:t>
            </a:r>
            <a:endParaRPr lang="en-US" sz="1000" dirty="0"/>
          </a:p>
        </p:txBody>
      </p:sp>
      <p:sp>
        <p:nvSpPr>
          <p:cNvPr id="38" name="Text 36"/>
          <p:cNvSpPr txBox="1"/>
          <p:nvPr/>
        </p:nvSpPr>
        <p:spPr>
          <a:xfrm>
            <a:off x="548640" y="2880360"/>
            <a:ext cx="3794760" cy="274320"/>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1옥타브 시제품</a:t>
            </a:r>
            <a:endParaRPr lang="en-US" sz="1300" dirty="0"/>
          </a:p>
        </p:txBody>
      </p:sp>
      <p:sp>
        <p:nvSpPr>
          <p:cNvPr id="39" name="Text 37"/>
          <p:cNvSpPr txBox="1"/>
          <p:nvPr/>
        </p:nvSpPr>
        <p:spPr>
          <a:xfrm>
            <a:off x="548640" y="3154680"/>
            <a:ext cx="3794760" cy="274320"/>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출력 33.5 h · 납땜 · 펌웨어 · 보정 → PC로 첫 소리</a:t>
            </a:r>
            <a:endParaRPr lang="en-US" sz="1050" dirty="0"/>
          </a:p>
        </p:txBody>
      </p:sp>
      <p:sp>
        <p:nvSpPr>
          <p:cNvPr id="40" name="Shape 38"/>
          <p:cNvSpPr/>
          <p:nvPr/>
        </p:nvSpPr>
        <p:spPr>
          <a:xfrm>
            <a:off x="6307760" y="2953512"/>
            <a:ext cx="1120597" cy="329184"/>
          </a:xfrm>
          <a:prstGeom prst="roundRect">
            <a:avLst>
              <a:gd name="adj" fmla="val 16667"/>
            </a:avLst>
          </a:prstGeom>
          <a:solidFill>
            <a:srgbClr val="D9482B"/>
          </a:solidFill>
          <a:ln w="12700">
            <a:solidFill>
              <a:srgbClr val="D9482B"/>
            </a:solidFill>
            <a:prstDash val="solid"/>
          </a:ln>
        </p:spPr>
        <p:txBody>
          <a:bodyPr/>
          <a:lstStyle/>
          <a:p>
            <a:endParaRPr lang="en-KR"/>
          </a:p>
        </p:txBody>
      </p:sp>
      <p:sp>
        <p:nvSpPr>
          <p:cNvPr id="41" name="Text 39"/>
          <p:cNvSpPr txBox="1"/>
          <p:nvPr/>
        </p:nvSpPr>
        <p:spPr>
          <a:xfrm>
            <a:off x="548640" y="3429000"/>
            <a:ext cx="3794760" cy="274320"/>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나머지 6옥타브 + 끝 부속</a:t>
            </a:r>
            <a:endParaRPr lang="en-US" sz="1300" dirty="0"/>
          </a:p>
        </p:txBody>
      </p:sp>
      <p:sp>
        <p:nvSpPr>
          <p:cNvPr id="42" name="Text 40"/>
          <p:cNvSpPr txBox="1"/>
          <p:nvPr/>
        </p:nvSpPr>
        <p:spPr>
          <a:xfrm>
            <a:off x="548640" y="3703320"/>
            <a:ext cx="3794760" cy="274320"/>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출력 약 220 h · 모듈 조립 · 무게 조정</a:t>
            </a:r>
            <a:endParaRPr lang="en-US" sz="1050" dirty="0"/>
          </a:p>
        </p:txBody>
      </p:sp>
      <p:sp>
        <p:nvSpPr>
          <p:cNvPr id="43" name="Shape 41"/>
          <p:cNvSpPr/>
          <p:nvPr/>
        </p:nvSpPr>
        <p:spPr>
          <a:xfrm>
            <a:off x="7501509" y="3502152"/>
            <a:ext cx="2314346" cy="329184"/>
          </a:xfrm>
          <a:prstGeom prst="roundRect">
            <a:avLst>
              <a:gd name="adj" fmla="val 16667"/>
            </a:avLst>
          </a:prstGeom>
          <a:solidFill>
            <a:srgbClr val="D9482B"/>
          </a:solidFill>
          <a:ln w="12700">
            <a:solidFill>
              <a:srgbClr val="D9482B"/>
            </a:solidFill>
            <a:prstDash val="solid"/>
          </a:ln>
        </p:spPr>
        <p:txBody>
          <a:bodyPr/>
          <a:lstStyle/>
          <a:p>
            <a:endParaRPr lang="en-KR"/>
          </a:p>
        </p:txBody>
      </p:sp>
      <p:sp>
        <p:nvSpPr>
          <p:cNvPr id="44" name="Text 42"/>
          <p:cNvSpPr txBox="1"/>
          <p:nvPr/>
        </p:nvSpPr>
        <p:spPr>
          <a:xfrm>
            <a:off x="548640" y="3977640"/>
            <a:ext cx="3794760" cy="274320"/>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뒷바 · 오디오 · 전원</a:t>
            </a:r>
            <a:endParaRPr lang="en-US" sz="1300" dirty="0"/>
          </a:p>
        </p:txBody>
      </p:sp>
      <p:sp>
        <p:nvSpPr>
          <p:cNvPr id="45" name="Text 43"/>
          <p:cNvSpPr txBox="1"/>
          <p:nvPr/>
        </p:nvSpPr>
        <p:spPr>
          <a:xfrm>
            <a:off x="548640" y="4251960"/>
            <a:ext cx="3794760" cy="274320"/>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합판 상자 · 제어부 배선 · 스피커</a:t>
            </a:r>
            <a:endParaRPr lang="en-US" sz="1050" dirty="0"/>
          </a:p>
        </p:txBody>
      </p:sp>
      <p:sp>
        <p:nvSpPr>
          <p:cNvPr id="46" name="Shape 44"/>
          <p:cNvSpPr/>
          <p:nvPr/>
        </p:nvSpPr>
        <p:spPr>
          <a:xfrm>
            <a:off x="8695258" y="4050792"/>
            <a:ext cx="1717472" cy="329184"/>
          </a:xfrm>
          <a:prstGeom prst="roundRect">
            <a:avLst>
              <a:gd name="adj" fmla="val 16667"/>
            </a:avLst>
          </a:prstGeom>
          <a:solidFill>
            <a:srgbClr val="D9482B"/>
          </a:solidFill>
          <a:ln w="12700">
            <a:solidFill>
              <a:srgbClr val="D9482B"/>
            </a:solidFill>
            <a:prstDash val="solid"/>
          </a:ln>
        </p:spPr>
        <p:txBody>
          <a:bodyPr/>
          <a:lstStyle/>
          <a:p>
            <a:endParaRPr lang="en-KR"/>
          </a:p>
        </p:txBody>
      </p:sp>
      <p:sp>
        <p:nvSpPr>
          <p:cNvPr id="47" name="Text 45"/>
          <p:cNvSpPr txBox="1"/>
          <p:nvPr/>
        </p:nvSpPr>
        <p:spPr>
          <a:xfrm>
            <a:off x="548640" y="4526280"/>
            <a:ext cx="3794760" cy="274320"/>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통합 · 소리 테스트</a:t>
            </a:r>
            <a:endParaRPr lang="en-US" sz="1300" dirty="0"/>
          </a:p>
        </p:txBody>
      </p:sp>
      <p:sp>
        <p:nvSpPr>
          <p:cNvPr id="48" name="Text 46"/>
          <p:cNvSpPr txBox="1"/>
          <p:nvPr/>
        </p:nvSpPr>
        <p:spPr>
          <a:xfrm>
            <a:off x="548640" y="4800600"/>
            <a:ext cx="3794760" cy="274320"/>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지연 10 ms 미만 · 찌그러짐 · 배터리 시간</a:t>
            </a:r>
            <a:endParaRPr lang="en-US" sz="1050" dirty="0"/>
          </a:p>
        </p:txBody>
      </p:sp>
      <p:sp>
        <p:nvSpPr>
          <p:cNvPr id="49" name="Shape 47"/>
          <p:cNvSpPr/>
          <p:nvPr/>
        </p:nvSpPr>
        <p:spPr>
          <a:xfrm>
            <a:off x="10485882" y="4599432"/>
            <a:ext cx="523723" cy="329184"/>
          </a:xfrm>
          <a:prstGeom prst="roundRect">
            <a:avLst>
              <a:gd name="adj" fmla="val 16667"/>
            </a:avLst>
          </a:prstGeom>
          <a:solidFill>
            <a:srgbClr val="16181D"/>
          </a:solidFill>
          <a:ln w="12700">
            <a:solidFill>
              <a:srgbClr val="16181D"/>
            </a:solidFill>
            <a:prstDash val="solid"/>
          </a:ln>
        </p:spPr>
        <p:txBody>
          <a:bodyPr/>
          <a:lstStyle/>
          <a:p>
            <a:endParaRPr lang="en-KR"/>
          </a:p>
        </p:txBody>
      </p:sp>
      <p:sp>
        <p:nvSpPr>
          <p:cNvPr id="50" name="Text 48"/>
          <p:cNvSpPr txBox="1"/>
          <p:nvPr/>
        </p:nvSpPr>
        <p:spPr>
          <a:xfrm>
            <a:off x="548640" y="5074920"/>
            <a:ext cx="3794760" cy="274320"/>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리듬게임 연동 · 제작</a:t>
            </a:r>
            <a:endParaRPr lang="en-US" sz="1300" dirty="0"/>
          </a:p>
        </p:txBody>
      </p:sp>
      <p:sp>
        <p:nvSpPr>
          <p:cNvPr id="51" name="Text 49"/>
          <p:cNvSpPr txBox="1"/>
          <p:nvPr/>
        </p:nvSpPr>
        <p:spPr>
          <a:xfrm>
            <a:off x="548640" y="5349240"/>
            <a:ext cx="3794760" cy="274320"/>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완성한 피아노를 컨트롤러로</a:t>
            </a:r>
            <a:endParaRPr lang="en-US" sz="1050" dirty="0"/>
          </a:p>
        </p:txBody>
      </p:sp>
      <p:sp>
        <p:nvSpPr>
          <p:cNvPr id="52" name="Shape 50"/>
          <p:cNvSpPr/>
          <p:nvPr/>
        </p:nvSpPr>
        <p:spPr>
          <a:xfrm>
            <a:off x="11082757" y="5148072"/>
            <a:ext cx="523723" cy="329184"/>
          </a:xfrm>
          <a:prstGeom prst="roundRect">
            <a:avLst>
              <a:gd name="adj" fmla="val 16667"/>
            </a:avLst>
          </a:prstGeom>
          <a:solidFill>
            <a:srgbClr val="767D88"/>
          </a:solidFill>
          <a:ln w="12700">
            <a:solidFill>
              <a:srgbClr val="767D88"/>
            </a:solidFill>
            <a:prstDash val="solid"/>
          </a:ln>
        </p:spPr>
        <p:txBody>
          <a:bodyPr/>
          <a:lstStyle/>
          <a:p>
            <a:endParaRPr lang="en-KR"/>
          </a:p>
        </p:txBody>
      </p:sp>
      <p:sp>
        <p:nvSpPr>
          <p:cNvPr id="53" name="Text 51"/>
          <p:cNvSpPr txBox="1"/>
          <p:nvPr/>
        </p:nvSpPr>
        <p:spPr>
          <a:xfrm>
            <a:off x="11046181" y="5148072"/>
            <a:ext cx="596875"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Apple SD Gothic Neo" pitchFamily="34" charset="0"/>
                <a:ea typeface="Apple SD Gothic Neo" pitchFamily="34" charset="-122"/>
                <a:cs typeface="Apple SD Gothic Neo" pitchFamily="34" charset="-120"/>
              </a:rPr>
              <a:t>이후 →</a:t>
            </a:r>
            <a:endParaRPr lang="en-US" sz="1050" dirty="0"/>
          </a:p>
        </p:txBody>
      </p:sp>
      <p:sp>
        <p:nvSpPr>
          <p:cNvPr id="54" name="Shape 52"/>
          <p:cNvSpPr/>
          <p:nvPr/>
        </p:nvSpPr>
        <p:spPr>
          <a:xfrm>
            <a:off x="548640" y="5833872"/>
            <a:ext cx="11094415" cy="502920"/>
          </a:xfrm>
          <a:prstGeom prst="roundRect">
            <a:avLst>
              <a:gd name="adj" fmla="val 14545"/>
            </a:avLst>
          </a:prstGeom>
          <a:solidFill>
            <a:srgbClr val="F3F4F6"/>
          </a:solidFill>
          <a:ln w="12700">
            <a:solidFill>
              <a:srgbClr val="F3F4F6"/>
            </a:solidFill>
            <a:prstDash val="solid"/>
          </a:ln>
        </p:spPr>
        <p:txBody>
          <a:bodyPr/>
          <a:lstStyle/>
          <a:p>
            <a:endParaRPr lang="en-KR"/>
          </a:p>
        </p:txBody>
      </p:sp>
      <p:sp>
        <p:nvSpPr>
          <p:cNvPr id="55" name="Text 53"/>
          <p:cNvSpPr txBox="1"/>
          <p:nvPr/>
        </p:nvSpPr>
        <p:spPr>
          <a:xfrm>
            <a:off x="777240" y="5833872"/>
            <a:ext cx="10637215" cy="502920"/>
          </a:xfrm>
          <a:prstGeom prst="rect">
            <a:avLst/>
          </a:prstGeom>
          <a:noFill/>
          <a:ln/>
        </p:spPr>
        <p:txBody>
          <a:bodyPr wrap="square" lIns="0" tIns="0" rIns="0" bIns="0" rtlCol="0" anchor="ctr"/>
          <a:lstStyle/>
          <a:p>
            <a:pPr marL="0" indent="0">
              <a:buNone/>
            </a:pPr>
            <a:r>
              <a:rPr lang="en-US" sz="1250" b="1" dirty="0">
                <a:solidFill>
                  <a:srgbClr val="D9482B"/>
                </a:solidFill>
                <a:latin typeface="Apple SD Gothic Neo" pitchFamily="34" charset="0"/>
                <a:ea typeface="Apple SD Gothic Neo" pitchFamily="34" charset="-122"/>
                <a:cs typeface="Apple SD Gothic Neo" pitchFamily="34" charset="-120"/>
              </a:rPr>
              <a:t>출력 총량  </a:t>
            </a:r>
            <a:r>
              <a:rPr lang="en-US" sz="1250" dirty="0">
                <a:solidFill>
                  <a:srgbClr val="444A54"/>
                </a:solidFill>
                <a:latin typeface="Apple SD Gothic Neo" pitchFamily="34" charset="0"/>
                <a:ea typeface="Apple SD Gothic Neo" pitchFamily="34" charset="-122"/>
                <a:cs typeface="Apple SD Gothic Neo" pitchFamily="34" charset="-120"/>
              </a:rPr>
              <a:t>PETG 약 5 kg · 약 332시간  ·  납땜 약 1,400곳 (모듈당 약 200곳)  ·  일정은 프린터 1대 기준 예상치</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예상 결과 — 이런 피아노가 만들어진다</a:t>
            </a:r>
            <a:endParaRPr lang="en-US" sz="2800" dirty="0"/>
          </a:p>
        </p:txBody>
      </p:sp>
      <p:sp>
        <p:nvSpPr>
          <p:cNvPr id="7" name="Shape 5"/>
          <p:cNvSpPr/>
          <p:nvPr/>
        </p:nvSpPr>
        <p:spPr>
          <a:xfrm>
            <a:off x="548640" y="1508760"/>
            <a:ext cx="2602154" cy="2011680"/>
          </a:xfrm>
          <a:prstGeom prst="roundRect">
            <a:avLst>
              <a:gd name="adj" fmla="val 3636"/>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77240" y="1737360"/>
            <a:ext cx="2144954" cy="731520"/>
          </a:xfrm>
          <a:prstGeom prst="rect">
            <a:avLst/>
          </a:prstGeom>
          <a:noFill/>
          <a:ln/>
        </p:spPr>
        <p:txBody>
          <a:bodyPr wrap="square" lIns="0" tIns="0" rIns="0" bIns="0" rtlCol="0" anchor="ctr"/>
          <a:lstStyle/>
          <a:p>
            <a:pPr marL="0" indent="0">
              <a:buNone/>
            </a:pPr>
            <a:r>
              <a:rPr lang="en-US" sz="3200" b="1" dirty="0">
                <a:solidFill>
                  <a:srgbClr val="D9482B"/>
                </a:solidFill>
                <a:latin typeface="Apple SD Gothic Neo" pitchFamily="34" charset="0"/>
                <a:ea typeface="Apple SD Gothic Neo" pitchFamily="34" charset="-122"/>
                <a:cs typeface="Apple SD Gothic Neo" pitchFamily="34" charset="-120"/>
              </a:rPr>
              <a:t>88</a:t>
            </a:r>
            <a:endParaRPr lang="en-US" sz="3200" dirty="0"/>
          </a:p>
        </p:txBody>
      </p:sp>
      <p:sp>
        <p:nvSpPr>
          <p:cNvPr id="9" name="Text 7"/>
          <p:cNvSpPr txBox="1"/>
          <p:nvPr/>
        </p:nvSpPr>
        <p:spPr>
          <a:xfrm>
            <a:off x="777240" y="253288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건반</a:t>
            </a:r>
            <a:endParaRPr lang="en-US" sz="1500" dirty="0"/>
          </a:p>
        </p:txBody>
      </p:sp>
      <p:sp>
        <p:nvSpPr>
          <p:cNvPr id="10" name="Text 8"/>
          <p:cNvSpPr txBox="1"/>
          <p:nvPr/>
        </p:nvSpPr>
        <p:spPr>
          <a:xfrm>
            <a:off x="777240" y="2898648"/>
            <a:ext cx="2144954" cy="45720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실제 피아노와 같은 23.5 mm 폭</a:t>
            </a:r>
            <a:endParaRPr lang="en-US" sz="1200" dirty="0"/>
          </a:p>
        </p:txBody>
      </p:sp>
      <p:sp>
        <p:nvSpPr>
          <p:cNvPr id="11" name="Shape 9"/>
          <p:cNvSpPr/>
          <p:nvPr/>
        </p:nvSpPr>
        <p:spPr>
          <a:xfrm>
            <a:off x="3379394" y="1508760"/>
            <a:ext cx="2602154" cy="2011680"/>
          </a:xfrm>
          <a:prstGeom prst="roundRect">
            <a:avLst>
              <a:gd name="adj" fmla="val 3636"/>
            </a:avLst>
          </a:prstGeom>
          <a:solidFill>
            <a:srgbClr val="F3F4F6"/>
          </a:solidFill>
          <a:ln w="12700">
            <a:solidFill>
              <a:srgbClr val="F3F4F6"/>
            </a:solidFill>
            <a:prstDash val="solid"/>
          </a:ln>
        </p:spPr>
        <p:txBody>
          <a:bodyPr/>
          <a:lstStyle/>
          <a:p>
            <a:endParaRPr lang="en-KR"/>
          </a:p>
        </p:txBody>
      </p:sp>
      <p:sp>
        <p:nvSpPr>
          <p:cNvPr id="12" name="Text 10"/>
          <p:cNvSpPr txBox="1"/>
          <p:nvPr/>
        </p:nvSpPr>
        <p:spPr>
          <a:xfrm>
            <a:off x="3607994" y="1737360"/>
            <a:ext cx="2144954" cy="731520"/>
          </a:xfrm>
          <a:prstGeom prst="rect">
            <a:avLst/>
          </a:prstGeom>
          <a:noFill/>
          <a:ln/>
        </p:spPr>
        <p:txBody>
          <a:bodyPr wrap="square" lIns="0" tIns="0" rIns="0" bIns="0" rtlCol="0" anchor="ctr"/>
          <a:lstStyle/>
          <a:p>
            <a:pPr marL="0" indent="0">
              <a:buNone/>
            </a:pPr>
            <a:r>
              <a:rPr lang="en-US" sz="3200" b="1" dirty="0">
                <a:solidFill>
                  <a:srgbClr val="D9482B"/>
                </a:solidFill>
                <a:latin typeface="Apple SD Gothic Neo" pitchFamily="34" charset="0"/>
                <a:ea typeface="Apple SD Gothic Neo" pitchFamily="34" charset="-122"/>
                <a:cs typeface="Apple SD Gothic Neo" pitchFamily="34" charset="-120"/>
              </a:rPr>
              <a:t>10 mm</a:t>
            </a:r>
            <a:endParaRPr lang="en-US" sz="3200" dirty="0"/>
          </a:p>
        </p:txBody>
      </p:sp>
      <p:sp>
        <p:nvSpPr>
          <p:cNvPr id="13" name="Text 11"/>
          <p:cNvSpPr txBox="1"/>
          <p:nvPr/>
        </p:nvSpPr>
        <p:spPr>
          <a:xfrm>
            <a:off x="3607994" y="253288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눌리는 깊이</a:t>
            </a:r>
            <a:endParaRPr lang="en-US" sz="1500" dirty="0"/>
          </a:p>
        </p:txBody>
      </p:sp>
      <p:sp>
        <p:nvSpPr>
          <p:cNvPr id="14" name="Text 12"/>
          <p:cNvSpPr txBox="1"/>
          <p:nvPr/>
        </p:nvSpPr>
        <p:spPr>
          <a:xfrm>
            <a:off x="3607994" y="2898648"/>
            <a:ext cx="2144954" cy="45720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누르는 힘 42 → 64 g</a:t>
            </a:r>
            <a:endParaRPr lang="en-US" sz="1200" dirty="0"/>
          </a:p>
        </p:txBody>
      </p:sp>
      <p:sp>
        <p:nvSpPr>
          <p:cNvPr id="15" name="Shape 13"/>
          <p:cNvSpPr/>
          <p:nvPr/>
        </p:nvSpPr>
        <p:spPr>
          <a:xfrm>
            <a:off x="6210148" y="1508760"/>
            <a:ext cx="2602154" cy="2011680"/>
          </a:xfrm>
          <a:prstGeom prst="roundRect">
            <a:avLst>
              <a:gd name="adj" fmla="val 3636"/>
            </a:avLst>
          </a:prstGeom>
          <a:solidFill>
            <a:srgbClr val="F3F4F6"/>
          </a:solidFill>
          <a:ln w="12700">
            <a:solidFill>
              <a:srgbClr val="F3F4F6"/>
            </a:solidFill>
            <a:prstDash val="solid"/>
          </a:ln>
        </p:spPr>
        <p:txBody>
          <a:bodyPr/>
          <a:lstStyle/>
          <a:p>
            <a:endParaRPr lang="en-KR"/>
          </a:p>
        </p:txBody>
      </p:sp>
      <p:sp>
        <p:nvSpPr>
          <p:cNvPr id="16" name="Text 14"/>
          <p:cNvSpPr txBox="1"/>
          <p:nvPr/>
        </p:nvSpPr>
        <p:spPr>
          <a:xfrm>
            <a:off x="6438748" y="1737360"/>
            <a:ext cx="2144954" cy="731520"/>
          </a:xfrm>
          <a:prstGeom prst="rect">
            <a:avLst/>
          </a:prstGeom>
          <a:noFill/>
          <a:ln/>
        </p:spPr>
        <p:txBody>
          <a:bodyPr wrap="square" lIns="0" tIns="0" rIns="0" bIns="0" rtlCol="0" anchor="ctr"/>
          <a:lstStyle/>
          <a:p>
            <a:pPr marL="0" indent="0">
              <a:buNone/>
            </a:pPr>
            <a:r>
              <a:rPr lang="en-US" sz="3200" b="1" dirty="0">
                <a:solidFill>
                  <a:srgbClr val="D9482B"/>
                </a:solidFill>
                <a:latin typeface="Apple SD Gothic Neo" pitchFamily="34" charset="0"/>
                <a:ea typeface="Apple SD Gothic Neo" pitchFamily="34" charset="-122"/>
                <a:cs typeface="Apple SD Gothic Neo" pitchFamily="34" charset="-120"/>
              </a:rPr>
              <a:t>&lt; 10 ms</a:t>
            </a:r>
            <a:endParaRPr lang="en-US" sz="3200" dirty="0"/>
          </a:p>
        </p:txBody>
      </p:sp>
      <p:sp>
        <p:nvSpPr>
          <p:cNvPr id="17" name="Text 15"/>
          <p:cNvSpPr txBox="1"/>
          <p:nvPr/>
        </p:nvSpPr>
        <p:spPr>
          <a:xfrm>
            <a:off x="6438748" y="253288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누르고 소리까지</a:t>
            </a:r>
            <a:endParaRPr lang="en-US" sz="1500" dirty="0"/>
          </a:p>
        </p:txBody>
      </p:sp>
      <p:sp>
        <p:nvSpPr>
          <p:cNvPr id="18" name="Text 16"/>
          <p:cNvSpPr txBox="1"/>
          <p:nvPr/>
        </p:nvSpPr>
        <p:spPr>
          <a:xfrm>
            <a:off x="6438748" y="2898648"/>
            <a:ext cx="2144954" cy="45720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예상 8~10 ms</a:t>
            </a:r>
            <a:endParaRPr lang="en-US" sz="1200" dirty="0"/>
          </a:p>
        </p:txBody>
      </p:sp>
      <p:sp>
        <p:nvSpPr>
          <p:cNvPr id="19" name="Shape 17"/>
          <p:cNvSpPr/>
          <p:nvPr/>
        </p:nvSpPr>
        <p:spPr>
          <a:xfrm>
            <a:off x="9040901" y="1508760"/>
            <a:ext cx="2602154" cy="2011680"/>
          </a:xfrm>
          <a:prstGeom prst="roundRect">
            <a:avLst>
              <a:gd name="adj" fmla="val 3636"/>
            </a:avLst>
          </a:prstGeom>
          <a:solidFill>
            <a:srgbClr val="F3F4F6"/>
          </a:solidFill>
          <a:ln w="12700">
            <a:solidFill>
              <a:srgbClr val="F3F4F6"/>
            </a:solidFill>
            <a:prstDash val="solid"/>
          </a:ln>
        </p:spPr>
        <p:txBody>
          <a:bodyPr/>
          <a:lstStyle/>
          <a:p>
            <a:endParaRPr lang="en-KR"/>
          </a:p>
        </p:txBody>
      </p:sp>
      <p:sp>
        <p:nvSpPr>
          <p:cNvPr id="20" name="Text 18"/>
          <p:cNvSpPr txBox="1"/>
          <p:nvPr/>
        </p:nvSpPr>
        <p:spPr>
          <a:xfrm>
            <a:off x="9269501" y="1737360"/>
            <a:ext cx="2144954" cy="731520"/>
          </a:xfrm>
          <a:prstGeom prst="rect">
            <a:avLst/>
          </a:prstGeom>
          <a:noFill/>
          <a:ln/>
        </p:spPr>
        <p:txBody>
          <a:bodyPr wrap="square" lIns="0" tIns="0" rIns="0" bIns="0" rtlCol="0" anchor="ctr"/>
          <a:lstStyle/>
          <a:p>
            <a:pPr marL="0" indent="0">
              <a:buNone/>
            </a:pPr>
            <a:r>
              <a:rPr lang="en-US" sz="3200" b="1" dirty="0">
                <a:solidFill>
                  <a:srgbClr val="D9482B"/>
                </a:solidFill>
                <a:latin typeface="Apple SD Gothic Neo" pitchFamily="34" charset="0"/>
                <a:ea typeface="Apple SD Gothic Neo" pitchFamily="34" charset="-122"/>
                <a:cs typeface="Apple SD Gothic Neo" pitchFamily="34" charset="-120"/>
              </a:rPr>
              <a:t>약 99 dB</a:t>
            </a:r>
            <a:endParaRPr lang="en-US" sz="3200" dirty="0"/>
          </a:p>
        </p:txBody>
      </p:sp>
      <p:sp>
        <p:nvSpPr>
          <p:cNvPr id="21" name="Text 19"/>
          <p:cNvSpPr txBox="1"/>
          <p:nvPr/>
        </p:nvSpPr>
        <p:spPr>
          <a:xfrm>
            <a:off x="9269501" y="253288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1 m 음량</a:t>
            </a:r>
            <a:endParaRPr lang="en-US" sz="1500" dirty="0"/>
          </a:p>
        </p:txBody>
      </p:sp>
      <p:sp>
        <p:nvSpPr>
          <p:cNvPr id="22" name="Text 20"/>
          <p:cNvSpPr txBox="1"/>
          <p:nvPr/>
        </p:nvSpPr>
        <p:spPr>
          <a:xfrm>
            <a:off x="9269501" y="2898648"/>
            <a:ext cx="2144954" cy="45720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P-145보다 3~6 dB 크게</a:t>
            </a:r>
            <a:endParaRPr lang="en-US" sz="1200" dirty="0"/>
          </a:p>
        </p:txBody>
      </p:sp>
      <p:sp>
        <p:nvSpPr>
          <p:cNvPr id="23" name="Shape 21"/>
          <p:cNvSpPr/>
          <p:nvPr/>
        </p:nvSpPr>
        <p:spPr>
          <a:xfrm>
            <a:off x="548640" y="3749040"/>
            <a:ext cx="2602154" cy="2011680"/>
          </a:xfrm>
          <a:prstGeom prst="roundRect">
            <a:avLst>
              <a:gd name="adj" fmla="val 3636"/>
            </a:avLst>
          </a:prstGeom>
          <a:solidFill>
            <a:srgbClr val="FFFFFF"/>
          </a:solidFill>
          <a:ln w="12700">
            <a:solidFill>
              <a:srgbClr val="DDE0E5"/>
            </a:solidFill>
            <a:prstDash val="solid"/>
          </a:ln>
        </p:spPr>
        <p:txBody>
          <a:bodyPr/>
          <a:lstStyle/>
          <a:p>
            <a:endParaRPr lang="en-KR"/>
          </a:p>
        </p:txBody>
      </p:sp>
      <p:sp>
        <p:nvSpPr>
          <p:cNvPr id="24" name="Text 22"/>
          <p:cNvSpPr txBox="1"/>
          <p:nvPr/>
        </p:nvSpPr>
        <p:spPr>
          <a:xfrm>
            <a:off x="777240" y="3977640"/>
            <a:ext cx="2144954" cy="731520"/>
          </a:xfrm>
          <a:prstGeom prst="rect">
            <a:avLst/>
          </a:prstGeom>
          <a:noFill/>
          <a:ln/>
        </p:spPr>
        <p:txBody>
          <a:bodyPr wrap="square" lIns="0" tIns="0" rIns="0" bIns="0" rtlCol="0" anchor="ctr"/>
          <a:lstStyle/>
          <a:p>
            <a:pPr marL="0" indent="0">
              <a:buNone/>
            </a:pPr>
            <a:r>
              <a:rPr lang="en-US" sz="3200" b="1" dirty="0">
                <a:solidFill>
                  <a:srgbClr val="D9482B"/>
                </a:solidFill>
                <a:latin typeface="Apple SD Gothic Neo" pitchFamily="34" charset="0"/>
                <a:ea typeface="Apple SD Gothic Neo" pitchFamily="34" charset="-122"/>
                <a:cs typeface="Apple SD Gothic Neo" pitchFamily="34" charset="-120"/>
              </a:rPr>
              <a:t>0 ~ 127</a:t>
            </a:r>
            <a:endParaRPr lang="en-US" sz="3200" dirty="0"/>
          </a:p>
        </p:txBody>
      </p:sp>
      <p:sp>
        <p:nvSpPr>
          <p:cNvPr id="25" name="Text 23"/>
          <p:cNvSpPr txBox="1"/>
          <p:nvPr/>
        </p:nvSpPr>
        <p:spPr>
          <a:xfrm>
            <a:off x="777240" y="477316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댐퍼 페달</a:t>
            </a:r>
            <a:endParaRPr lang="en-US" sz="1500" dirty="0"/>
          </a:p>
        </p:txBody>
      </p:sp>
      <p:sp>
        <p:nvSpPr>
          <p:cNvPr id="26" name="Text 24"/>
          <p:cNvSpPr txBox="1"/>
          <p:nvPr/>
        </p:nvSpPr>
        <p:spPr>
          <a:xfrm>
            <a:off x="777240" y="5138928"/>
            <a:ext cx="2144954" cy="45720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반만 밟는 하프페달까지</a:t>
            </a:r>
            <a:endParaRPr lang="en-US" sz="1200" dirty="0"/>
          </a:p>
        </p:txBody>
      </p:sp>
      <p:sp>
        <p:nvSpPr>
          <p:cNvPr id="27" name="Shape 25"/>
          <p:cNvSpPr/>
          <p:nvPr/>
        </p:nvSpPr>
        <p:spPr>
          <a:xfrm>
            <a:off x="3379394" y="3749040"/>
            <a:ext cx="2602154" cy="2011680"/>
          </a:xfrm>
          <a:prstGeom prst="roundRect">
            <a:avLst>
              <a:gd name="adj" fmla="val 3636"/>
            </a:avLst>
          </a:prstGeom>
          <a:solidFill>
            <a:srgbClr val="FFFFFF"/>
          </a:solidFill>
          <a:ln w="12700">
            <a:solidFill>
              <a:srgbClr val="DDE0E5"/>
            </a:solidFill>
            <a:prstDash val="solid"/>
          </a:ln>
        </p:spPr>
        <p:txBody>
          <a:bodyPr/>
          <a:lstStyle/>
          <a:p>
            <a:endParaRPr lang="en-KR"/>
          </a:p>
        </p:txBody>
      </p:sp>
      <p:sp>
        <p:nvSpPr>
          <p:cNvPr id="28" name="Text 26"/>
          <p:cNvSpPr txBox="1"/>
          <p:nvPr/>
        </p:nvSpPr>
        <p:spPr>
          <a:xfrm>
            <a:off x="3607994" y="3977640"/>
            <a:ext cx="2144954" cy="731520"/>
          </a:xfrm>
          <a:prstGeom prst="rect">
            <a:avLst/>
          </a:prstGeom>
          <a:noFill/>
          <a:ln/>
        </p:spPr>
        <p:txBody>
          <a:bodyPr wrap="square" lIns="0" tIns="0" rIns="0" bIns="0" rtlCol="0" anchor="ctr"/>
          <a:lstStyle/>
          <a:p>
            <a:pPr marL="0" indent="0">
              <a:buNone/>
            </a:pPr>
            <a:r>
              <a:rPr lang="en-US" sz="3200" b="1" dirty="0">
                <a:solidFill>
                  <a:srgbClr val="D9482B"/>
                </a:solidFill>
                <a:latin typeface="Apple SD Gothic Neo" pitchFamily="34" charset="0"/>
                <a:ea typeface="Apple SD Gothic Neo" pitchFamily="34" charset="-122"/>
                <a:cs typeface="Apple SD Gothic Neo" pitchFamily="34" charset="-120"/>
              </a:rPr>
              <a:t>약 5 시간</a:t>
            </a:r>
            <a:endParaRPr lang="en-US" sz="3200" dirty="0"/>
          </a:p>
        </p:txBody>
      </p:sp>
      <p:sp>
        <p:nvSpPr>
          <p:cNvPr id="29" name="Text 27"/>
          <p:cNvSpPr txBox="1"/>
          <p:nvPr/>
        </p:nvSpPr>
        <p:spPr>
          <a:xfrm>
            <a:off x="3607994" y="477316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보조배터리 연주</a:t>
            </a:r>
            <a:endParaRPr lang="en-US" sz="1500" dirty="0"/>
          </a:p>
        </p:txBody>
      </p:sp>
      <p:sp>
        <p:nvSpPr>
          <p:cNvPr id="30" name="Text 28"/>
          <p:cNvSpPr txBox="1"/>
          <p:nvPr/>
        </p:nvSpPr>
        <p:spPr>
          <a:xfrm>
            <a:off x="3607994" y="5138928"/>
            <a:ext cx="2144954" cy="45720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20,000 mAh · 평균 약 12 W</a:t>
            </a:r>
            <a:endParaRPr lang="en-US" sz="1200" dirty="0"/>
          </a:p>
        </p:txBody>
      </p:sp>
      <p:sp>
        <p:nvSpPr>
          <p:cNvPr id="31" name="Shape 29"/>
          <p:cNvSpPr/>
          <p:nvPr/>
        </p:nvSpPr>
        <p:spPr>
          <a:xfrm>
            <a:off x="6210148" y="3749040"/>
            <a:ext cx="2602154" cy="2011680"/>
          </a:xfrm>
          <a:prstGeom prst="roundRect">
            <a:avLst>
              <a:gd name="adj" fmla="val 3636"/>
            </a:avLst>
          </a:prstGeom>
          <a:solidFill>
            <a:srgbClr val="FFFFFF"/>
          </a:solidFill>
          <a:ln w="12700">
            <a:solidFill>
              <a:srgbClr val="DDE0E5"/>
            </a:solidFill>
            <a:prstDash val="solid"/>
          </a:ln>
        </p:spPr>
        <p:txBody>
          <a:bodyPr/>
          <a:lstStyle/>
          <a:p>
            <a:endParaRPr lang="en-KR"/>
          </a:p>
        </p:txBody>
      </p:sp>
      <p:sp>
        <p:nvSpPr>
          <p:cNvPr id="32" name="Text 30"/>
          <p:cNvSpPr txBox="1"/>
          <p:nvPr/>
        </p:nvSpPr>
        <p:spPr>
          <a:xfrm>
            <a:off x="6438748" y="3977640"/>
            <a:ext cx="2144954" cy="731520"/>
          </a:xfrm>
          <a:prstGeom prst="rect">
            <a:avLst/>
          </a:prstGeom>
          <a:noFill/>
          <a:ln/>
        </p:spPr>
        <p:txBody>
          <a:bodyPr wrap="square" lIns="0" tIns="0" rIns="0" bIns="0" rtlCol="0" anchor="ctr"/>
          <a:lstStyle/>
          <a:p>
            <a:pPr marL="0" indent="0">
              <a:buNone/>
            </a:pPr>
            <a:r>
              <a:rPr lang="en-US" sz="3200" b="1" dirty="0">
                <a:solidFill>
                  <a:srgbClr val="D9482B"/>
                </a:solidFill>
                <a:latin typeface="Apple SD Gothic Neo" pitchFamily="34" charset="0"/>
                <a:ea typeface="Apple SD Gothic Neo" pitchFamily="34" charset="-122"/>
                <a:cs typeface="Apple SD Gothic Neo" pitchFamily="34" charset="-120"/>
              </a:rPr>
              <a:t>5 종</a:t>
            </a:r>
            <a:endParaRPr lang="en-US" sz="3200" dirty="0"/>
          </a:p>
        </p:txBody>
      </p:sp>
      <p:sp>
        <p:nvSpPr>
          <p:cNvPr id="33" name="Text 31"/>
          <p:cNvSpPr txBox="1"/>
          <p:nvPr/>
        </p:nvSpPr>
        <p:spPr>
          <a:xfrm>
            <a:off x="6438748" y="477316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분리 파트</a:t>
            </a:r>
            <a:endParaRPr lang="en-US" sz="1500" dirty="0"/>
          </a:p>
        </p:txBody>
      </p:sp>
      <p:sp>
        <p:nvSpPr>
          <p:cNvPr id="34" name="Text 32"/>
          <p:cNvSpPr txBox="1"/>
          <p:nvPr/>
        </p:nvSpPr>
        <p:spPr>
          <a:xfrm>
            <a:off x="6438748" y="5138928"/>
            <a:ext cx="2144954" cy="45720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1254 × 410 mm · 커넥터 연결</a:t>
            </a:r>
            <a:endParaRPr lang="en-US" sz="1200" dirty="0"/>
          </a:p>
        </p:txBody>
      </p:sp>
      <p:sp>
        <p:nvSpPr>
          <p:cNvPr id="35" name="Shape 33"/>
          <p:cNvSpPr/>
          <p:nvPr/>
        </p:nvSpPr>
        <p:spPr>
          <a:xfrm>
            <a:off x="9040901" y="3749040"/>
            <a:ext cx="2602154" cy="2011680"/>
          </a:xfrm>
          <a:prstGeom prst="roundRect">
            <a:avLst>
              <a:gd name="adj" fmla="val 3636"/>
            </a:avLst>
          </a:prstGeom>
          <a:solidFill>
            <a:srgbClr val="FFFFFF"/>
          </a:solidFill>
          <a:ln w="12700">
            <a:solidFill>
              <a:srgbClr val="DDE0E5"/>
            </a:solidFill>
            <a:prstDash val="solid"/>
          </a:ln>
        </p:spPr>
        <p:txBody>
          <a:bodyPr/>
          <a:lstStyle/>
          <a:p>
            <a:endParaRPr lang="en-KR"/>
          </a:p>
        </p:txBody>
      </p:sp>
      <p:sp>
        <p:nvSpPr>
          <p:cNvPr id="36" name="Text 34"/>
          <p:cNvSpPr txBox="1"/>
          <p:nvPr/>
        </p:nvSpPr>
        <p:spPr>
          <a:xfrm>
            <a:off x="9269501" y="3977640"/>
            <a:ext cx="2144954" cy="731520"/>
          </a:xfrm>
          <a:prstGeom prst="rect">
            <a:avLst/>
          </a:prstGeom>
          <a:noFill/>
          <a:ln/>
        </p:spPr>
        <p:txBody>
          <a:bodyPr wrap="square" lIns="0" tIns="0" rIns="0" bIns="0" rtlCol="0" anchor="ctr"/>
          <a:lstStyle/>
          <a:p>
            <a:pPr marL="0" indent="0">
              <a:buNone/>
            </a:pPr>
            <a:r>
              <a:rPr lang="en-US" sz="3200" b="1" dirty="0">
                <a:solidFill>
                  <a:srgbClr val="D9482B"/>
                </a:solidFill>
                <a:latin typeface="Apple SD Gothic Neo" pitchFamily="34" charset="0"/>
                <a:ea typeface="Apple SD Gothic Neo" pitchFamily="34" charset="-122"/>
                <a:cs typeface="Apple SD Gothic Neo" pitchFamily="34" charset="-120"/>
              </a:rPr>
              <a:t>약 80만원</a:t>
            </a:r>
            <a:endParaRPr lang="en-US" sz="3200" dirty="0"/>
          </a:p>
        </p:txBody>
      </p:sp>
      <p:sp>
        <p:nvSpPr>
          <p:cNvPr id="37" name="Text 35"/>
          <p:cNvSpPr txBox="1"/>
          <p:nvPr/>
        </p:nvSpPr>
        <p:spPr>
          <a:xfrm>
            <a:off x="9269501" y="4773168"/>
            <a:ext cx="2144954"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전체 제작비</a:t>
            </a:r>
            <a:endParaRPr lang="en-US" sz="1500" dirty="0"/>
          </a:p>
        </p:txBody>
      </p:sp>
      <p:sp>
        <p:nvSpPr>
          <p:cNvPr id="38" name="Text 36"/>
          <p:cNvSpPr txBox="1"/>
          <p:nvPr/>
        </p:nvSpPr>
        <p:spPr>
          <a:xfrm>
            <a:off x="9269501" y="5138928"/>
            <a:ext cx="2144954" cy="45720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부품 약 55만원 (프린터 별도)</a:t>
            </a:r>
            <a:endParaRPr lang="en-US" sz="1200" dirty="0"/>
          </a:p>
        </p:txBody>
      </p:sp>
      <p:sp>
        <p:nvSpPr>
          <p:cNvPr id="39" name="Text 37"/>
          <p:cNvSpPr txBox="1"/>
          <p:nvPr/>
        </p:nvSpPr>
        <p:spPr>
          <a:xfrm>
            <a:off x="548640" y="5989320"/>
            <a:ext cx="11094415" cy="365760"/>
          </a:xfrm>
          <a:prstGeom prst="rect">
            <a:avLst/>
          </a:prstGeom>
          <a:noFill/>
          <a:ln/>
        </p:spPr>
        <p:txBody>
          <a:bodyPr wrap="square" lIns="0" tIns="0" rIns="0" bIns="0" rtlCol="0" anchor="t"/>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그리고  </a:t>
            </a:r>
            <a:r>
              <a:rPr lang="en-US" sz="1300" dirty="0">
                <a:solidFill>
                  <a:srgbClr val="444A54"/>
                </a:solidFill>
                <a:latin typeface="Apple SD Gothic Neo" pitchFamily="34" charset="0"/>
                <a:ea typeface="Apple SD Gothic Neo" pitchFamily="34" charset="-122"/>
                <a:cs typeface="Apple SD Gothic Neo" pitchFamily="34" charset="-120"/>
              </a:rPr>
              <a:t>헤드폰을 꽂으면 스피커가 자동으로 꺼지고, 하드웨어는 그대로 둔 채 음원 프로그램만 바꿀 수 있다 (예: Pianoteq).</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예상되는 한계와 대책</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4389120"/>
        </p:xfrm>
        <a:graphic>
          <a:graphicData uri="http://schemas.openxmlformats.org/drawingml/2006/table">
            <a:tbl>
              <a:tblPr/>
              <a:tblGrid>
                <a:gridCol w="2743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327855">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Apple SD Gothic Neo" pitchFamily="34" charset="0"/>
                          <a:ea typeface="Apple SD Gothic Neo" pitchFamily="34" charset="-122"/>
                          <a:cs typeface="Apple SD Gothic Neo" pitchFamily="34" charset="-120"/>
                        </a:rPr>
                        <a:t>한계</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300" b="1" dirty="0">
                          <a:solidFill>
                            <a:srgbClr val="FFFFFF"/>
                          </a:solidFill>
                          <a:latin typeface="Apple SD Gothic Neo" pitchFamily="34" charset="0"/>
                          <a:ea typeface="Apple SD Gothic Neo" pitchFamily="34" charset="-122"/>
                          <a:cs typeface="Apple SD Gothic Neo" pitchFamily="34" charset="-120"/>
                        </a:rPr>
                        <a:t>무엇이 문제인가</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300" b="1" dirty="0">
                          <a:solidFill>
                            <a:srgbClr val="FFFFFF"/>
                          </a:solidFill>
                          <a:latin typeface="Apple SD Gothic Neo" pitchFamily="34" charset="0"/>
                          <a:ea typeface="Apple SD Gothic Neo" pitchFamily="34" charset="-122"/>
                          <a:cs typeface="Apple SD Gothic Neo" pitchFamily="34" charset="-120"/>
                        </a:rPr>
                        <a:t>대책</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786384">
                <a:tc>
                  <a:txBody>
                    <a:bodyPr/>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플라스틱이 느슨해짐 (크리프)</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300" dirty="0">
                          <a:solidFill>
                            <a:srgbClr val="444A54"/>
                          </a:solidFill>
                          <a:latin typeface="Apple SD Gothic Neo" pitchFamily="34" charset="0"/>
                          <a:ea typeface="Apple SD Gothic Neo" pitchFamily="34" charset="-122"/>
                          <a:cs typeface="Apple SD Gothic Neo" pitchFamily="34" charset="-120"/>
                        </a:rPr>
                        <a:t>시간이 지나며 리프 힘이 줄어 건반이 가벼워진다 (1년 최대 약 30%)</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300" dirty="0">
                          <a:solidFill>
                            <a:srgbClr val="444A54"/>
                          </a:solidFill>
                          <a:latin typeface="Apple SD Gothic Neo" pitchFamily="34" charset="0"/>
                          <a:ea typeface="Apple SD Gothic Neo" pitchFamily="34" charset="-122"/>
                          <a:cs typeface="Apple SD Gothic Neo" pitchFamily="34" charset="-120"/>
                        </a:rPr>
                        <a:t>쉬는 높이는 훅이 고정. 힘은 세트스크루로 다시 맞춘다 (1/8바퀴 = 2.4 g)</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786384">
                <a:tc>
                  <a:txBody>
                    <a:bodyPr/>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반복 굽힘 수명</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300" dirty="0">
                          <a:solidFill>
                            <a:srgbClr val="444A54"/>
                          </a:solidFill>
                          <a:latin typeface="Apple SD Gothic Neo" pitchFamily="34" charset="0"/>
                          <a:ea typeface="Apple SD Gothic Neo" pitchFamily="34" charset="-122"/>
                          <a:cs typeface="Apple SD Gothic Neo" pitchFamily="34" charset="-120"/>
                        </a:rPr>
                        <a:t>리프 수명이 재료 추정값에 기댄다 (약 100만 회 전후)</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300" dirty="0">
                          <a:solidFill>
                            <a:srgbClr val="444A54"/>
                          </a:solidFill>
                          <a:latin typeface="Apple SD Gothic Neo" pitchFamily="34" charset="0"/>
                          <a:ea typeface="Apple SD Gothic Neo" pitchFamily="34" charset="-122"/>
                          <a:cs typeface="Apple SD Gothic Neo" pitchFamily="34" charset="-120"/>
                        </a:rPr>
                        <a:t>단계 0에서 10⁶회 반복 시험. 부족하면 리프를 두 갈래로 나눈 개량안 적용</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786384">
                <a:tc>
                  <a:txBody>
                    <a:bodyPr/>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지연 여유가 작음</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300" dirty="0">
                          <a:solidFill>
                            <a:srgbClr val="444A54"/>
                          </a:solidFill>
                          <a:latin typeface="Apple SD Gothic Neo" pitchFamily="34" charset="0"/>
                          <a:ea typeface="Apple SD Gothic Neo" pitchFamily="34" charset="-122"/>
                          <a:cs typeface="Apple SD Gothic Neo" pitchFamily="34" charset="-120"/>
                        </a:rPr>
                        <a:t>USB 동글 경로의 예상 지연 8~10 ms (한계 10 ms)</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300" dirty="0">
                          <a:solidFill>
                            <a:srgbClr val="444A54"/>
                          </a:solidFill>
                          <a:latin typeface="Apple SD Gothic Neo" pitchFamily="34" charset="0"/>
                          <a:ea typeface="Apple SD Gothic Neo" pitchFamily="34" charset="-122"/>
                          <a:cs typeface="Apple SD Gothic Neo" pitchFamily="34" charset="-120"/>
                        </a:rPr>
                        <a:t>휴대폰 녹음으로 측정. 넘으면 버퍼를 줄이고, 그래도 넘으면 I2S DAC로 교체</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786384">
                <a:tc>
                  <a:txBody>
                    <a:bodyPr/>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가장 낮은 음</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300" dirty="0">
                          <a:solidFill>
                            <a:srgbClr val="444A54"/>
                          </a:solidFill>
                          <a:latin typeface="Apple SD Gothic Neo" pitchFamily="34" charset="0"/>
                          <a:ea typeface="Apple SD Gothic Neo" pitchFamily="34" charset="-122"/>
                          <a:cs typeface="Apple SD Gothic Neo" pitchFamily="34" charset="-120"/>
                        </a:rPr>
                        <a:t>4인치 스피커라 A0~D#2 기본음이 약하다</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300" dirty="0">
                          <a:solidFill>
                            <a:srgbClr val="444A54"/>
                          </a:solidFill>
                          <a:latin typeface="Apple SD Gothic Neo" pitchFamily="34" charset="0"/>
                          <a:ea typeface="Apple SD Gothic Neo" pitchFamily="34" charset="-122"/>
                          <a:cs typeface="Apple SD Gothic Neo" pitchFamily="34" charset="-120"/>
                        </a:rPr>
                        <a:t>작은 디지털 피아노처럼 배음으로 들린다. 80 Hz 저음 차단 + 리미터로 찌그러짐 방지</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786384">
                <a:tc>
                  <a:txBody>
                    <a:bodyPr/>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무게감</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300" dirty="0">
                          <a:solidFill>
                            <a:srgbClr val="444A54"/>
                          </a:solidFill>
                          <a:latin typeface="Apple SD Gothic Neo" pitchFamily="34" charset="0"/>
                          <a:ea typeface="Apple SD Gothic Neo" pitchFamily="34" charset="-122"/>
                          <a:cs typeface="Apple SD Gothic Neo" pitchFamily="34" charset="-120"/>
                        </a:rPr>
                        <a:t>선형 스프링 느낌이라 실제 해머 건반과 다르다</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300" dirty="0">
                          <a:solidFill>
                            <a:srgbClr val="444A54"/>
                          </a:solidFill>
                          <a:latin typeface="Apple SD Gothic Neo" pitchFamily="34" charset="0"/>
                          <a:ea typeface="Apple SD Gothic Neo" pitchFamily="34" charset="-122"/>
                          <a:cs typeface="Apple SD Gothic Neo" pitchFamily="34" charset="-120"/>
                        </a:rPr>
                        <a:t>텅스텐 퍼티로 건반별 무게 조정, 재타건 펌웨어로 연타 보조</a:t>
                      </a:r>
                      <a:endParaRPr lang="en-US" sz="1300" dirty="0">
                        <a:latin typeface="Apple SD Gothic Neo" charset="0"/>
                        <a:ea typeface="Apple SD Gothic Neo" charset="0"/>
                        <a:cs typeface="Apple SD Gothic Neo" charset="0"/>
                      </a:endParaRPr>
                    </a:p>
                  </a:txBody>
                  <a:tcPr marL="128016" marR="128016" marT="54864" marB="54864"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9144000" cy="914400"/>
          </a:xfrm>
          <a:prstGeom prst="rect">
            <a:avLst/>
          </a:prstGeom>
          <a:noFill/>
          <a:ln/>
        </p:spPr>
        <p:txBody>
          <a:bodyPr wrap="square" lIns="0" tIns="0" rIns="0" bIns="0" rtlCol="0" anchor="ctr"/>
          <a:lstStyle/>
          <a:p>
            <a:pPr marL="0" indent="0">
              <a:buNone/>
            </a:pPr>
            <a:r>
              <a:rPr lang="en-US" sz="5400" b="1" dirty="0">
                <a:solidFill>
                  <a:srgbClr val="FFFFFF"/>
                </a:solidFill>
                <a:latin typeface="Apple SD Gothic Neo" pitchFamily="34" charset="0"/>
                <a:ea typeface="Apple SD Gothic Neo" pitchFamily="34" charset="-122"/>
                <a:cs typeface="Apple SD Gothic Neo" pitchFamily="34" charset="-120"/>
              </a:rPr>
              <a:t>Toccata</a:t>
            </a:r>
            <a:endParaRPr lang="en-US" sz="5400" dirty="0"/>
          </a:p>
        </p:txBody>
      </p:sp>
      <p:sp>
        <p:nvSpPr>
          <p:cNvPr id="3" name="Text 1"/>
          <p:cNvSpPr txBox="1"/>
          <p:nvPr/>
        </p:nvSpPr>
        <p:spPr>
          <a:xfrm>
            <a:off x="548640" y="1783080"/>
            <a:ext cx="10972800" cy="502920"/>
          </a:xfrm>
          <a:prstGeom prst="rect">
            <a:avLst/>
          </a:prstGeom>
          <a:noFill/>
          <a:ln/>
        </p:spPr>
        <p:txBody>
          <a:bodyPr wrap="square" lIns="0" tIns="0" rIns="0" bIns="0" rtlCol="0" anchor="t"/>
          <a:lstStyle/>
          <a:p>
            <a:pPr marL="0" indent="0">
              <a:buNone/>
            </a:pPr>
            <a:r>
              <a:rPr lang="en-US" sz="2200" dirty="0">
                <a:solidFill>
                  <a:srgbClr val="FFFFFF"/>
                </a:solidFill>
                <a:latin typeface="Apple SD Gothic Neo" pitchFamily="34" charset="0"/>
                <a:ea typeface="Apple SD Gothic Neo" pitchFamily="34" charset="-122"/>
                <a:cs typeface="Apple SD Gothic Neo" pitchFamily="34" charset="-120"/>
              </a:rPr>
              <a:t>누르면 휘고, 손을 떼면 돌아오는 88건반</a:t>
            </a:r>
            <a:endParaRPr lang="en-US" sz="2200" dirty="0"/>
          </a:p>
        </p:txBody>
      </p:sp>
      <p:sp>
        <p:nvSpPr>
          <p:cNvPr id="4" name="Shape 2"/>
          <p:cNvSpPr/>
          <p:nvPr/>
        </p:nvSpPr>
        <p:spPr>
          <a:xfrm>
            <a:off x="548640"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5" name="Text 3"/>
          <p:cNvSpPr txBox="1"/>
          <p:nvPr/>
        </p:nvSpPr>
        <p:spPr>
          <a:xfrm>
            <a:off x="731520"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단계 0 재료 시험</a:t>
            </a:r>
            <a:endParaRPr lang="en-US" sz="1400" dirty="0"/>
          </a:p>
        </p:txBody>
      </p:sp>
      <p:sp>
        <p:nvSpPr>
          <p:cNvPr id="6" name="Text 4"/>
          <p:cNvSpPr txBox="1"/>
          <p:nvPr/>
        </p:nvSpPr>
        <p:spPr>
          <a:xfrm>
            <a:off x="731520"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리프·자석·도브테일 확인</a:t>
            </a:r>
            <a:endParaRPr lang="en-US" sz="1150" dirty="0"/>
          </a:p>
        </p:txBody>
      </p:sp>
      <p:sp>
        <p:nvSpPr>
          <p:cNvPr id="7" name="Shape 5"/>
          <p:cNvSpPr/>
          <p:nvPr/>
        </p:nvSpPr>
        <p:spPr>
          <a:xfrm>
            <a:off x="3153080" y="3154680"/>
            <a:ext cx="201168" cy="0"/>
          </a:xfrm>
          <a:prstGeom prst="line">
            <a:avLst/>
          </a:prstGeom>
          <a:noFill/>
          <a:ln w="15875">
            <a:solidFill>
              <a:srgbClr val="B9BEC7"/>
            </a:solidFill>
            <a:prstDash val="solid"/>
            <a:tailEnd type="triangle"/>
          </a:ln>
        </p:spPr>
        <p:txBody>
          <a:bodyPr/>
          <a:lstStyle/>
          <a:p>
            <a:endParaRPr lang="en-KR"/>
          </a:p>
        </p:txBody>
      </p:sp>
      <p:sp>
        <p:nvSpPr>
          <p:cNvPr id="8" name="Shape 6"/>
          <p:cNvSpPr/>
          <p:nvPr/>
        </p:nvSpPr>
        <p:spPr>
          <a:xfrm>
            <a:off x="3390824"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9" name="Text 7"/>
          <p:cNvSpPr txBox="1"/>
          <p:nvPr/>
        </p:nvSpPr>
        <p:spPr>
          <a:xfrm>
            <a:off x="3573704"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1옥타브 시제품</a:t>
            </a:r>
            <a:endParaRPr lang="en-US" sz="1400" dirty="0"/>
          </a:p>
        </p:txBody>
      </p:sp>
      <p:sp>
        <p:nvSpPr>
          <p:cNvPr id="10" name="Text 8"/>
          <p:cNvSpPr txBox="1"/>
          <p:nvPr/>
        </p:nvSpPr>
        <p:spPr>
          <a:xfrm>
            <a:off x="3573704"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PC로 첫 소리</a:t>
            </a:r>
            <a:endParaRPr lang="en-US" sz="1150" dirty="0"/>
          </a:p>
        </p:txBody>
      </p:sp>
      <p:sp>
        <p:nvSpPr>
          <p:cNvPr id="11" name="Shape 9"/>
          <p:cNvSpPr/>
          <p:nvPr/>
        </p:nvSpPr>
        <p:spPr>
          <a:xfrm>
            <a:off x="5995264" y="3154680"/>
            <a:ext cx="201168" cy="0"/>
          </a:xfrm>
          <a:prstGeom prst="line">
            <a:avLst/>
          </a:prstGeom>
          <a:noFill/>
          <a:ln w="15875">
            <a:solidFill>
              <a:srgbClr val="B9BEC7"/>
            </a:solidFill>
            <a:prstDash val="solid"/>
            <a:tailEnd type="triangle"/>
          </a:ln>
        </p:spPr>
        <p:txBody>
          <a:bodyPr/>
          <a:lstStyle/>
          <a:p>
            <a:endParaRPr lang="en-KR"/>
          </a:p>
        </p:txBody>
      </p:sp>
      <p:sp>
        <p:nvSpPr>
          <p:cNvPr id="12" name="Shape 10"/>
          <p:cNvSpPr/>
          <p:nvPr/>
        </p:nvSpPr>
        <p:spPr>
          <a:xfrm>
            <a:off x="6233008"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3" name="Text 11"/>
          <p:cNvSpPr txBox="1"/>
          <p:nvPr/>
        </p:nvSpPr>
        <p:spPr>
          <a:xfrm>
            <a:off x="6415888"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88건반 완성</a:t>
            </a:r>
            <a:endParaRPr lang="en-US" sz="1400" dirty="0"/>
          </a:p>
        </p:txBody>
      </p:sp>
      <p:sp>
        <p:nvSpPr>
          <p:cNvPr id="14" name="Text 12"/>
          <p:cNvSpPr txBox="1"/>
          <p:nvPr/>
        </p:nvSpPr>
        <p:spPr>
          <a:xfrm>
            <a:off x="6415888"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스피커·보조배터리</a:t>
            </a:r>
            <a:endParaRPr lang="en-US" sz="1150" dirty="0"/>
          </a:p>
        </p:txBody>
      </p:sp>
      <p:sp>
        <p:nvSpPr>
          <p:cNvPr id="15" name="Shape 13"/>
          <p:cNvSpPr/>
          <p:nvPr/>
        </p:nvSpPr>
        <p:spPr>
          <a:xfrm>
            <a:off x="8837447" y="3154680"/>
            <a:ext cx="201168" cy="0"/>
          </a:xfrm>
          <a:prstGeom prst="line">
            <a:avLst/>
          </a:prstGeom>
          <a:noFill/>
          <a:ln w="15875">
            <a:solidFill>
              <a:srgbClr val="B9BEC7"/>
            </a:solidFill>
            <a:prstDash val="solid"/>
            <a:tailEnd type="triangle"/>
          </a:ln>
        </p:spPr>
        <p:txBody>
          <a:bodyPr/>
          <a:lstStyle/>
          <a:p>
            <a:endParaRPr lang="en-KR"/>
          </a:p>
        </p:txBody>
      </p:sp>
      <p:sp>
        <p:nvSpPr>
          <p:cNvPr id="16" name="Shape 14"/>
          <p:cNvSpPr/>
          <p:nvPr/>
        </p:nvSpPr>
        <p:spPr>
          <a:xfrm>
            <a:off x="9075191"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7" name="Text 15"/>
          <p:cNvSpPr txBox="1"/>
          <p:nvPr/>
        </p:nvSpPr>
        <p:spPr>
          <a:xfrm>
            <a:off x="9258071"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리듬게임</a:t>
            </a:r>
            <a:endParaRPr lang="en-US" sz="1400" dirty="0"/>
          </a:p>
        </p:txBody>
      </p:sp>
      <p:sp>
        <p:nvSpPr>
          <p:cNvPr id="18" name="Text 16"/>
          <p:cNvSpPr txBox="1"/>
          <p:nvPr/>
        </p:nvSpPr>
        <p:spPr>
          <a:xfrm>
            <a:off x="9258071"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피아노를 컨트롤러로</a:t>
            </a:r>
            <a:endParaRPr lang="en-US" sz="1150" dirty="0"/>
          </a:p>
        </p:txBody>
      </p:sp>
      <p:sp>
        <p:nvSpPr>
          <p:cNvPr id="19" name="Text 17"/>
          <p:cNvSpPr txBox="1"/>
          <p:nvPr/>
        </p:nvSpPr>
        <p:spPr>
          <a:xfrm>
            <a:off x="7985455" y="868680"/>
            <a:ext cx="3657600" cy="822960"/>
          </a:xfrm>
          <a:prstGeom prst="rect">
            <a:avLst/>
          </a:prstGeom>
          <a:noFill/>
          <a:ln/>
        </p:spPr>
        <p:txBody>
          <a:bodyPr wrap="square" lIns="0" tIns="0" rIns="0" bIns="0" rtlCol="0" anchor="ctr"/>
          <a:lstStyle/>
          <a:p>
            <a:pPr marL="0" indent="0" algn="r">
              <a:buNone/>
            </a:pPr>
            <a:r>
              <a:rPr lang="en-US" sz="2800" b="1" dirty="0">
                <a:solidFill>
                  <a:srgbClr val="FFFFFF"/>
                </a:solidFill>
                <a:latin typeface="Apple SD Gothic Neo" pitchFamily="34" charset="0"/>
                <a:ea typeface="Apple SD Gothic Neo" pitchFamily="34" charset="-122"/>
                <a:cs typeface="Apple SD Gothic Neo" pitchFamily="34" charset="-120"/>
              </a:rPr>
              <a:t>감사합니다</a:t>
            </a:r>
            <a:endParaRPr lang="en-US" sz="2800" dirty="0"/>
          </a:p>
        </p:txBody>
      </p:sp>
      <p:sp>
        <p:nvSpPr>
          <p:cNvPr id="20" name="Shape 18"/>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870835"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23" name="Shape 21"/>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0" name="Shape 28"/>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4" name="Shape 32"/>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5" name="Shape 33"/>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6" name="Shape 34"/>
          <p:cNvSpPr/>
          <p:nvPr/>
        </p:nvSpPr>
        <p:spPr>
          <a:xfrm>
            <a:off x="6966683"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7" name="Shape 35"/>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8" name="Shape 36"/>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9" name="Shape 37"/>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0" name="Shape 38"/>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1" name="Shape 39"/>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2" name="Shape 40"/>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3" name="Shape 41"/>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4" name="Shape 42"/>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5" name="Shape 43"/>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6" name="Shape 44"/>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7" name="Shape 45"/>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8" name="Shape 46"/>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3" name="Shape 51"/>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4" name="Shape 52"/>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5" name="Shape 53"/>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6" name="Shape 54"/>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7" name="Shape 55"/>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8" name="Shape 56"/>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9" name="Shape 57"/>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0" name="Shape 58"/>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1" name="Shape 59"/>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2" name="Shape 60"/>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3" name="Shape 61"/>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4" name="Shape 62"/>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5" name="Shape 63"/>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6" name="Shape 64"/>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7" name="Shape 65"/>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3100</Words>
  <Application>Microsoft Macintosh PowerPoint</Application>
  <PresentationFormat>Widescreen</PresentationFormat>
  <Paragraphs>384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Apple SD Gothic Neo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Toccata — 3D 프린팅 88건반 디지털 피아노</dc:title>
  <dc:subject>PptxGenJS Presentation</dc:subject>
  <dc:creator>Toccata</dc:creator>
  <cp:lastModifiedBy>고원규</cp:lastModifiedBy>
  <cp:revision>2</cp:revision>
  <dcterms:created xsi:type="dcterms:W3CDTF">2026-09-27T09:22:59Z</dcterms:created>
  <dcterms:modified xsi:type="dcterms:W3CDTF">2026-09-27T15:58:15Z</dcterms:modified>
</cp:coreProperties>
</file>