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80" r:id="rId22"/>
    <p:sldId id="281" r:id="rId23"/>
    <p:sldId id="282" r:id="rId24"/>
    <p:sldId id="283" r:id="rId25"/>
    <p:sldId id="284"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1"/>
    <p:restoredTop sz="94610"/>
  </p:normalViewPr>
  <p:slideViewPr>
    <p:cSldViewPr snapToGrid="0" snapToObjects="1">
      <p:cViewPr varScale="1">
        <p:scale>
          <a:sx n="151" d="100"/>
          <a:sy n="151" d="100"/>
        </p:scale>
        <p:origin x="2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제어 · 전원</c:v>
                </c:pt>
                <c:pt idx="1">
                  <c:v>센서 · MCU · 기판</c:v>
                </c:pt>
                <c:pt idx="2">
                  <c:v>건반 액션</c:v>
                </c:pt>
                <c:pt idx="3">
                  <c:v>오디오 (스피커 · 앰프)</c:v>
                </c:pt>
                <c:pt idx="4">
                  <c:v>본체 구조 · 결합</c:v>
                </c:pt>
              </c:strCache>
            </c:strRef>
          </c:cat>
          <c:val>
            <c:numRef>
              <c:f>Sheet1!$B$2:$B$6</c:f>
              <c:numCache>
                <c:formatCode>General</c:formatCode>
                <c:ptCount val="5"/>
                <c:pt idx="0">
                  <c:v>199455</c:v>
                </c:pt>
                <c:pt idx="1">
                  <c:v>150123</c:v>
                </c:pt>
                <c:pt idx="2">
                  <c:v>119328</c:v>
                </c:pt>
                <c:pt idx="3">
                  <c:v>67229</c:v>
                </c:pt>
                <c:pt idx="4">
                  <c:v>65000</c:v>
                </c:pt>
              </c:numCache>
            </c:numRef>
          </c:val>
          <c:extLst>
            <c:ext xmlns:c16="http://schemas.microsoft.com/office/drawing/2014/chart" uri="{C3380CC4-5D6E-409C-BE32-E72D297353CC}">
              <c16:uniqueId val="{00000000-390B-9B4E-B352-DD6152FB91C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3D 프린터로 건반과 레버, 틀을 직접 출력하고 강철 추와 봉, 스프링 같은 금속 부품만 사서 조립하며, 건반이 부러지면 모듈을 풀지 않고 그 한 개만 예비 건반으로 바꿔 끼울 수 있을 것(흑건은 옆 백건 두 개를 먼저 뺍니다). 그리고 완성한 피아노로 리듬게임을 할 수 있을 것. 순서는 1단계 피아노, 2단계 리듬게임입니다.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모니터나 TV로 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구성입니다. 건반 모듈 7개는 각각 홀센서 12개, 멀티플렉서,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나가고, 게임 화면은 HDMI로 모니터나 TV에 나옵니다. 전원은 USB-C 하나로 65와트 충전기나 20볼트 3.25암페어를 내는 보조배터리를 씁니다. 각 부분의 실제 회로는 뒤의 전자부 회로 슬라이드에서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있습니다. 전체는 1254 곱하기 410밀리이고, 옥타브 모듈 하나는 약 1.4킬로그램입니다. 파트 사이는 커넥터로만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구조는 W1이라고 부르는 현재 설계입니다.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손을 떼면 레버의 무게와 작은 비틀림 스프링이 건반을 되돌립니다. 누르는 힘은 약 52그램, 같은 건반을 1초에 16번 정도 칠 수 있고, 건반은 스냅 노치로 끼워져 있어 도구 없이 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누르고 소리가 나기까지의 과정입니다. 건반이 시소처럼 내려가면서 밑면 자석이 홀센서 쪽으로 다가가고, 각 모듈의 RP2040-Zero가 16채널 MUX로 12개 센서를 건반마다 초당 약 6천 번 읽습니다. 건반 위치가 40%에서 90%를 지나는 시간이 짧을수록 세게 친 것으로 계산하고, 90%에서 Note On, 35% 아래로 올라오면 Note Off를 보냅니다. 끝까지 떼지 않아도 50%까지 올라오면 다시 칠 수 있습니다. 무게 레버가 튀어서 생기는 가짜 재타건은 펌웨어가 걸러냅니다. 같은 건반이 250밀리초 안에 앞 음 속도의 4분의 1보다 느리게 다시 눌리면 튄 것으로 보고 버립니다. 이 신호가 USB-MIDI로 라즈베리파이에 가서 피아노 소리가 되고, 2단계에서는 같은 신호를 리듬게임이 입력으로 씁니다.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설계의 전자부 회로입니다. W1은 센서 기판과 제어 기판 같은 전자부를 이전 설계에서 그대로 가져온다고만 적어 두었는데, 이것을 W1 r4.3의 좌표와 자석 위치, 기판 외곽에 맞춰 부품 번호와 핀 번호, 넷 이름, 값까지 적은 실제 회로도로 만들었습니다.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105줄이고, 그린 선으로 연결을 다시 계산해 의도한 넷리스트와 대조한 결과 연결 오류는 0입니다. 파트 사이는 모두 꽂았다 빼는 커넥터로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멀티플렉서가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 W1 설계에서 백건의 자석과 센서 사이 간격은 쉴 때 약 11밀리, 끝까지 누르면 약 5.6밀리이고, 이때 센서 출력은 약 4에서 22밀리테슬라입니다. 흑건은 약 2에서 25밀리테슬라, 가장 가까울 때도 31밀리테슬라라서 A2 등급 센서의 선형 범위 ±44밀리테슬라 안에 들어갑니다. 그래서 센서 등급은 A2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줍니다. 평균 소비전력은 13에서 17와트, 최저음을 세게 칠 때 순간 최대 약 50와트입니다. 회로 검토에서 PD 트리거가 20볼트에 3.25암페어를 요구할 수 있다는 점이 나왔습니다. 전원이 그만큼 주지 못하면 15볼트나 12볼트, 최악에는 5볼트로 내려가기 때문에,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기판 배치와 회로 검토 결과입니다. 제어 기판은 5 곱하기 7센티 만능기판에 모든 구멍을 RP2040-Zero 핀 격자에 맞춰 배치했고, W1 건반 기구의 홈과 금지 구역을 피했습니다. 센서 기판은 길이 162밀리의 띠 기판입니다. 전기 설계 검토로 바뀐 점은 페달 잭 단락, 끝 부속을 뺐을 때의 유령 음, PD 전원 조건, 강압 모듈의 출고 전압, 접지 험이고, 배치 작업에서 RP2040-Zero를 핀 헤더로 세우는 장착 방식도 바뀌었고, 높아진 1.3밀리는 W1 r4.3에서 뒤 선반에 홈을 내 확보했습니다. 이 때문에 10마이크로패럿 콘덴서와 핀 헤더 4줄을 새로 사야 하고, 부품이 도착하면 전압과 접점부터 먼저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튐으로 생긴 가짜 입력을 250밀리초 안에서 걸러내기 때문에, 채보도 같은 건반을 300밀리초 안에 다시 칠 때는 세기 요구를 두지 않는 규칙을 둡니다. 세부 수치는 하드웨어가 확정된 뒤 실측으로 정합니다.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W1 건반 액션에 들어가는 부품입니다. 강철 평철을 40밀리씩 잘라 무게 레버의 추 90개를 만들고, 지름 4밀리 스테인리스 봉을 잘라 건반 봉과 레버 봉으로 씁니다. 캡스턴 나사로 레버를 들어 올리고 높이를 맞추며, 밸런스 핀이 건반 뒤쪽 위치를 잡습니다. 작은 비틀림 스프링은 스프링용 강선을 사서 직접 감고, 포론 폼과 완충재로 건반이 멈출 때의 소리와 튐을 줄입니다. 강철과 봉은 쇠톱과 바이스로 직접 자릅니다.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게임 화면용으로는 Micro HDMI 케이블 하나만 더 사면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비용입니다. 피아노에 들어가는 부품은 약 60만원으로 목표인 100만원 안에 들어갑니다. 가장 큰 비중은 라즈베리파이 5가 있는 제어·전원과 홀센서 100개가 있는 센서 쪽이고, 건반 액션의 강철·봉·스프링 재료가 약 12만원입니다. 필라멘트와 케이블 같은 소모품 약 20만원을 더하면 전체 제작비는 약 80만원입니다. 페달 본체, 2단계 게임용 HDMI 케이블, 공구, 배송비는 이 금액에 넣지 않았고, 3D 프린터도 별도입니다. 지원비와 사비로 제작할 예정입니다.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제작 계획입니다. 이번 학기 안에 끝내야 해서 9월부터 12월까지 16주로 짰습니다. 9월에는 건반과 본체 설계, 회로도, 부품 목록, 게임 기획을 마쳤습니다. 이번 주에 프린터를 정하고, 10월 5일 대체공휴일과 9일 한글날로 택배가 멈추기 전인 9월 30일까지 부품을 주문합니다. 라즈베리파이 5는 판매처 표기상 오래 걸릴 수 있어 재고를 먼저 확인하고, 인두가 없으면 국내에서 바로 삽니다. 동시에 W1 도면을 실제 출력 파일로 만듭니다. 10월 중순부터 건반 3개짜리 시편으로 단계 0 재료 시험을 해서 패드 반발, 스냅 노치, 스프링, 피로 등 19가지를 확인하고, 옥타브 모듈 하나를 먼저 만들어 11월 첫 주에 PC로 첫 소리를 냅니다. 출력은 시험 결과와 상관없는 본체와 스피커 부품을 10월 말에 먼저 뽑고, 건반 모듈은 시험 결과를 반영해 11월부터 뽑습니다. 합계 약 380시간이라 프린터 한 대를 하루 11~13시간 돌리는 기준입니다. 12월 둘째 주까지 모듈 조립과 제어부, 오디오, 88건반 통합을 마칩니다. 리듬게임은 하드웨어를 기다리지 않고 10월부터 PC에서 입력과 판정을 먼저 만들고, 곡과 화면 같은 콘텐츠도 10월 말부터 PC에서 준비합니다. 첫 모듈이 나오면 실제 건반으로 연동합니다. 이번 학기 목표는 서장과 1장, 곡 3~4개의 발표용 버전이고, 88레인 전체와 채보 도구는 다음 단계입니다. 12월 셋째 주에 88건반 연주와 게임을 함께 시연합니다. 출력이나 부품이 늦어지면 예비 건반 출력은 발표 뒤로 미루고, 게임은 1옥타브 모듈로 먼저 시연합니다.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1옥타브 시제품과 88건반 완성을 거쳐 리듬게임으로 이어집니다. 뒤에 제작에 필요한 부품 목록을 붙였습니다. 들어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마지막으로 프로젝트 제작에 필요한 부품 목록입니다. 엑셀 파일 toccata-parts-list.xlsx와 같은 내용이고, 부품명, 수량, 용도, 예상 가격, 구매 링크를 담았습니다. 핵심인 라즈베리파이 5가 있는 제어·전원을 맨 앞에 두었고, 이어서 RP2040-Zero와 홀센서, MUX가 있는 센서·MCU, 건반 액션, 오디오, 본체, 소모품 순서입니다. 부품은 약 60만원, 소모품을 더하면 약 80만원이고, 페달, 2단계 게임 케이블, 소프트웨어, 공구, 배송비는 넣지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BAQskCuPae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hyperlink" Target="https://www.mechasolution.com/goods/goods_view.php?goodsNo=605179" TargetMode="External"/><Relationship Id="rId13" Type="http://schemas.openxmlformats.org/officeDocument/2006/relationships/hyperlink" Target="https://parts-parts.co.kr/product/detail.html?product_no=2383" TargetMode="External"/><Relationship Id="rId18" Type="http://schemas.openxmlformats.org/officeDocument/2006/relationships/hyperlink" Target="https://www.mechasolution.com/goods/goods_view.php?goodsNo=540645" TargetMode="External"/><Relationship Id="rId3" Type="http://schemas.openxmlformats.org/officeDocument/2006/relationships/hyperlink" Target="https://www.icbanq.com/P016286897" TargetMode="External"/><Relationship Id="rId21" Type="http://schemas.openxmlformats.org/officeDocument/2006/relationships/hyperlink" Target="https://www.icbanq.com/P014161879" TargetMode="External"/><Relationship Id="rId7" Type="http://schemas.openxmlformats.org/officeDocument/2006/relationships/hyperlink" Target="https://prod.danawa.com/info/?pcode=20358155" TargetMode="External"/><Relationship Id="rId12" Type="http://schemas.openxmlformats.org/officeDocument/2006/relationships/hyperlink" Target="https://prod.danawa.com/info/?pcode=59074565" TargetMode="External"/><Relationship Id="rId17" Type="http://schemas.openxmlformats.org/officeDocument/2006/relationships/hyperlink" Target="https://www.mechasolution.com/goods/goods_view.php?goodsNo=329798" TargetMode="External"/><Relationship Id="rId2" Type="http://schemas.openxmlformats.org/officeDocument/2006/relationships/notesSlide" Target="../notesSlides/notesSlide22.xml"/><Relationship Id="rId16" Type="http://schemas.openxmlformats.org/officeDocument/2006/relationships/hyperlink" Target="https://parts-parts.co.kr/product/detail.html?product_no=303" TargetMode="External"/><Relationship Id="rId20" Type="http://schemas.openxmlformats.org/officeDocument/2006/relationships/hyperlink" Target="https://www.icbanq.com/P001248090" TargetMode="External"/><Relationship Id="rId1" Type="http://schemas.openxmlformats.org/officeDocument/2006/relationships/slideLayout" Target="../slideLayouts/slideLayout1.xml"/><Relationship Id="rId6" Type="http://schemas.openxmlformats.org/officeDocument/2006/relationships/hyperlink" Target="https://www.icbanq.com/P017179502" TargetMode="External"/><Relationship Id="rId11" Type="http://schemas.openxmlformats.org/officeDocument/2006/relationships/hyperlink" Target="https://www.eleparts.co.kr/goods/view?no=12766820" TargetMode="External"/><Relationship Id="rId5" Type="http://schemas.openxmlformats.org/officeDocument/2006/relationships/hyperlink" Target="https://www.icbanq.com/P017179277" TargetMode="External"/><Relationship Id="rId15" Type="http://schemas.openxmlformats.org/officeDocument/2006/relationships/hyperlink" Target="https://dgmagnet.com/product/%EC%B4%88%EA%B0%95%EB%A0%A5-%EB%84%A4%EC%98%A4%EB%94%94%EC%9B%80-%EC%9B%90%ED%98%95%EC%9E%90%EC%84%9D-5mm/13/" TargetMode="External"/><Relationship Id="rId23" Type="http://schemas.openxmlformats.org/officeDocument/2006/relationships/hyperlink" Target="https://www.eleparts.co.kr/goods/view?no=10911" TargetMode="External"/><Relationship Id="rId10" Type="http://schemas.openxmlformats.org/officeDocument/2006/relationships/hyperlink" Target="https://www.eleparts.co.kr/goods/view?no=3237821" TargetMode="External"/><Relationship Id="rId19" Type="http://schemas.openxmlformats.org/officeDocument/2006/relationships/hyperlink" Target="https://www.icbanq.com/P014968846" TargetMode="External"/><Relationship Id="rId4" Type="http://schemas.openxmlformats.org/officeDocument/2006/relationships/hyperlink" Target="https://prod.danawa.com/info/?pcode=29865749" TargetMode="External"/><Relationship Id="rId9" Type="http://schemas.openxmlformats.org/officeDocument/2006/relationships/hyperlink" Target="https://www.eleparts.co.kr/goods/view?no=32569" TargetMode="External"/><Relationship Id="rId14" Type="http://schemas.openxmlformats.org/officeDocument/2006/relationships/hyperlink" Target="https://www.icbanq.com/P018076669" TargetMode="External"/><Relationship Id="rId22" Type="http://schemas.openxmlformats.org/officeDocument/2006/relationships/hyperlink" Target="https://www.icbanq.com/P005666127"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icbanq.com/P015973844" TargetMode="External"/><Relationship Id="rId13" Type="http://schemas.openxmlformats.org/officeDocument/2006/relationships/hyperlink" Target="https://studiobunt.com/product/detail.html?product_no=1157" TargetMode="External"/><Relationship Id="rId18" Type="http://schemas.openxmlformats.org/officeDocument/2006/relationships/hyperlink" Target="https://www.11st.co.kr/products/1565354988" TargetMode="External"/><Relationship Id="rId3" Type="http://schemas.openxmlformats.org/officeDocument/2006/relationships/hyperlink" Target="https://www.eleparts.co.kr/goods/view?no=10993" TargetMode="External"/><Relationship Id="rId21" Type="http://schemas.openxmlformats.org/officeDocument/2006/relationships/hyperlink" Target="https://www.eleparts.co.kr/goods/view?no=67811" TargetMode="External"/><Relationship Id="rId7" Type="http://schemas.openxmlformats.org/officeDocument/2006/relationships/hyperlink" Target="https://www.11st.co.kr/products/1304631510" TargetMode="External"/><Relationship Id="rId12" Type="http://schemas.openxmlformats.org/officeDocument/2006/relationships/hyperlink" Target="https://studiobunt.com/product/detail.html?product_no=4117" TargetMode="External"/><Relationship Id="rId17" Type="http://schemas.openxmlformats.org/officeDocument/2006/relationships/hyperlink" Target="https://www.icbanq.com/P017179248" TargetMode="External"/><Relationship Id="rId2" Type="http://schemas.openxmlformats.org/officeDocument/2006/relationships/notesSlide" Target="../notesSlides/notesSlide23.xml"/><Relationship Id="rId16" Type="http://schemas.openxmlformats.org/officeDocument/2006/relationships/hyperlink" Target="https://www.11st.co.kr/products/8517880969" TargetMode="External"/><Relationship Id="rId20" Type="http://schemas.openxmlformats.org/officeDocument/2006/relationships/hyperlink" Target="https://www.eleparts.co.kr/goods/view?no=11043038" TargetMode="External"/><Relationship Id="rId1" Type="http://schemas.openxmlformats.org/officeDocument/2006/relationships/slideLayout" Target="../slideLayouts/slideLayout1.xml"/><Relationship Id="rId6" Type="http://schemas.openxmlformats.org/officeDocument/2006/relationships/hyperlink" Target="https://www.allsteelshop.com/product/squareplate/9t" TargetMode="External"/><Relationship Id="rId11" Type="http://schemas.openxmlformats.org/officeDocument/2006/relationships/hyperlink" Target="https://www.11st.co.kr/products/9030046679" TargetMode="External"/><Relationship Id="rId5" Type="http://schemas.openxmlformats.org/officeDocument/2006/relationships/hyperlink" Target="https://www.eleparts.co.kr/goods/view?no=10873" TargetMode="External"/><Relationship Id="rId15" Type="http://schemas.openxmlformats.org/officeDocument/2006/relationships/hyperlink" Target="https://www.navimro.com/g/1029233/" TargetMode="External"/><Relationship Id="rId10" Type="http://schemas.openxmlformats.org/officeDocument/2006/relationships/hyperlink" Target="https://www.nasakorea.com/goods/goods_view.php?goodsNo=6009" TargetMode="External"/><Relationship Id="rId19" Type="http://schemas.openxmlformats.org/officeDocument/2006/relationships/hyperlink" Target="https://www.apple.com/kr/shop/product/mw2q3kh/a" TargetMode="External"/><Relationship Id="rId4" Type="http://schemas.openxmlformats.org/officeDocument/2006/relationships/hyperlink" Target="https://www.eleparts.co.kr/goods/view?no=10951" TargetMode="External"/><Relationship Id="rId9" Type="http://schemas.openxmlformats.org/officeDocument/2006/relationships/hyperlink" Target="https://www.icbanq.com/P015976209" TargetMode="External"/><Relationship Id="rId14" Type="http://schemas.openxmlformats.org/officeDocument/2006/relationships/hyperlink" Target="https://www.navimro.com/g/1028764/"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www.metaldiy.com/item/itemView.do?itemId=8806379117286" TargetMode="External"/><Relationship Id="rId13" Type="http://schemas.openxmlformats.org/officeDocument/2006/relationships/hyperlink" Target="https://www.11st.co.kr/products/7591566666" TargetMode="External"/><Relationship Id="rId3" Type="http://schemas.openxmlformats.org/officeDocument/2006/relationships/hyperlink" Target="https://www.icbanq.com/P014159115" TargetMode="External"/><Relationship Id="rId7" Type="http://schemas.openxmlformats.org/officeDocument/2006/relationships/hyperlink" Target="https://www.11st.co.kr/products/2325598213" TargetMode="External"/><Relationship Id="rId12" Type="http://schemas.openxmlformats.org/officeDocument/2006/relationships/hyperlink" Target="https://ko.aliexpress.com/item/1005012184121268.html"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namugongjang.com/product/detail.html?product_no=1378" TargetMode="External"/><Relationship Id="rId11" Type="http://schemas.openxmlformats.org/officeDocument/2006/relationships/hyperlink" Target="https://www.eleparts.co.kr/goods/view?no=16628292" TargetMode="External"/><Relationship Id="rId5" Type="http://schemas.openxmlformats.org/officeDocument/2006/relationships/hyperlink" Target="https://www.eleparts.co.kr/goods/view?no=12779721" TargetMode="External"/><Relationship Id="rId15" Type="http://schemas.openxmlformats.org/officeDocument/2006/relationships/hyperlink" Target="https://www.11st.co.kr/products/4353471537" TargetMode="External"/><Relationship Id="rId10" Type="http://schemas.openxmlformats.org/officeDocument/2006/relationships/hyperlink" Target="https://www.rcbank.co.kr/shop/goods/goods_view.php?goodsno=29812" TargetMode="External"/><Relationship Id="rId4" Type="http://schemas.openxmlformats.org/officeDocument/2006/relationships/hyperlink" Target="https://www.eleparts.co.kr/goods/view?no=12779720" TargetMode="External"/><Relationship Id="rId9" Type="http://schemas.openxmlformats.org/officeDocument/2006/relationships/hyperlink" Target="https://dgmagnet.com/product/detail.html?product_no=17" TargetMode="External"/><Relationship Id="rId14" Type="http://schemas.openxmlformats.org/officeDocument/2006/relationships/hyperlink" Target="https://www.11st.co.kr/products/4236198413"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www.eleparts.co.kr/goods/view?no=17806172" TargetMode="External"/><Relationship Id="rId13" Type="http://schemas.openxmlformats.org/officeDocument/2006/relationships/hyperlink" Target="https://www.eleparts.co.kr/goods/view?no=9100003" TargetMode="External"/><Relationship Id="rId18" Type="http://schemas.openxmlformats.org/officeDocument/2006/relationships/hyperlink" Target="https://www.11st.co.kr/products/9579455646" TargetMode="External"/><Relationship Id="rId3" Type="http://schemas.openxmlformats.org/officeDocument/2006/relationships/hyperlink" Target="https://kr.store.bambulab.com/products/petg-basic" TargetMode="External"/><Relationship Id="rId7" Type="http://schemas.openxmlformats.org/officeDocument/2006/relationships/hyperlink" Target="https://www.eleparts.co.kr/goods/view?no=2925673" TargetMode="External"/><Relationship Id="rId12" Type="http://schemas.openxmlformats.org/officeDocument/2006/relationships/hyperlink" Target="https://www.eleparts.co.kr/goods/view?no=557" TargetMode="External"/><Relationship Id="rId17" Type="http://schemas.openxmlformats.org/officeDocument/2006/relationships/hyperlink" Target="https://www.11st.co.kr/products/1874655675" TargetMode="External"/><Relationship Id="rId2" Type="http://schemas.openxmlformats.org/officeDocument/2006/relationships/notesSlide" Target="../notesSlides/notesSlide25.xml"/><Relationship Id="rId16" Type="http://schemas.openxmlformats.org/officeDocument/2006/relationships/hyperlink" Target="https://www.eleparts.co.kr/goods/view?no=17897439" TargetMode="External"/><Relationship Id="rId20" Type="http://schemas.openxmlformats.org/officeDocument/2006/relationships/hyperlink" Target="https://www.11st.co.kr/products/1333385437" TargetMode="External"/><Relationship Id="rId1" Type="http://schemas.openxmlformats.org/officeDocument/2006/relationships/slideLayout" Target="../slideLayouts/slideLayout1.xml"/><Relationship Id="rId6" Type="http://schemas.openxmlformats.org/officeDocument/2006/relationships/hyperlink" Target="https://www.eleparts.co.kr/goods/view?no=18388615" TargetMode="External"/><Relationship Id="rId11" Type="http://schemas.openxmlformats.org/officeDocument/2006/relationships/hyperlink" Target="https://www.eleparts.co.kr/goods/view?no=8170311" TargetMode="External"/><Relationship Id="rId5" Type="http://schemas.openxmlformats.org/officeDocument/2006/relationships/hyperlink" Target="https://www.eleparts.co.kr/goods/view?no=425" TargetMode="External"/><Relationship Id="rId15" Type="http://schemas.openxmlformats.org/officeDocument/2006/relationships/hyperlink" Target="https://www.icbanq.com/P015309984" TargetMode="External"/><Relationship Id="rId10" Type="http://schemas.openxmlformats.org/officeDocument/2006/relationships/hyperlink" Target="https://www.eleparts.co.kr/goods/view?no=17358965" TargetMode="External"/><Relationship Id="rId19" Type="http://schemas.openxmlformats.org/officeDocument/2006/relationships/hyperlink" Target="https://www.11st.co.kr/products/9367896435" TargetMode="External"/><Relationship Id="rId4" Type="http://schemas.openxmlformats.org/officeDocument/2006/relationships/hyperlink" Target="https://www.eleparts.co.kr/goods/view?no=4313490" TargetMode="External"/><Relationship Id="rId9" Type="http://schemas.openxmlformats.org/officeDocument/2006/relationships/hyperlink" Target="https://www.eleparts.co.kr/goods/view?no=17806170" TargetMode="External"/><Relationship Id="rId14" Type="http://schemas.openxmlformats.org/officeDocument/2006/relationships/hyperlink" Target="https://www.eleparts.co.kr/goods/view?no=12755646"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r>
              <a:rPr lang="en-US" sz="1450" i="1" dirty="0">
                <a:solidFill>
                  <a:srgbClr val="444A54"/>
                </a:solidFill>
                <a:latin typeface="Apple SD Gothic Neo" pitchFamily="34" charset="0"/>
                <a:ea typeface="Apple SD Gothic Neo" pitchFamily="34" charset="-122"/>
                <a:cs typeface="Apple SD Gothic Neo" pitchFamily="34" charset="-120"/>
              </a:rPr>
              <a:t>toccare</a:t>
            </a: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5157216" cy="1298448"/>
          </a:xfrm>
          <a:prstGeom prst="roundRect">
            <a:avLst>
              <a:gd name="adj" fmla="val 6504"/>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694944" y="3959352"/>
            <a:ext cx="292608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marL="0" indent="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5" name="Text 13"/>
          <p:cNvSpPr txBox="1"/>
          <p:nvPr/>
        </p:nvSpPr>
        <p:spPr>
          <a:xfrm>
            <a:off x="6364224" y="2450592"/>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9" name="Text 17"/>
          <p:cNvSpPr txBox="1"/>
          <p:nvPr/>
        </p:nvSpPr>
        <p:spPr>
          <a:xfrm>
            <a:off x="6364224" y="399592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a:lnSpc>
                <a:spcPct val="115000"/>
              </a:lnSpc>
            </a:pPr>
            <a:r>
              <a:rPr lang="en-US" sz="1600" b="1" dirty="0" err="1">
                <a:solidFill>
                  <a:srgbClr val="FFFFFF"/>
                </a:solidFill>
                <a:latin typeface="Apple SD Gothic Neo" pitchFamily="34" charset="0"/>
                <a:ea typeface="Apple SD Gothic Neo" pitchFamily="34" charset="-122"/>
                <a:cs typeface="Apple SD Gothic Neo" pitchFamily="34" charset="-120"/>
              </a:rPr>
              <a:t>누르는</a:t>
            </a:r>
            <a:r>
              <a:rPr lang="en-US" sz="1600" b="1" dirty="0">
                <a:solidFill>
                  <a:srgbClr val="FFFFFF"/>
                </a:solidFill>
                <a:latin typeface="Apple SD Gothic Neo" pitchFamily="34" charset="0"/>
                <a:ea typeface="Apple SD Gothic Neo" pitchFamily="34" charset="-122"/>
                <a:cs typeface="Apple SD Gothic Neo" pitchFamily="34" charset="-120"/>
              </a:rPr>
              <a:t> 세기와 페달까지 표현하는 88건반 </a:t>
            </a:r>
            <a:r>
              <a:rPr lang="en-US" sz="1600" b="1" dirty="0" err="1">
                <a:solidFill>
                  <a:srgbClr val="FFFFFF"/>
                </a:solidFill>
                <a:latin typeface="Apple SD Gothic Neo" pitchFamily="34" charset="0"/>
                <a:ea typeface="Apple SD Gothic Neo" pitchFamily="34" charset="-122"/>
                <a:cs typeface="Apple SD Gothic Neo" pitchFamily="34" charset="-120"/>
              </a:rPr>
              <a:t>디지털</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a:t>
            </a:r>
            <a:r>
              <a:rPr lang="ko-KR" altLang="en-US" sz="1600" b="1" dirty="0">
                <a:solidFill>
                  <a:srgbClr val="FFFFFF"/>
                </a:solidFill>
                <a:latin typeface="Apple SD Gothic Neo" pitchFamily="34" charset="0"/>
                <a:ea typeface="Apple SD Gothic Neo" pitchFamily="34" charset="-122"/>
                <a:cs typeface="Apple SD Gothic Neo" pitchFamily="34" charset="-120"/>
              </a:rPr>
              <a:t> 설계 및 제작 </a:t>
            </a:r>
            <a:r>
              <a:rPr lang="en-US" sz="1600" b="1" dirty="0">
                <a:solidFill>
                  <a:srgbClr val="FFFFFF"/>
                </a:solidFill>
                <a:latin typeface="Apple SD Gothic Neo" pitchFamily="34" charset="0"/>
                <a:ea typeface="Apple SD Gothic Neo" pitchFamily="34" charset="-122"/>
                <a:cs typeface="Apple SD Gothic Neo" pitchFamily="34" charset="-120"/>
              </a:rPr>
              <a:t>+</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피아노를</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컨트롤러로</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쓰는</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리듬게임</a:t>
            </a:r>
            <a:r>
              <a:rPr lang="en-US" sz="1600" b="1" dirty="0">
                <a:solidFill>
                  <a:srgbClr val="FFFFFF"/>
                </a:solidFill>
                <a:latin typeface="Apple SD Gothic Neo" pitchFamily="34" charset="0"/>
                <a:ea typeface="Apple SD Gothic Neo" pitchFamily="34" charset="-122"/>
                <a:cs typeface="Apple SD Gothic Neo" pitchFamily="34" charset="-120"/>
              </a:rPr>
              <a:t> ‘Toccata’</a:t>
            </a:r>
            <a:endParaRPr lang="en-US" sz="1600" b="1"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a:t>
            </a:r>
            <a:r>
              <a:rPr lang="en-US" sz="1250" dirty="0" err="1">
                <a:solidFill>
                  <a:srgbClr val="444A54"/>
                </a:solidFill>
                <a:latin typeface="Apple SD Gothic Neo" pitchFamily="34" charset="0"/>
                <a:ea typeface="Apple SD Gothic Neo" pitchFamily="34" charset="-122"/>
                <a:cs typeface="Apple SD Gothic Neo" pitchFamily="34" charset="-120"/>
              </a:rPr>
              <a:t>댐퍼</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페달</a:t>
            </a:r>
            <a:r>
              <a:rPr lang="ko-KR" altLang="en-US" sz="1250" dirty="0">
                <a:solidFill>
                  <a:srgbClr val="444A54"/>
                </a:solidFill>
                <a:latin typeface="Apple SD Gothic Neo" pitchFamily="34" charset="0"/>
                <a:ea typeface="Apple SD Gothic Neo" pitchFamily="34" charset="-122"/>
                <a:cs typeface="Apple SD Gothic Neo" pitchFamily="34" charset="-120"/>
              </a:rPr>
              <a:t>도 지원</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ko-KR" altLang="en-US" sz="1250" dirty="0">
                <a:solidFill>
                  <a:srgbClr val="444A54"/>
                </a:solidFill>
                <a:latin typeface="Apple SD Gothic Neo" pitchFamily="34" charset="0"/>
                <a:ea typeface="Apple SD Gothic Neo" pitchFamily="34" charset="-122"/>
                <a:cs typeface="Apple SD Gothic Neo" pitchFamily="34" charset="-120"/>
              </a:rPr>
              <a:t> 실제 구조에서 착안해 실제와 비슷한 느낌 제공</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a:t>
            </a:r>
            <a:r>
              <a:rPr lang="en-US" sz="1250" dirty="0" err="1">
                <a:solidFill>
                  <a:srgbClr val="444A54"/>
                </a:solidFill>
                <a:latin typeface="Apple SD Gothic Neo" pitchFamily="34" charset="0"/>
                <a:ea typeface="Apple SD Gothic Neo" pitchFamily="34" charset="-122"/>
                <a:cs typeface="Apple SD Gothic Neo" pitchFamily="34" charset="-120"/>
              </a:rPr>
              <a:t>떼어</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보관</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보조배터리로 콘센트 </a:t>
            </a:r>
            <a:r>
              <a:rPr lang="en-US" sz="1250" dirty="0" err="1">
                <a:solidFill>
                  <a:srgbClr val="444A54"/>
                </a:solidFill>
                <a:latin typeface="Apple SD Gothic Neo" pitchFamily="34" charset="0"/>
                <a:ea typeface="Apple SD Gothic Neo" pitchFamily="34" charset="-122"/>
                <a:cs typeface="Apple SD Gothic Neo" pitchFamily="34" charset="-120"/>
              </a:rPr>
              <a:t>없이</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연주 가능</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3D 프린터로 직접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건반·레버·틀은 PETG로 출력하고 금속 부품만 사서 조립, 부러진 건반은 그 한 개만 예비 건반으로 교체 가능</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a:t>
            </a:r>
            <a:r>
              <a:rPr lang="en-US" sz="1250" dirty="0" err="1">
                <a:solidFill>
                  <a:srgbClr val="444A54"/>
                </a:solidFill>
                <a:latin typeface="Apple SD Gothic Neo" pitchFamily="34" charset="0"/>
                <a:ea typeface="Apple SD Gothic Neo" pitchFamily="34" charset="-122"/>
                <a:cs typeface="Apple SD Gothic Neo" pitchFamily="34" charset="-120"/>
              </a:rPr>
              <a:t>컨트롤러로</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사용</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내려오는 노트를 치고, 흑건 레인, 홀드, </a:t>
            </a:r>
            <a:r>
              <a:rPr lang="en-US" sz="1250" dirty="0" err="1">
                <a:solidFill>
                  <a:srgbClr val="444A54"/>
                </a:solidFill>
                <a:latin typeface="Apple SD Gothic Neo" pitchFamily="34" charset="0"/>
                <a:ea typeface="Apple SD Gothic Neo" pitchFamily="34" charset="-122"/>
                <a:cs typeface="Apple SD Gothic Neo" pitchFamily="34" charset="-120"/>
              </a:rPr>
              <a:t>세기</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기믹</a:t>
            </a:r>
            <a:r>
              <a:rPr lang="ko-KR" altLang="en-US" sz="1250" dirty="0">
                <a:solidFill>
                  <a:srgbClr val="444A54"/>
                </a:solidFill>
                <a:latin typeface="Apple SD Gothic Neo" pitchFamily="34" charset="0"/>
                <a:ea typeface="Apple SD Gothic Neo" pitchFamily="34" charset="-122"/>
                <a:cs typeface="Apple SD Gothic Neo" pitchFamily="34" charset="-120"/>
              </a:rPr>
              <a:t> 존재</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2011680"/>
            <a:ext cx="4892040" cy="3520440"/>
          </a:xfrm>
          <a:prstGeom prst="roundRect">
            <a:avLst>
              <a:gd name="adj" fmla="val 2078"/>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606040"/>
            <a:ext cx="4251960" cy="457200"/>
          </a:xfrm>
          <a:prstGeom prst="rect">
            <a:avLst/>
          </a:prstGeom>
          <a:noFill/>
          <a:ln/>
        </p:spPr>
        <p:txBody>
          <a:bodyPr wrap="square" lIns="0" tIns="0" rIns="0" bIns="0" rtlCol="0" anchor="t"/>
          <a:lstStyle/>
          <a:p>
            <a:pPr marL="0" indent="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33375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1" name="Text 9"/>
          <p:cNvSpPr txBox="1"/>
          <p:nvPr/>
        </p:nvSpPr>
        <p:spPr>
          <a:xfrm>
            <a:off x="868680" y="33375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33192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639312"/>
            <a:ext cx="3611880" cy="457200"/>
          </a:xfrm>
          <a:prstGeom prst="rect">
            <a:avLst/>
          </a:prstGeom>
          <a:noFill/>
          <a:ln/>
        </p:spPr>
        <p:txBody>
          <a:bodyPr wrap="square" lIns="0" tIns="0" rIns="0" bIns="0" rtlCol="0" anchor="t"/>
          <a:lstStyle/>
          <a:p>
            <a:pPr marL="0" indent="0">
              <a:buNone/>
            </a:pPr>
            <a:r>
              <a:rPr lang="en-US" sz="1200" dirty="0" err="1">
                <a:solidFill>
                  <a:srgbClr val="B9BEC7"/>
                </a:solidFill>
                <a:latin typeface="Apple SD Gothic Neo" pitchFamily="34" charset="0"/>
                <a:ea typeface="Apple SD Gothic Neo" pitchFamily="34" charset="-122"/>
                <a:cs typeface="Apple SD Gothic Neo" pitchFamily="34" charset="-120"/>
              </a:rPr>
              <a:t>건반</a:t>
            </a:r>
            <a:r>
              <a:rPr lang="ko-KR" altLang="en-US" sz="1200" dirty="0">
                <a:solidFill>
                  <a:srgbClr val="B9BEC7"/>
                </a:solidFill>
                <a:latin typeface="Apple SD Gothic Neo" pitchFamily="34" charset="0"/>
                <a:ea typeface="Apple SD Gothic Neo" pitchFamily="34" charset="-122"/>
                <a:cs typeface="Apple SD Gothic Neo" pitchFamily="34" charset="-120"/>
              </a:rPr>
              <a:t> 디자인</a:t>
            </a:r>
            <a:r>
              <a:rPr lang="en-US" altLang="ko-KR" sz="1200" dirty="0">
                <a:solidFill>
                  <a:srgbClr val="B9BEC7"/>
                </a:solidFill>
                <a:latin typeface="Apple SD Gothic Neo" pitchFamily="34" charset="0"/>
                <a:ea typeface="Apple SD Gothic Neo" pitchFamily="34" charset="-122"/>
                <a:cs typeface="Apple SD Gothic Neo" pitchFamily="34" charset="-120"/>
              </a:rPr>
              <a:t>/</a:t>
            </a:r>
            <a:r>
              <a:rPr lang="ko-KR" altLang="en-US" sz="1200" dirty="0">
                <a:solidFill>
                  <a:srgbClr val="B9BEC7"/>
                </a:solidFill>
                <a:latin typeface="Apple SD Gothic Neo" pitchFamily="34" charset="0"/>
                <a:ea typeface="Apple SD Gothic Neo" pitchFamily="34" charset="-122"/>
                <a:cs typeface="Apple SD Gothic Neo" pitchFamily="34" charset="-120"/>
              </a:rPr>
              <a:t>설계</a:t>
            </a:r>
            <a:r>
              <a:rPr lang="en-US" sz="1200" dirty="0">
                <a:solidFill>
                  <a:srgbClr val="B9BEC7"/>
                </a:solidFill>
                <a:latin typeface="Apple SD Gothic Neo" pitchFamily="34" charset="0"/>
                <a:ea typeface="Apple SD Gothic Neo" pitchFamily="34" charset="-122"/>
                <a:cs typeface="Apple SD Gothic Neo" pitchFamily="34" charset="-120"/>
              </a:rPr>
              <a:t> · 홀센서 · 본체 · 스피커</a:t>
            </a:r>
            <a:endParaRPr lang="en-US" sz="1200" dirty="0"/>
          </a:p>
        </p:txBody>
      </p:sp>
      <p:sp>
        <p:nvSpPr>
          <p:cNvPr id="14" name="Shape 12"/>
          <p:cNvSpPr/>
          <p:nvPr/>
        </p:nvSpPr>
        <p:spPr>
          <a:xfrm>
            <a:off x="868680" y="42519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5" name="Text 13"/>
          <p:cNvSpPr txBox="1"/>
          <p:nvPr/>
        </p:nvSpPr>
        <p:spPr>
          <a:xfrm>
            <a:off x="868680" y="42519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42336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55371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965192"/>
            <a:ext cx="4251960" cy="320040"/>
          </a:xfrm>
          <a:prstGeom prst="rect">
            <a:avLst/>
          </a:prstGeom>
          <a:noFill/>
          <a:ln/>
        </p:spPr>
        <p:txBody>
          <a:bodyPr wrap="square" lIns="0" tIns="0" rIns="0" bIns="0" rtlCol="0" anchor="t"/>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2011680"/>
            <a:ext cx="4892040" cy="3520440"/>
          </a:xfrm>
          <a:prstGeom prst="roundRect">
            <a:avLst>
              <a:gd name="adj" fmla="val 2078"/>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7071055"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606040"/>
            <a:ext cx="4251960" cy="457200"/>
          </a:xfrm>
          <a:prstGeom prst="rect">
            <a:avLst/>
          </a:prstGeom>
          <a:noFill/>
          <a:ln/>
        </p:spPr>
        <p:txBody>
          <a:bodyPr wrap="square" lIns="0" tIns="0" rIns="0" bIns="0" rtlCol="0" anchor="t"/>
          <a:lstStyle/>
          <a:p>
            <a:pPr marL="0" indent="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33375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3" name="Text 21"/>
          <p:cNvSpPr txBox="1"/>
          <p:nvPr/>
        </p:nvSpPr>
        <p:spPr>
          <a:xfrm>
            <a:off x="7071055" y="3337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33192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6393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42519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7" name="Text 25"/>
          <p:cNvSpPr txBox="1"/>
          <p:nvPr/>
        </p:nvSpPr>
        <p:spPr>
          <a:xfrm>
            <a:off x="7071055" y="4251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42336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5537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965192"/>
            <a:ext cx="4251960" cy="32004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771900"/>
            <a:ext cx="907999" cy="0"/>
          </a:xfrm>
          <a:prstGeom prst="line">
            <a:avLst/>
          </a:prstGeom>
          <a:noFill/>
          <a:ln w="38100">
            <a:solidFill>
              <a:srgbClr val="D9482B"/>
            </a:solidFill>
            <a:prstDash val="solid"/>
            <a:tailEnd type="triangle"/>
          </a:ln>
        </p:spPr>
        <p:txBody>
          <a:bodyPr/>
          <a:lstStyle/>
          <a:p>
            <a:endParaRPr lang="en-KR"/>
          </a:p>
        </p:txBody>
      </p:sp>
      <p:sp>
        <p:nvSpPr>
          <p:cNvPr id="32" name="Text 30"/>
          <p:cNvSpPr txBox="1"/>
          <p:nvPr/>
        </p:nvSpPr>
        <p:spPr>
          <a:xfrm>
            <a:off x="5486400" y="2994660"/>
            <a:ext cx="1218895" cy="640080"/>
          </a:xfrm>
          <a:prstGeom prst="rect">
            <a:avLst/>
          </a:prstGeom>
          <a:noFill/>
          <a:ln/>
        </p:spPr>
        <p:txBody>
          <a:bodyPr wrap="square" lIns="0" tIns="0" rIns="0" bIns="0" rtlCol="0" anchor="t"/>
          <a:lstStyle/>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2820708373"/>
              </p:ext>
            </p:extLst>
          </p:nvPr>
        </p:nvGraphicFramePr>
        <p:xfrm>
          <a:off x="548640" y="1508760"/>
          <a:ext cx="11094415" cy="3803904"/>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buNone/>
                      </a:pP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휘는 4절 </a:t>
                      </a:r>
                      <a:r>
                        <a:rPr lang="en-US" sz="1200" dirty="0" err="1">
                          <a:solidFill>
                            <a:srgbClr val="444A54"/>
                          </a:solidFill>
                          <a:latin typeface="Apple SD Gothic Neo" pitchFamily="34" charset="0"/>
                          <a:ea typeface="Apple SD Gothic Neo" pitchFamily="34" charset="-122"/>
                          <a:cs typeface="Apple SD Gothic Neo" pitchFamily="34" charset="-120"/>
                        </a:rPr>
                        <a:t>링크</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KR" sz="1200" dirty="0">
                          <a:solidFill>
                            <a:srgbClr val="444A54"/>
                          </a:solidFill>
                          <a:latin typeface="Apple SD Gothic Neo" pitchFamily="34" charset="0"/>
                          <a:ea typeface="Apple SD Gothic Neo" pitchFamily="34" charset="-122"/>
                          <a:cs typeface="Apple SD Gothic Neo" pitchFamily="34" charset="-120"/>
                        </a:rPr>
                        <a:t>Compliant Mechanism</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US" sz="1200" dirty="0">
                          <a:solidFill>
                            <a:srgbClr val="444A54"/>
                          </a:solidFill>
                          <a:latin typeface="Apple SD Gothic Neo" pitchFamily="34" charset="0"/>
                          <a:ea typeface="Apple SD Gothic Neo" pitchFamily="34" charset="-122"/>
                          <a:cs typeface="Apple SD Gothic Neo" pitchFamily="34" charset="-120"/>
                        </a:rPr>
                        <a:t> + 무게 레버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a:t>
                      </a:r>
                      <a:r>
                        <a:rPr lang="en-US" sz="1200" b="1" dirty="0" err="1">
                          <a:solidFill>
                            <a:srgbClr val="16181D"/>
                          </a:solidFill>
                          <a:latin typeface="Apple SD Gothic Neo" pitchFamily="34" charset="0"/>
                          <a:ea typeface="Apple SD Gothic Neo" pitchFamily="34" charset="-122"/>
                          <a:cs typeface="Apple SD Gothic Neo" pitchFamily="34" charset="-120"/>
                        </a:rPr>
                        <a:t>무게</a:t>
                      </a:r>
                      <a:r>
                        <a:rPr lang="en-US" sz="1200" b="1" dirty="0">
                          <a:solidFill>
                            <a:srgbClr val="16181D"/>
                          </a:solidFill>
                          <a:latin typeface="Apple SD Gothic Neo" pitchFamily="34" charset="0"/>
                          <a:ea typeface="Apple SD Gothic Neo" pitchFamily="34" charset="-122"/>
                          <a:cs typeface="Apple SD Gothic Neo" pitchFamily="34" charset="-120"/>
                        </a:rPr>
                        <a:t> </a:t>
                      </a:r>
                      <a:r>
                        <a:rPr lang="en-US" sz="1200" b="1" dirty="0" err="1">
                          <a:solidFill>
                            <a:srgbClr val="16181D"/>
                          </a:solidFill>
                          <a:latin typeface="Apple SD Gothic Neo" pitchFamily="34" charset="0"/>
                          <a:ea typeface="Apple SD Gothic Neo" pitchFamily="34" charset="-122"/>
                          <a:cs typeface="Apple SD Gothic Neo" pitchFamily="34" charset="-120"/>
                        </a:rPr>
                        <a:t>레</a:t>
                      </a:r>
                      <a:r>
                        <a:rPr lang="ko-KR" altLang="en-US" sz="1200" b="1" dirty="0" err="1">
                          <a:solidFill>
                            <a:srgbClr val="16181D"/>
                          </a:solidFill>
                          <a:latin typeface="Apple SD Gothic Neo" pitchFamily="34" charset="0"/>
                          <a:ea typeface="Apple SD Gothic Neo" pitchFamily="34" charset="-122"/>
                          <a:cs typeface="Apple SD Gothic Neo" pitchFamily="34" charset="-120"/>
                        </a:rPr>
                        <a:t>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a:t>
                      </a:r>
                      <a:r>
                        <a:rPr lang="en-US" sz="1200" dirty="0" err="1">
                          <a:solidFill>
                            <a:srgbClr val="444A54"/>
                          </a:solidFill>
                          <a:latin typeface="Apple SD Gothic Neo" pitchFamily="34" charset="0"/>
                          <a:ea typeface="Apple SD Gothic Neo" pitchFamily="34" charset="-122"/>
                          <a:cs typeface="Apple SD Gothic Neo" pitchFamily="34" charset="-120"/>
                        </a:rPr>
                        <a:t>반사</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dirty="0" err="1">
                          <a:solidFill>
                            <a:srgbClr val="444A54"/>
                          </a:solidFill>
                          <a:latin typeface="Apple SD Gothic Neo" pitchFamily="34" charset="0"/>
                          <a:ea typeface="Apple SD Gothic Neo" pitchFamily="34" charset="-122"/>
                          <a:cs typeface="Apple SD Gothic Neo" pitchFamily="34" charset="-120"/>
                        </a:rPr>
                        <a:t>센서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a:t>
                      </a:r>
                      <a:r>
                        <a:rPr lang="en-US" sz="1200" b="1" dirty="0" err="1">
                          <a:solidFill>
                            <a:srgbClr val="16181D"/>
                          </a:solidFill>
                          <a:latin typeface="Apple SD Gothic Neo" pitchFamily="34" charset="0"/>
                          <a:ea typeface="Apple SD Gothic Neo" pitchFamily="34" charset="-122"/>
                          <a:cs typeface="Apple SD Gothic Neo" pitchFamily="34" charset="-120"/>
                        </a:rPr>
                        <a:t>자석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err="1">
                          <a:solidFill>
                            <a:srgbClr val="16181D"/>
                          </a:solidFill>
                          <a:latin typeface="Apple SD Gothic Neo" pitchFamily="34" charset="0"/>
                          <a:ea typeface="Apple SD Gothic Neo" pitchFamily="34" charset="-122"/>
                          <a:cs typeface="Apple SD Gothic Neo" pitchFamily="34" charset="-120"/>
                        </a:rPr>
                        <a:t>납땜</a:t>
                      </a:r>
                      <a:r>
                        <a:rPr lang="en-US" sz="1200" b="1" dirty="0">
                          <a:solidFill>
                            <a:srgbClr val="16181D"/>
                          </a:solidFill>
                          <a:latin typeface="Apple SD Gothic Neo" pitchFamily="34" charset="0"/>
                          <a:ea typeface="Apple SD Gothic Neo" pitchFamily="34" charset="-122"/>
                          <a:cs typeface="Apple SD Gothic Neo" pitchFamily="34" charset="-120"/>
                        </a:rPr>
                        <a:t>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r>
              <a:rPr lang="ko-KR" altLang="en-US" sz="1300" b="1" dirty="0">
                <a:solidFill>
                  <a:srgbClr val="D9482B"/>
                </a:solidFill>
                <a:latin typeface="Apple SD Gothic Neo" pitchFamily="34" charset="0"/>
                <a:ea typeface="Apple SD Gothic Neo" pitchFamily="34" charset="-122"/>
                <a:cs typeface="Apple SD Gothic Neo" pitchFamily="34" charset="-120"/>
              </a:rPr>
              <a:t>참고 </a:t>
            </a:r>
            <a:r>
              <a:rPr lang="en-US" sz="1300" b="1" dirty="0" err="1">
                <a:solidFill>
                  <a:srgbClr val="D9482B"/>
                </a:solidFill>
                <a:latin typeface="Apple SD Gothic Neo" pitchFamily="34" charset="0"/>
                <a:ea typeface="Apple SD Gothic Neo" pitchFamily="34" charset="-122"/>
                <a:cs typeface="Apple SD Gothic Neo" pitchFamily="34" charset="-120"/>
              </a:rPr>
              <a:t>영상</a:t>
            </a:r>
            <a:r>
              <a:rPr lang="en-US" sz="1300" b="1" dirty="0">
                <a:solidFill>
                  <a:srgbClr val="D9482B"/>
                </a:solidFill>
                <a:latin typeface="Apple SD Gothic Neo" pitchFamily="34" charset="0"/>
                <a:ea typeface="Apple SD Gothic Neo" pitchFamily="34" charset="-122"/>
                <a:cs typeface="Apple SD Gothic Neo" pitchFamily="34" charset="-120"/>
              </a:rPr>
              <a:t> :  </a:t>
            </a:r>
            <a:r>
              <a:rPr lang="en-US" sz="1300" dirty="0">
                <a:solidFill>
                  <a:srgbClr val="444A54"/>
                </a:solidFill>
                <a:latin typeface="Apple SD Gothic Neo" pitchFamily="34" charset="0"/>
                <a:ea typeface="Apple SD Gothic Neo" pitchFamily="34" charset="-122"/>
                <a:cs typeface="Apple SD Gothic Neo" pitchFamily="34" charset="-120"/>
                <a:hlinkClick r:id="rId3"/>
              </a:rPr>
              <a:t>https://www.youtube.com/watch?v=BAQskCuPaeY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a:t>
            </a:r>
            <a:r>
              <a:rPr lang="en-US" altLang="ko-KR" sz="1250" dirty="0">
                <a:solidFill>
                  <a:srgbClr val="444A54"/>
                </a:solidFill>
                <a:latin typeface="Apple SD Gothic Neo" pitchFamily="34" charset="0"/>
                <a:ea typeface="Apple SD Gothic Neo" pitchFamily="34" charset="-122"/>
                <a:cs typeface="Apple SD Gothic Neo" pitchFamily="34" charset="-120"/>
              </a:rPr>
              <a:t>MUX</a:t>
            </a:r>
            <a:r>
              <a:rPr lang="en-US" sz="1250" dirty="0">
                <a:solidFill>
                  <a:srgbClr val="444A54"/>
                </a:solidFill>
                <a:latin typeface="Apple SD Gothic Neo" pitchFamily="34" charset="0"/>
                <a:ea typeface="Apple SD Gothic Neo" pitchFamily="34" charset="-122"/>
                <a:cs typeface="Apple SD Gothic Neo" pitchFamily="34" charset="-120"/>
              </a:rPr>
              <a:t>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20240"/>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6766560" y="4233672"/>
            <a:ext cx="2103120" cy="301752"/>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모니터 · TV</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marL="0" indent="0" algn="ctr">
              <a:buNone/>
            </a:pPr>
            <a:r>
              <a:rPr lang="en-US" sz="1150" dirty="0">
                <a:solidFill>
                  <a:srgbClr val="444A54"/>
                </a:solidFill>
                <a:latin typeface="Apple SD Gothic Neo" pitchFamily="34" charset="0"/>
                <a:ea typeface="Apple SD Gothic Neo" pitchFamily="34" charset="-122"/>
                <a:cs typeface="Apple SD Gothic Neo" pitchFamily="34" charset="-120"/>
              </a:rPr>
              <a:t>리듬게임 화면 (2단계)</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txBody>
          <a:bodyPr/>
          <a:lstStyle/>
          <a:p>
            <a:endParaRPr lang="en-KR"/>
          </a:p>
        </p:txBody>
      </p:sp>
      <p:sp>
        <p:nvSpPr>
          <p:cNvPr id="23" name="Text 21"/>
          <p:cNvSpPr txBox="1"/>
          <p:nvPr/>
        </p:nvSpPr>
        <p:spPr>
          <a:xfrm>
            <a:off x="7863840" y="3776472"/>
            <a:ext cx="73152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HDMI</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5" name="Text 23"/>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9" name="Text 27"/>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33" name="Text 31"/>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7" name="Text 35"/>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3438144" y="2395728"/>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43" name="Text 41"/>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5" name="Text 43"/>
          <p:cNvSpPr txBox="1"/>
          <p:nvPr/>
        </p:nvSpPr>
        <p:spPr>
          <a:xfrm>
            <a:off x="6035040" y="2395728"/>
            <a:ext cx="54864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7" name="Text 45"/>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9" name="Text 47"/>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52" name="Text 50"/>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54" name="Text 52"/>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6" name="Text 54"/>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본체</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구성</a:t>
            </a:r>
            <a:endParaRPr lang="en-US" sz="2800" dirty="0"/>
          </a:p>
        </p:txBody>
      </p:sp>
      <p:pic>
        <p:nvPicPr>
          <p:cNvPr id="7" name="Image 0" descr="/private/tmp/claude-501/-Users-kwg-Desktop-mydrive-project-Toccata/78323d34-2a2b-4f50-ae4c-82ce3905c7c6/scratchpad/ppt4/assets/w_plan.png"/>
          <p:cNvPicPr>
            <a:picLocks noChangeAspect="1"/>
          </p:cNvPicPr>
          <p:nvPr/>
        </p:nvPicPr>
        <p:blipFill>
          <a:blip r:embed="rId3"/>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설계 도면 11에서 발췌, 단위 mm) — 구역 이름은 오른쪽 목록 참고</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410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1.39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marL="0" indent="0">
              <a:buNone/>
            </a:pPr>
            <a:r>
              <a:rPr lang="ko-KR" altLang="en-US" sz="2000" b="1" dirty="0">
                <a:solidFill>
                  <a:srgbClr val="D9482B"/>
                </a:solidFill>
                <a:latin typeface="Apple SD Gothic Neo" pitchFamily="34" charset="0"/>
                <a:ea typeface="Apple SD Gothic Neo" pitchFamily="34" charset="-122"/>
                <a:cs typeface="Apple SD Gothic Neo" pitchFamily="34" charset="-120"/>
              </a:rPr>
              <a:t>파트 간 납땜 없음</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80010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800100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800100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8001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배터리 칸</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80010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a:t>
            </a:r>
            <a:r>
              <a:rPr lang="en-US" sz="2800" b="1" dirty="0" err="1">
                <a:solidFill>
                  <a:srgbClr val="16181D"/>
                </a:solidFill>
                <a:latin typeface="Apple SD Gothic Neo" pitchFamily="34" charset="0"/>
                <a:ea typeface="Apple SD Gothic Neo" pitchFamily="34" charset="-122"/>
                <a:cs typeface="Apple SD Gothic Neo" pitchFamily="34" charset="-120"/>
              </a:rPr>
              <a:t>무게</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레</a:t>
            </a:r>
            <a:r>
              <a:rPr lang="ko-KR" altLang="en-US" sz="2800" b="1" dirty="0" err="1">
                <a:solidFill>
                  <a:srgbClr val="16181D"/>
                </a:solidFill>
                <a:latin typeface="Apple SD Gothic Neo" pitchFamily="34" charset="0"/>
                <a:ea typeface="Apple SD Gothic Neo" pitchFamily="34" charset="-122"/>
                <a:cs typeface="Apple SD Gothic Neo" pitchFamily="34" charset="-120"/>
              </a:rPr>
              <a:t>버</a:t>
            </a:r>
            <a:endParaRPr lang="en-US" sz="2800" dirty="0"/>
          </a:p>
        </p:txBody>
      </p:sp>
      <p:pic>
        <p:nvPicPr>
          <p:cNvPr id="7" name="Image 0" descr="/private/tmp/claude-501/-Users-kwg-Desktop-mydrive-project-Toccata/78323d34-2a2b-4f50-ae4c-82ce3905c7c6/scratchpad/ppt4/assets/w_side.png"/>
          <p:cNvPicPr>
            <a:picLocks noChangeAspect="1"/>
          </p:cNvPicPr>
          <p:nvPr/>
        </p:nvPicPr>
        <p:blipFill>
          <a:blip r:embed="rId3"/>
          <a:stretch>
            <a:fillRect/>
          </a:stretch>
        </p:blipFill>
        <p:spPr>
          <a:xfrm>
            <a:off x="548640" y="1371600"/>
            <a:ext cx="6903720" cy="3259267"/>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r4.3 설계 도면 1) — 실선: </a:t>
            </a:r>
            <a:r>
              <a:rPr lang="ko-KR" altLang="en-US" sz="1000" dirty="0">
                <a:solidFill>
                  <a:srgbClr val="767D88"/>
                </a:solidFill>
                <a:latin typeface="Apple SD Gothic Neo" pitchFamily="34" charset="0"/>
                <a:ea typeface="Apple SD Gothic Neo" pitchFamily="34" charset="-122"/>
                <a:cs typeface="Apple SD Gothic Neo" pitchFamily="34" charset="-120"/>
              </a:rPr>
              <a:t>일반</a:t>
            </a:r>
            <a:r>
              <a:rPr lang="en-US" sz="1000" dirty="0">
                <a:solidFill>
                  <a:srgbClr val="767D88"/>
                </a:solidFill>
                <a:latin typeface="Apple SD Gothic Neo" pitchFamily="34" charset="0"/>
                <a:ea typeface="Apple SD Gothic Neo" pitchFamily="34" charset="-122"/>
                <a:cs typeface="Apple SD Gothic Neo" pitchFamily="34" charset="-120"/>
              </a:rPr>
              <a:t> 상태, 주황 점선: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a:t>
            </a:r>
            <a:r>
              <a:rPr lang="en-US" sz="1150" dirty="0" err="1">
                <a:solidFill>
                  <a:srgbClr val="444A54"/>
                </a:solidFill>
                <a:latin typeface="Apple SD Gothic Neo" pitchFamily="34" charset="0"/>
                <a:ea typeface="Apple SD Gothic Neo" pitchFamily="34" charset="-122"/>
                <a:cs typeface="Apple SD Gothic Neo" pitchFamily="34" charset="-120"/>
              </a:rPr>
              <a:t>시소처럼</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동작</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a:t>
            </a:r>
            <a:r>
              <a:rPr lang="en-US" sz="1150" dirty="0" err="1">
                <a:solidFill>
                  <a:srgbClr val="444A54"/>
                </a:solidFill>
                <a:latin typeface="Apple SD Gothic Neo" pitchFamily="34" charset="0"/>
                <a:ea typeface="Apple SD Gothic Neo" pitchFamily="34" charset="-122"/>
                <a:cs typeface="Apple SD Gothic Neo" pitchFamily="34" charset="-120"/>
              </a:rPr>
              <a:t>레버를</a:t>
            </a:r>
            <a:r>
              <a:rPr lang="en-US" sz="1150" dirty="0">
                <a:solidFill>
                  <a:srgbClr val="444A54"/>
                </a:solidFill>
                <a:latin typeface="Apple SD Gothic Neo" pitchFamily="34" charset="0"/>
                <a:ea typeface="Apple SD Gothic Neo" pitchFamily="34" charset="-122"/>
                <a:cs typeface="Apple SD Gothic Neo" pitchFamily="34" charset="-120"/>
              </a:rPr>
              <a:t> </a:t>
            </a:r>
          </a:p>
          <a:p>
            <a:pPr marL="0" indent="0">
              <a:lnSpc>
                <a:spcPct val="110000"/>
              </a:lnSpc>
              <a:buNone/>
            </a:pPr>
            <a:r>
              <a:rPr lang="en-US" sz="1150" dirty="0" err="1">
                <a:solidFill>
                  <a:srgbClr val="444A54"/>
                </a:solidFill>
                <a:latin typeface="Apple SD Gothic Neo" pitchFamily="34" charset="0"/>
                <a:ea typeface="Apple SD Gothic Neo" pitchFamily="34" charset="-122"/>
                <a:cs typeface="Apple SD Gothic Neo" pitchFamily="34" charset="-120"/>
              </a:rPr>
              <a:t>들어</a:t>
            </a:r>
            <a:r>
              <a:rPr lang="ko-KR" altLang="en-US" sz="1150" dirty="0">
                <a:solidFill>
                  <a:srgbClr val="444A54"/>
                </a:solidFill>
                <a:latin typeface="Apple SD Gothic Neo" pitchFamily="34" charset="0"/>
                <a:ea typeface="Apple SD Gothic Neo" pitchFamily="34" charset="-122"/>
                <a:cs typeface="Apple SD Gothic Neo" pitchFamily="34" charset="-120"/>
              </a:rPr>
              <a:t>올리는 구조</a:t>
            </a:r>
            <a:br>
              <a:rPr lang="en-US" sz="1150" dirty="0">
                <a:solidFill>
                  <a:srgbClr val="444A54"/>
                </a:solidFill>
                <a:latin typeface="Apple SD Gothic Neo" pitchFamily="34" charset="0"/>
                <a:ea typeface="Apple SD Gothic Neo" pitchFamily="34" charset="-122"/>
                <a:cs typeface="Apple SD Gothic Neo" pitchFamily="34" charset="-120"/>
              </a:rPr>
            </a:br>
            <a:r>
              <a:rPr lang="en-US" sz="1150" dirty="0">
                <a:solidFill>
                  <a:srgbClr val="444A54"/>
                </a:solidFill>
                <a:latin typeface="Apple SD Gothic Neo" pitchFamily="34" charset="0"/>
                <a:ea typeface="Apple SD Gothic Neo" pitchFamily="34" charset="-122"/>
                <a:cs typeface="Apple SD Gothic Neo" pitchFamily="34" charset="-120"/>
              </a:rPr>
              <a:t>(</a:t>
            </a:r>
            <a:r>
              <a:rPr lang="ko-KR" altLang="en-US" sz="1150" dirty="0">
                <a:solidFill>
                  <a:srgbClr val="444A54"/>
                </a:solidFill>
                <a:latin typeface="Apple SD Gothic Neo" pitchFamily="34" charset="0"/>
                <a:ea typeface="Apple SD Gothic Neo" pitchFamily="34" charset="-122"/>
                <a:cs typeface="Apple SD Gothic Neo" pitchFamily="34" charset="-120"/>
              </a:rPr>
              <a:t>기존 피아노의 해머 구조에서 착안</a:t>
            </a:r>
            <a:r>
              <a:rPr lang="en-US" sz="1150" dirty="0">
                <a:solidFill>
                  <a:srgbClr val="444A54"/>
                </a:solidFill>
                <a:latin typeface="Apple SD Gothic Neo" pitchFamily="34" charset="0"/>
                <a:ea typeface="Apple SD Gothic Neo" pitchFamily="34" charset="-122"/>
                <a:cs typeface="Apple SD Gothic Neo" pitchFamily="34" charset="-120"/>
              </a:rPr>
              <a:t>)</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a:t>
            </a:r>
            <a:r>
              <a:rPr lang="en-US" sz="1150" dirty="0" err="1">
                <a:solidFill>
                  <a:srgbClr val="444A54"/>
                </a:solidFill>
                <a:latin typeface="Apple SD Gothic Neo" pitchFamily="34" charset="0"/>
                <a:ea typeface="Apple SD Gothic Neo" pitchFamily="34" charset="-122"/>
                <a:cs typeface="Apple SD Gothic Neo" pitchFamily="34" charset="-120"/>
              </a:rPr>
              <a:t>건반을</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되돌리며 원상태로 복구</a:t>
            </a:r>
            <a:endParaRPr lang="en-US" altLang="ko-KR" sz="1150" dirty="0">
              <a:solidFill>
                <a:srgbClr val="444A54"/>
              </a:solidFill>
              <a:latin typeface="Apple SD Gothic Neo" pitchFamily="34" charset="0"/>
              <a:ea typeface="Apple SD Gothic Neo" pitchFamily="34" charset="-122"/>
              <a:cs typeface="Apple SD Gothic Neo" pitchFamily="34" charset="-120"/>
            </a:endParaRPr>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0" y="5532120"/>
            <a:ext cx="2328139"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a:t>
            </a:r>
            <a:r>
              <a:rPr lang="en-US" sz="1150" dirty="0" err="1">
                <a:solidFill>
                  <a:srgbClr val="444A54"/>
                </a:solidFill>
                <a:latin typeface="Apple SD Gothic Neo" pitchFamily="34" charset="0"/>
                <a:ea typeface="Apple SD Gothic Neo" pitchFamily="34" charset="-122"/>
                <a:cs typeface="Apple SD Gothic Neo" pitchFamily="34" charset="-120"/>
              </a:rPr>
              <a:t>홀센서가</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읽</a:t>
            </a:r>
            <a:r>
              <a:rPr lang="ko-KR" altLang="en-US" sz="1150" dirty="0">
                <a:solidFill>
                  <a:srgbClr val="444A54"/>
                </a:solidFill>
                <a:latin typeface="Apple SD Gothic Neo" pitchFamily="34" charset="0"/>
                <a:ea typeface="Apple SD Gothic Neo" pitchFamily="34" charset="-122"/>
                <a:cs typeface="Apple SD Gothic Neo" pitchFamily="34" charset="-120"/>
              </a:rPr>
              <a:t>어 건반 위치를 아날로그 전압으로 연속 측정</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88620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7581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50%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1696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4439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a:t>
            </a:r>
            <a:r>
              <a:rPr lang="en-US" sz="1300" dirty="0" err="1">
                <a:solidFill>
                  <a:srgbClr val="444A54"/>
                </a:solidFill>
                <a:latin typeface="Apple SD Gothic Neo" pitchFamily="34" charset="0"/>
                <a:ea typeface="Apple SD Gothic Neo" pitchFamily="34" charset="-122"/>
                <a:cs typeface="Apple SD Gothic Neo" pitchFamily="34" charset="-120"/>
              </a:rPr>
              <a:t>시소처럼</a:t>
            </a:r>
            <a:r>
              <a:rPr lang="en-US" sz="1300" dirty="0">
                <a:solidFill>
                  <a:srgbClr val="444A54"/>
                </a:solidFill>
                <a:latin typeface="Apple SD Gothic Neo" pitchFamily="34" charset="0"/>
                <a:ea typeface="Apple SD Gothic Neo" pitchFamily="34" charset="-122"/>
                <a:cs typeface="Apple SD Gothic Neo" pitchFamily="34" charset="-120"/>
              </a:rPr>
              <a:t> </a:t>
            </a:r>
            <a:r>
              <a:rPr lang="ko-KR" altLang="en-US" sz="1300" dirty="0">
                <a:solidFill>
                  <a:srgbClr val="444A54"/>
                </a:solidFill>
                <a:latin typeface="Apple SD Gothic Neo" pitchFamily="34" charset="0"/>
                <a:ea typeface="Apple SD Gothic Neo" pitchFamily="34" charset="-122"/>
                <a:cs typeface="Apple SD Gothic Neo" pitchFamily="34" charset="-120"/>
              </a:rPr>
              <a:t>내려가면서</a:t>
            </a:r>
            <a:r>
              <a:rPr lang="en-US" sz="1300" dirty="0">
                <a:solidFill>
                  <a:srgbClr val="444A54"/>
                </a:solidFill>
                <a:latin typeface="Apple SD Gothic Neo" pitchFamily="34" charset="0"/>
                <a:ea typeface="Apple SD Gothic Neo" pitchFamily="34" charset="-122"/>
                <a:cs typeface="Apple SD Gothic Neo" pitchFamily="34" charset="-120"/>
              </a:rPr>
              <a:t> 밑면 자석이 아래 홀센서 </a:t>
            </a:r>
            <a:r>
              <a:rPr lang="en-US" sz="1300" dirty="0" err="1">
                <a:solidFill>
                  <a:srgbClr val="444A54"/>
                </a:solidFill>
                <a:latin typeface="Apple SD Gothic Neo" pitchFamily="34" charset="0"/>
                <a:ea typeface="Apple SD Gothic Neo" pitchFamily="34" charset="-122"/>
                <a:cs typeface="Apple SD Gothic Neo" pitchFamily="34" charset="-120"/>
              </a:rPr>
              <a:t>쪽으로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다가</a:t>
            </a:r>
            <a:r>
              <a:rPr lang="ko-KR" altLang="en-US" sz="1300" dirty="0">
                <a:solidFill>
                  <a:srgbClr val="444A54"/>
                </a:solidFill>
                <a:latin typeface="Apple SD Gothic Neo" pitchFamily="34" charset="0"/>
                <a:ea typeface="Apple SD Gothic Neo" pitchFamily="34" charset="-122"/>
                <a:cs typeface="Apple SD Gothic Neo" pitchFamily="34" charset="-120"/>
              </a:rPr>
              <a:t>감</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MUX로 12건반을 차례로 읽음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 계산. 무게 레버가 튀어 생긴 가짜 재타건은 펌웨어가 걸러냄</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a:t>
            </a:r>
            <a:r>
              <a:rPr lang="en-US" sz="1300" dirty="0" err="1">
                <a:solidFill>
                  <a:srgbClr val="444A54"/>
                </a:solidFill>
                <a:latin typeface="Apple SD Gothic Neo" pitchFamily="34" charset="0"/>
                <a:ea typeface="Apple SD Gothic Neo" pitchFamily="34" charset="-122"/>
                <a:cs typeface="Apple SD Gothic Neo" pitchFamily="34" charset="-120"/>
              </a:rPr>
              <a:t>보</a:t>
            </a:r>
            <a:r>
              <a:rPr lang="ko-KR" altLang="en-US" sz="1300" dirty="0">
                <a:solidFill>
                  <a:srgbClr val="444A54"/>
                </a:solidFill>
                <a:latin typeface="Apple SD Gothic Neo" pitchFamily="34" charset="0"/>
                <a:ea typeface="Apple SD Gothic Neo" pitchFamily="34" charset="-122"/>
                <a:cs typeface="Apple SD Gothic Neo" pitchFamily="34" charset="-120"/>
              </a:rPr>
              <a:t>내 입력 정보를 제공</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a:t>
            </a:r>
            <a:r>
              <a:rPr lang="en-US" sz="1300" dirty="0" err="1">
                <a:solidFill>
                  <a:srgbClr val="444A54"/>
                </a:solidFill>
                <a:latin typeface="Apple SD Gothic Neo" pitchFamily="34" charset="0"/>
                <a:ea typeface="Apple SD Gothic Neo" pitchFamily="34" charset="-122"/>
                <a:cs typeface="Apple SD Gothic Neo" pitchFamily="34" charset="-120"/>
              </a:rPr>
              <a:t>입력으로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받</a:t>
            </a:r>
            <a:r>
              <a:rPr lang="ko-KR" altLang="en-US" sz="1300" dirty="0">
                <a:solidFill>
                  <a:srgbClr val="444A54"/>
                </a:solidFill>
                <a:latin typeface="Apple SD Gothic Neo" pitchFamily="34" charset="0"/>
                <a:ea typeface="Apple SD Gothic Neo" pitchFamily="34" charset="-122"/>
                <a:cs typeface="Apple SD Gothic Neo" pitchFamily="34" charset="-120"/>
              </a:rPr>
              <a:t>음</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①</a:t>
            </a:r>
            <a:r>
              <a:rPr lang="ko-KR" altLang="en-US" sz="2800" b="1" dirty="0">
                <a:solidFill>
                  <a:srgbClr val="16181D"/>
                </a:solidFill>
                <a:latin typeface="Apple SD Gothic Neo" pitchFamily="34" charset="0"/>
                <a:ea typeface="Apple SD Gothic Neo" pitchFamily="34" charset="-122"/>
                <a:cs typeface="Apple SD Gothic Neo" pitchFamily="34" charset="-120"/>
              </a:rPr>
              <a:t> </a:t>
            </a:r>
            <a:endParaRPr lang="en-US" sz="2800" dirty="0"/>
          </a:p>
        </p:txBody>
      </p:sp>
      <p:pic>
        <p:nvPicPr>
          <p:cNvPr id="7" name="Image 0" descr="/private/tmp/claude-501/-Users-kwg-Desktop-mydrive-project-Toccata/78323d34-2a2b-4f50-ae4c-82ce3905c7c6/scratchpad/ppt4/assets/c_sch01.png"/>
          <p:cNvPicPr>
            <a:picLocks noChangeAspect="1"/>
          </p:cNvPicPr>
          <p:nvPr/>
        </p:nvPicPr>
        <p:blipFill>
          <a:blip r:embed="rId3"/>
          <a:stretch>
            <a:fillRect/>
          </a:stretch>
        </p:blipFill>
        <p:spPr>
          <a:xfrm>
            <a:off x="2895905" y="1298448"/>
            <a:ext cx="6400800" cy="3022092"/>
          </a:xfrm>
          <a:prstGeom prst="rect">
            <a:avLst/>
          </a:prstGeom>
        </p:spPr>
      </p:pic>
      <p:sp>
        <p:nvSpPr>
          <p:cNvPr id="8" name="Text 5"/>
          <p:cNvSpPr txBox="1"/>
          <p:nvPr/>
        </p:nvSpPr>
        <p:spPr>
          <a:xfrm>
            <a:off x="2895905" y="4352544"/>
            <a:ext cx="635508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SCH-01 </a:t>
            </a:r>
            <a:r>
              <a:rPr lang="en-US" sz="1000" dirty="0" err="1">
                <a:solidFill>
                  <a:srgbClr val="767D88"/>
                </a:solidFill>
                <a:latin typeface="Apple SD Gothic Neo" pitchFamily="34" charset="0"/>
                <a:ea typeface="Apple SD Gothic Neo" pitchFamily="34" charset="-122"/>
                <a:cs typeface="Apple SD Gothic Neo" pitchFamily="34" charset="-120"/>
              </a:rPr>
              <a:t>시스템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연결도</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363010191"/>
              </p:ext>
            </p:extLst>
          </p:nvPr>
        </p:nvGraphicFramePr>
        <p:xfrm>
          <a:off x="1588313" y="4645152"/>
          <a:ext cx="9015238" cy="1672422"/>
        </p:xfrm>
        <a:graphic>
          <a:graphicData uri="http://schemas.openxmlformats.org/drawingml/2006/table">
            <a:tbl>
              <a:tblPr/>
              <a:tblGrid>
                <a:gridCol w="2010593">
                  <a:extLst>
                    <a:ext uri="{9D8B030D-6E8A-4147-A177-3AD203B41FA5}">
                      <a16:colId xmlns:a16="http://schemas.microsoft.com/office/drawing/2014/main" val="20000"/>
                    </a:ext>
                  </a:extLst>
                </a:gridCol>
                <a:gridCol w="972867">
                  <a:extLst>
                    <a:ext uri="{9D8B030D-6E8A-4147-A177-3AD203B41FA5}">
                      <a16:colId xmlns:a16="http://schemas.microsoft.com/office/drawing/2014/main" val="20001"/>
                    </a:ext>
                  </a:extLst>
                </a:gridCol>
                <a:gridCol w="6031778">
                  <a:extLst>
                    <a:ext uri="{9D8B030D-6E8A-4147-A177-3AD203B41FA5}">
                      <a16:colId xmlns:a16="http://schemas.microsoft.com/office/drawing/2014/main" val="20002"/>
                    </a:ext>
                  </a:extLst>
                </a:gridCol>
              </a:tblGrid>
              <a:tr h="278737">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a:t>
                      </a:r>
                      <a:r>
                        <a:rPr lang="en-US" sz="1050" dirty="0" err="1">
                          <a:solidFill>
                            <a:srgbClr val="444A54"/>
                          </a:solidFill>
                          <a:latin typeface="Apple SD Gothic Neo" pitchFamily="34" charset="0"/>
                          <a:ea typeface="Apple SD Gothic Neo" pitchFamily="34" charset="-122"/>
                          <a:cs typeface="Apple SD Gothic Neo" pitchFamily="34" charset="-120"/>
                        </a:rPr>
                        <a:t>nF</a:t>
                      </a:r>
                      <a:r>
                        <a:rPr lang="en-US" sz="1050" dirty="0">
                          <a:solidFill>
                            <a:srgbClr val="444A54"/>
                          </a:solidFill>
                          <a:latin typeface="Apple SD Gothic Neo" pitchFamily="34" charset="0"/>
                          <a:ea typeface="Apple SD Gothic Neo" pitchFamily="34" charset="-122"/>
                          <a:cs typeface="Apple SD Gothic Neo" pitchFamily="34" charset="-120"/>
                        </a:rPr>
                        <a:t>,</a:t>
                      </a:r>
                      <a:r>
                        <a:rPr lang="ko-KR" alt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양</a:t>
                      </a:r>
                      <a:r>
                        <a:rPr lang="en-US" sz="1050" dirty="0">
                          <a:solidFill>
                            <a:srgbClr val="444A54"/>
                          </a:solidFill>
                          <a:latin typeface="Apple SD Gothic Neo" pitchFamily="34" charset="0"/>
                          <a:ea typeface="Apple SD Gothic Neo" pitchFamily="34" charset="-122"/>
                          <a:cs typeface="Apple SD Gothic Neo" pitchFamily="34" charset="-120"/>
                        </a:rPr>
                        <a:t>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 MUX, ID 점퍼 3개로 O1~O7 구분</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JST-XH 6핀으로 O1 · O7 제어 기판에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4/assets/c_sch02.png"/>
          <p:cNvPicPr>
            <a:picLocks noChangeAspect="1"/>
          </p:cNvPicPr>
          <p:nvPr/>
        </p:nvPicPr>
        <p:blipFill>
          <a:blip r:embed="rId3"/>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12개를 W1 자석 </a:t>
            </a:r>
            <a:r>
              <a:rPr lang="en-US" sz="1000" dirty="0" err="1">
                <a:solidFill>
                  <a:srgbClr val="767D88"/>
                </a:solidFill>
                <a:latin typeface="Apple SD Gothic Neo" pitchFamily="34" charset="0"/>
                <a:ea typeface="Apple SD Gothic Neo" pitchFamily="34" charset="-122"/>
                <a:cs typeface="Apple SD Gothic Neo" pitchFamily="34" charset="-120"/>
              </a:rPr>
              <a:t>바로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아래에</a:t>
            </a:r>
            <a:r>
              <a:rPr lang="en-US" sz="1000" dirty="0">
                <a:solidFill>
                  <a:srgbClr val="767D88"/>
                </a:solidFill>
                <a:latin typeface="Apple SD Gothic Neo" pitchFamily="34" charset="0"/>
                <a:ea typeface="Apple SD Gothic Neo" pitchFamily="34" charset="-122"/>
                <a:cs typeface="Apple SD Gothic Neo" pitchFamily="34" charset="-120"/>
              </a:rPr>
              <a:t> 한 줄로, 센서마다 100 </a:t>
            </a:r>
            <a:r>
              <a:rPr lang="en-US" sz="1000" dirty="0" err="1">
                <a:solidFill>
                  <a:srgbClr val="767D88"/>
                </a:solidFill>
                <a:latin typeface="Apple SD Gothic Neo" pitchFamily="34" charset="0"/>
                <a:ea typeface="Apple SD Gothic Neo" pitchFamily="34" charset="-122"/>
                <a:cs typeface="Apple SD Gothic Neo" pitchFamily="34" charset="-120"/>
              </a:rPr>
              <a:t>nF</a:t>
            </a:r>
            <a:r>
              <a:rPr lang="en-US" sz="1000" dirty="0">
                <a:solidFill>
                  <a:srgbClr val="767D88"/>
                </a:solidFill>
                <a:latin typeface="Apple SD Gothic Neo" pitchFamily="34" charset="0"/>
                <a:ea typeface="Apple SD Gothic Neo" pitchFamily="34" charset="-122"/>
                <a:cs typeface="Apple SD Gothic Neo" pitchFamily="34" charset="-120"/>
              </a:rPr>
              <a:t>,</a:t>
            </a:r>
            <a:r>
              <a:rPr lang="ko-KR" alt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양</a:t>
            </a:r>
            <a:r>
              <a:rPr lang="en-US" sz="1000" dirty="0">
                <a:solidFill>
                  <a:srgbClr val="767D88"/>
                </a:solidFill>
                <a:latin typeface="Apple SD Gothic Neo" pitchFamily="34" charset="0"/>
                <a:ea typeface="Apple SD Gothic Neo" pitchFamily="34" charset="-122"/>
                <a:cs typeface="Apple SD Gothic Neo" pitchFamily="34" charset="-120"/>
              </a:rPr>
              <a:t> 끝 10 µF</a:t>
            </a:r>
            <a:endParaRPr lang="en-US" sz="1000" dirty="0"/>
          </a:p>
        </p:txBody>
      </p:sp>
      <p:pic>
        <p:nvPicPr>
          <p:cNvPr id="9" name="Image 1" descr="/private/tmp/claude-501/-Users-kwg-Desktop-mydrive-project-Toccata/78323d34-2a2b-4f50-ae4c-82ce3905c7c6/scratchpad/ppt4/assets/c_sch03.png"/>
          <p:cNvPicPr>
            <a:picLocks noChangeAspect="1"/>
          </p:cNvPicPr>
          <p:nvPr/>
        </p:nvPicPr>
        <p:blipFill>
          <a:blip r:embed="rId4"/>
          <a:stretch>
            <a:fillRect/>
          </a:stretch>
        </p:blipFill>
        <p:spPr>
          <a:xfrm>
            <a:off x="548640" y="3611880"/>
            <a:ext cx="7589520" cy="2025982"/>
          </a:xfrm>
          <a:prstGeom prst="rect">
            <a:avLst/>
          </a:prstGeom>
        </p:spPr>
      </p:pic>
      <p:sp>
        <p:nvSpPr>
          <p:cNvPr id="10" name="Text 6"/>
          <p:cNvSpPr txBox="1"/>
          <p:nvPr/>
        </p:nvSpPr>
        <p:spPr>
          <a:xfrm>
            <a:off x="548640" y="5665294"/>
            <a:ext cx="7589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a:t>
            </a:r>
            <a:r>
              <a:rPr lang="en-US" sz="1000" dirty="0" err="1">
                <a:solidFill>
                  <a:srgbClr val="767D88"/>
                </a:solidFill>
                <a:latin typeface="Apple SD Gothic Neo" pitchFamily="34" charset="0"/>
                <a:ea typeface="Apple SD Gothic Neo" pitchFamily="34" charset="-122"/>
                <a:cs typeface="Apple SD Gothic Neo" pitchFamily="34" charset="-120"/>
              </a:rPr>
              <a:t>입력</a:t>
            </a:r>
            <a:r>
              <a:rPr lang="en-US" sz="1000" dirty="0">
                <a:solidFill>
                  <a:srgbClr val="767D88"/>
                </a:solidFill>
                <a:latin typeface="Apple SD Gothic Neo" pitchFamily="34" charset="0"/>
                <a:ea typeface="Apple SD Gothic Neo" pitchFamily="34" charset="-122"/>
                <a:cs typeface="Apple SD Gothic Neo" pitchFamily="34" charset="-120"/>
              </a:rPr>
              <a:t>, MUX, RP2040-Zero, ID 점퍼, EXT 풀다운</a:t>
            </a:r>
            <a:endParaRPr lang="en-US" sz="1000" dirty="0"/>
          </a:p>
        </p:txBody>
      </p:sp>
      <p:sp>
        <p:nvSpPr>
          <p:cNvPr id="11" name="Text 7"/>
          <p:cNvSpPr txBox="1"/>
          <p:nvPr/>
        </p:nvSpPr>
        <p:spPr>
          <a:xfrm>
            <a:off x="8412480" y="3611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22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a:t>
            </a:r>
            <a:r>
              <a:rPr lang="en-US" altLang="ko-KR" sz="1000" dirty="0">
                <a:solidFill>
                  <a:srgbClr val="444A54"/>
                </a:solidFill>
                <a:latin typeface="Apple SD Gothic Neo" pitchFamily="34" charset="0"/>
                <a:ea typeface="Apple SD Gothic Neo" pitchFamily="34" charset="-122"/>
                <a:cs typeface="Apple SD Gothic Neo" pitchFamily="34" charset="-120"/>
              </a:rPr>
              <a:t>MUX</a:t>
            </a:r>
            <a:r>
              <a:rPr lang="en-US" sz="1000" dirty="0">
                <a:solidFill>
                  <a:srgbClr val="444A54"/>
                </a:solidFill>
                <a:latin typeface="Apple SD Gothic Neo" pitchFamily="34" charset="0"/>
                <a:ea typeface="Apple SD Gothic Neo" pitchFamily="34" charset="-122"/>
                <a:cs typeface="Apple SD Gothic Neo" pitchFamily="34" charset="-120"/>
              </a:rPr>
              <a:t> → ADC(GP26)</a:t>
            </a:r>
            <a:endParaRPr lang="en-US" sz="1000" dirty="0"/>
          </a:p>
        </p:txBody>
      </p:sp>
      <p:sp>
        <p:nvSpPr>
          <p:cNvPr id="13" name="Text 9"/>
          <p:cNvSpPr txBox="1"/>
          <p:nvPr/>
        </p:nvSpPr>
        <p:spPr>
          <a:xfrm>
            <a:off x="8412480" y="40690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간격</a:t>
            </a:r>
            <a:endParaRPr lang="en-US" sz="1150" dirty="0"/>
          </a:p>
        </p:txBody>
      </p:sp>
      <p:sp>
        <p:nvSpPr>
          <p:cNvPr id="14" name="Text 10"/>
          <p:cNvSpPr txBox="1"/>
          <p:nvPr/>
        </p:nvSpPr>
        <p:spPr>
          <a:xfrm>
            <a:off x="8412480" y="42793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백건 10.8 → 5.6 mm, 흑건 13.4 → 5.3 mm</a:t>
            </a:r>
            <a:endParaRPr lang="en-US" sz="1000" dirty="0"/>
          </a:p>
        </p:txBody>
      </p:sp>
      <p:sp>
        <p:nvSpPr>
          <p:cNvPr id="15" name="Text 11"/>
          <p:cNvSpPr txBox="1"/>
          <p:nvPr/>
        </p:nvSpPr>
        <p:spPr>
          <a:xfrm>
            <a:off x="8412480" y="45262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백건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6" name="Text 12"/>
          <p:cNvSpPr txBox="1"/>
          <p:nvPr/>
        </p:nvSpPr>
        <p:spPr>
          <a:xfrm>
            <a:off x="8412480" y="47365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4 → 22 mT (ADC 2207 → 2862)</a:t>
            </a:r>
            <a:endParaRPr lang="en-US" sz="1000" dirty="0"/>
          </a:p>
        </p:txBody>
      </p:sp>
      <p:sp>
        <p:nvSpPr>
          <p:cNvPr id="17" name="Text 13"/>
          <p:cNvSpPr txBox="1"/>
          <p:nvPr/>
        </p:nvSpPr>
        <p:spPr>
          <a:xfrm>
            <a:off x="8412480" y="49834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흑건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8" name="Text 14"/>
          <p:cNvSpPr txBox="1"/>
          <p:nvPr/>
        </p:nvSpPr>
        <p:spPr>
          <a:xfrm>
            <a:off x="8412480" y="51937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2 → 25 mT · 최대 31 mT &lt; ±44 mT → A2 유지</a:t>
            </a:r>
            <a:endParaRPr lang="en-US" sz="1000" dirty="0"/>
          </a:p>
        </p:txBody>
      </p:sp>
      <p:sp>
        <p:nvSpPr>
          <p:cNvPr id="19" name="Text 15"/>
          <p:cNvSpPr txBox="1"/>
          <p:nvPr/>
        </p:nvSpPr>
        <p:spPr>
          <a:xfrm>
            <a:off x="8412480" y="54406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20" name="Text 16"/>
          <p:cNvSpPr txBox="1"/>
          <p:nvPr/>
        </p:nvSpPr>
        <p:spPr>
          <a:xfrm>
            <a:off x="8412480" y="56509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21" name="Text 17"/>
          <p:cNvSpPr txBox="1"/>
          <p:nvPr/>
        </p:nvSpPr>
        <p:spPr>
          <a:xfrm>
            <a:off x="8412480" y="5897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22" name="Text 18"/>
          <p:cNvSpPr txBox="1"/>
          <p:nvPr/>
        </p:nvSpPr>
        <p:spPr>
          <a:xfrm>
            <a:off x="8412480" y="6108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a:t>
            </a:r>
            <a:r>
              <a:rPr lang="en-US" sz="2800" b="1" dirty="0" err="1">
                <a:solidFill>
                  <a:srgbClr val="16181D"/>
                </a:solidFill>
                <a:latin typeface="Apple SD Gothic Neo" pitchFamily="34" charset="0"/>
                <a:ea typeface="Apple SD Gothic Neo" pitchFamily="34" charset="-122"/>
                <a:cs typeface="Apple SD Gothic Neo" pitchFamily="34" charset="-120"/>
              </a:rPr>
              <a:t>오디오</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endParaRPr lang="en-US" sz="1400" dirty="0"/>
          </a:p>
        </p:txBody>
      </p:sp>
      <p:pic>
        <p:nvPicPr>
          <p:cNvPr id="8" name="Image 0" descr="/private/tmp/claude-501/-Users-kwg-Desktop-mydrive-project-Toccata/78323d34-2a2b-4f50-ae4c-82ce3905c7c6/scratchpad/ppt4/assets/c_sch06.png"/>
          <p:cNvPicPr>
            <a:picLocks noChangeAspect="1"/>
          </p:cNvPicPr>
          <p:nvPr/>
        </p:nvPicPr>
        <p:blipFill>
          <a:blip r:embed="rId3"/>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2304688904"/>
              </p:ext>
            </p:extLst>
          </p:nvPr>
        </p:nvGraphicFramePr>
        <p:xfrm>
          <a:off x="548640" y="3429000"/>
          <a:ext cx="5387188" cy="1828800"/>
        </p:xfrm>
        <a:graphic>
          <a:graphicData uri="http://schemas.openxmlformats.org/drawingml/2006/table">
            <a:tbl>
              <a:tblPr/>
              <a:tblGrid>
                <a:gridCol w="319262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28600">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1.1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13~17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228600">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50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9" name="Text 9"/>
          <p:cNvSpPr txBox="1"/>
          <p:nvPr/>
        </p:nvSpPr>
        <p:spPr>
          <a:xfrm>
            <a:off x="548640" y="547766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66054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5843429"/>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026309"/>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marL="0" indent="0">
              <a:buNone/>
            </a:pPr>
            <a:r>
              <a:rPr lang="en-US" sz="1400" b="1" dirty="0" err="1">
                <a:solidFill>
                  <a:srgbClr val="16181D"/>
                </a:solidFill>
                <a:latin typeface="Apple SD Gothic Neo" pitchFamily="34" charset="0"/>
                <a:ea typeface="Apple SD Gothic Neo" pitchFamily="34" charset="-122"/>
                <a:cs typeface="Apple SD Gothic Neo" pitchFamily="34" charset="-120"/>
              </a:rPr>
              <a:t>오디오</a:t>
            </a:r>
            <a:r>
              <a:rPr lang="en-US" sz="1400" b="1" dirty="0">
                <a:solidFill>
                  <a:srgbClr val="16181D"/>
                </a:solidFill>
                <a:latin typeface="Apple SD Gothic Neo" pitchFamily="34" charset="0"/>
                <a:ea typeface="Apple SD Gothic Neo" pitchFamily="34" charset="-122"/>
                <a:cs typeface="Apple SD Gothic Neo" pitchFamily="34" charset="-120"/>
              </a:rPr>
              <a:t> (SCH-07)</a:t>
            </a:r>
            <a:endParaRPr lang="en-US" sz="1400" dirty="0"/>
          </a:p>
        </p:txBody>
      </p:sp>
      <p:pic>
        <p:nvPicPr>
          <p:cNvPr id="18" name="Image 1" descr="/private/tmp/claude-501/-Users-kwg-Desktop-mydrive-project-Toccata/78323d34-2a2b-4f50-ae4c-82ce3905c7c6/scratchpad/ppt4/assets/c_sch07.png"/>
          <p:cNvPicPr>
            <a:picLocks noChangeAspect="1"/>
          </p:cNvPicPr>
          <p:nvPr/>
        </p:nvPicPr>
        <p:blipFill>
          <a:blip r:embed="rId4"/>
          <a:stretch>
            <a:fillRect/>
          </a:stretch>
        </p:blipFill>
        <p:spPr>
          <a:xfrm>
            <a:off x="6255868" y="1691640"/>
            <a:ext cx="5387188" cy="1699731"/>
          </a:xfrm>
          <a:prstGeom prst="rect">
            <a:avLst/>
          </a:prstGeom>
        </p:spPr>
      </p:pic>
      <p:sp>
        <p:nvSpPr>
          <p:cNvPr id="19" name="Text 14"/>
          <p:cNvSpPr txBox="1"/>
          <p:nvPr/>
        </p:nvSpPr>
        <p:spPr>
          <a:xfrm>
            <a:off x="6255868" y="3574251"/>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3707"/>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6315"/>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5771"/>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a:t>
            </a:r>
            <a:r>
              <a:rPr lang="en-US" sz="1050" dirty="0" err="1">
                <a:solidFill>
                  <a:srgbClr val="444A54"/>
                </a:solidFill>
                <a:latin typeface="Apple SD Gothic Neo" pitchFamily="34" charset="0"/>
                <a:ea typeface="Apple SD Gothic Neo" pitchFamily="34" charset="-122"/>
                <a:cs typeface="Apple SD Gothic Neo" pitchFamily="34" charset="-120"/>
              </a:rPr>
              <a:t>기계적으로</a:t>
            </a:r>
            <a:r>
              <a:rPr 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끊</a:t>
            </a:r>
            <a:r>
              <a:rPr lang="ko-KR" altLang="en-US" sz="1050" dirty="0">
                <a:solidFill>
                  <a:srgbClr val="444A54"/>
                </a:solidFill>
                <a:latin typeface="Apple SD Gothic Neo" pitchFamily="34" charset="0"/>
                <a:ea typeface="Apple SD Gothic Neo" pitchFamily="34" charset="-122"/>
                <a:cs typeface="Apple SD Gothic Neo" pitchFamily="34" charset="-120"/>
              </a:rPr>
              <a:t>김</a:t>
            </a:r>
            <a:endParaRPr lang="en-US" sz="1050" dirty="0"/>
          </a:p>
        </p:txBody>
      </p:sp>
      <p:sp>
        <p:nvSpPr>
          <p:cNvPr id="23" name="Text 18"/>
          <p:cNvSpPr txBox="1"/>
          <p:nvPr/>
        </p:nvSpPr>
        <p:spPr>
          <a:xfrm>
            <a:off x="6255868" y="4598379"/>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17835"/>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약 80~90 Hz 아래를 줄여 작은 스피커를 보호</a:t>
            </a:r>
            <a:endParaRPr lang="en-US" sz="1050" dirty="0"/>
          </a:p>
        </p:txBody>
      </p:sp>
      <p:sp>
        <p:nvSpPr>
          <p:cNvPr id="25" name="Text 20"/>
          <p:cNvSpPr txBox="1"/>
          <p:nvPr/>
        </p:nvSpPr>
        <p:spPr>
          <a:xfrm>
            <a:off x="6255868" y="5110443"/>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29899"/>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출력이면 소리가 찌그러짐(클리핑) → 소프트웨어 상한 · 리미터 필수</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④</a:t>
            </a:r>
            <a:endParaRPr lang="en-US" sz="2800" dirty="0"/>
          </a:p>
        </p:txBody>
      </p:sp>
      <p:pic>
        <p:nvPicPr>
          <p:cNvPr id="7" name="Image 0" descr="/private/tmp/claude-501/-Users-kwg-Desktop-mydrive-project-Toccata/78323d34-2a2b-4f50-ae4c-82ce3905c7c6/scratchpad/ppt4/assets/c_brd01.png"/>
          <p:cNvPicPr>
            <a:picLocks noChangeAspect="1"/>
          </p:cNvPicPr>
          <p:nvPr/>
        </p:nvPicPr>
        <p:blipFill>
          <a:blip r:embed="rId3"/>
          <a:stretch>
            <a:fillRect/>
          </a:stretch>
        </p:blipFill>
        <p:spPr>
          <a:xfrm>
            <a:off x="548640" y="1481329"/>
            <a:ext cx="4660886" cy="3555368"/>
          </a:xfrm>
          <a:prstGeom prst="rect">
            <a:avLst/>
          </a:prstGeom>
        </p:spPr>
      </p:pic>
      <p:sp>
        <p:nvSpPr>
          <p:cNvPr id="8" name="Text 5"/>
          <p:cNvSpPr txBox="1"/>
          <p:nvPr/>
        </p:nvSpPr>
        <p:spPr>
          <a:xfrm>
            <a:off x="548640" y="5168730"/>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a:t>
            </a:r>
            <a:endParaRPr lang="en-US" sz="1000" dirty="0"/>
          </a:p>
        </p:txBody>
      </p:sp>
      <p:pic>
        <p:nvPicPr>
          <p:cNvPr id="9" name="Image 1" descr="/private/tmp/claude-501/-Users-kwg-Desktop-mydrive-project-Toccata/78323d34-2a2b-4f50-ae4c-82ce3905c7c6/scratchpad/ppt4/assets/c_brd02.png"/>
          <p:cNvPicPr>
            <a:picLocks noChangeAspect="1"/>
          </p:cNvPicPr>
          <p:nvPr/>
        </p:nvPicPr>
        <p:blipFill>
          <a:blip r:embed="rId4"/>
          <a:stretch>
            <a:fillRect/>
          </a:stretch>
        </p:blipFill>
        <p:spPr>
          <a:xfrm>
            <a:off x="5577840" y="2820924"/>
            <a:ext cx="6065215" cy="876635"/>
          </a:xfrm>
          <a:prstGeom prst="rect">
            <a:avLst/>
          </a:prstGeom>
        </p:spPr>
      </p:pic>
      <p:sp>
        <p:nvSpPr>
          <p:cNvPr id="10" name="Text 6"/>
          <p:cNvSpPr txBox="1"/>
          <p:nvPr/>
        </p:nvSpPr>
        <p:spPr>
          <a:xfrm>
            <a:off x="5577840" y="3767328"/>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161.9 × 15.24 mm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리듬게임</a:t>
            </a:r>
            <a:r>
              <a:rPr lang="en-US" sz="2800" b="1" dirty="0">
                <a:solidFill>
                  <a:srgbClr val="16181D"/>
                </a:solidFill>
                <a:latin typeface="Apple SD Gothic Neo" pitchFamily="34" charset="0"/>
                <a:ea typeface="Apple SD Gothic Neo" pitchFamily="34" charset="-122"/>
                <a:cs typeface="Apple SD Gothic Neo" pitchFamily="34" charset="-120"/>
              </a:rPr>
              <a:t> ①</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txBody>
          <a:bodyPr/>
          <a:lstStyle/>
          <a:p>
            <a:endParaRPr lang="en-KR"/>
          </a:p>
        </p:txBody>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txBody>
          <a:bodyPr/>
          <a:lstStyle/>
          <a:p>
            <a:endParaRPr lang="en-KR"/>
          </a:p>
        </p:txBody>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txBody>
          <a:bodyPr/>
          <a:lstStyle/>
          <a:p>
            <a:endParaRPr lang="en-KR"/>
          </a:p>
        </p:txBody>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txBody>
          <a:bodyPr/>
          <a:lstStyle/>
          <a:p>
            <a:endParaRPr lang="en-KR"/>
          </a:p>
        </p:txBody>
      </p:sp>
      <p:sp>
        <p:nvSpPr>
          <p:cNvPr id="14" name="Text 12"/>
          <p:cNvSpPr txBox="1"/>
          <p:nvPr/>
        </p:nvSpPr>
        <p:spPr>
          <a:xfrm>
            <a:off x="2057400" y="1499616"/>
            <a:ext cx="338328" cy="182880"/>
          </a:xfrm>
          <a:prstGeom prst="rect">
            <a:avLst/>
          </a:prstGeom>
          <a:noFill/>
          <a:ln/>
        </p:spPr>
        <p:txBody>
          <a:bodyPr wrap="square" lIns="0" tIns="0" rIns="0" bIns="0" rtlCol="0" anchor="ctr"/>
          <a:lstStyle/>
          <a:p>
            <a:pPr marL="0" indent="0" algn="ctr">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txBody>
          <a:bodyPr/>
          <a:lstStyle/>
          <a:p>
            <a:endParaRPr lang="en-KR"/>
          </a:p>
        </p:txBody>
      </p:sp>
      <p:sp>
        <p:nvSpPr>
          <p:cNvPr id="19" name="Text 17"/>
          <p:cNvSpPr txBox="1"/>
          <p:nvPr/>
        </p:nvSpPr>
        <p:spPr>
          <a:xfrm>
            <a:off x="4937760" y="1463040"/>
            <a:ext cx="1965960" cy="256032"/>
          </a:xfrm>
          <a:prstGeom prst="rect">
            <a:avLst/>
          </a:prstGeom>
          <a:noFill/>
          <a:ln/>
        </p:spPr>
        <p:txBody>
          <a:bodyPr wrap="square" lIns="0" tIns="0" rIns="0" bIns="0" rtlCol="0" anchor="t"/>
          <a:lstStyle/>
          <a:p>
            <a:pPr marL="0" indent="0" algn="r">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2" name="Shape 30"/>
          <p:cNvSpPr/>
          <p:nvPr/>
        </p:nvSpPr>
        <p:spPr>
          <a:xfrm>
            <a:off x="749808" y="1920240"/>
            <a:ext cx="0" cy="3227832"/>
          </a:xfrm>
          <a:prstGeom prst="line">
            <a:avLst/>
          </a:prstGeom>
          <a:noFill/>
          <a:ln w="38100">
            <a:solidFill>
              <a:srgbClr val="5A5270"/>
            </a:solidFill>
            <a:prstDash val="solid"/>
          </a:ln>
        </p:spPr>
        <p:txBody>
          <a:bodyPr/>
          <a:lstStyle/>
          <a:p>
            <a:endParaRPr lang="en-KR"/>
          </a:p>
        </p:txBody>
      </p:sp>
      <p:sp>
        <p:nvSpPr>
          <p:cNvPr id="33" name="Shape 31"/>
          <p:cNvSpPr/>
          <p:nvPr/>
        </p:nvSpPr>
        <p:spPr>
          <a:xfrm>
            <a:off x="749808" y="3291840"/>
            <a:ext cx="0" cy="1856232"/>
          </a:xfrm>
          <a:prstGeom prst="line">
            <a:avLst/>
          </a:prstGeom>
          <a:noFill/>
          <a:ln w="38100">
            <a:solidFill>
              <a:srgbClr val="F2B544"/>
            </a:solidFill>
            <a:prstDash val="solid"/>
          </a:ln>
        </p:spPr>
        <p:txBody>
          <a:bodyPr/>
          <a:lstStyle/>
          <a:p>
            <a:endParaRPr lang="en-KR"/>
          </a:p>
        </p:txBody>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txBody>
          <a:bodyPr/>
          <a:lstStyle/>
          <a:p>
            <a:endParaRPr lang="en-KR"/>
          </a:p>
        </p:txBody>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txBody>
          <a:bodyPr/>
          <a:lstStyle/>
          <a:p>
            <a:endParaRPr lang="en-KR"/>
          </a:p>
        </p:txBody>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7" name="Text 35"/>
          <p:cNvSpPr txBox="1"/>
          <p:nvPr/>
        </p:nvSpPr>
        <p:spPr>
          <a:xfrm>
            <a:off x="1005840"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9" name="Text 37"/>
          <p:cNvSpPr txBox="1"/>
          <p:nvPr/>
        </p:nvSpPr>
        <p:spPr>
          <a:xfrm>
            <a:off x="1789611"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1" name="Text 39"/>
          <p:cNvSpPr txBox="1"/>
          <p:nvPr/>
        </p:nvSpPr>
        <p:spPr>
          <a:xfrm>
            <a:off x="2573383"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3" name="Text 41"/>
          <p:cNvSpPr txBox="1"/>
          <p:nvPr/>
        </p:nvSpPr>
        <p:spPr>
          <a:xfrm>
            <a:off x="3357154"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5" name="Text 43"/>
          <p:cNvSpPr txBox="1"/>
          <p:nvPr/>
        </p:nvSpPr>
        <p:spPr>
          <a:xfrm>
            <a:off x="4140926"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7" name="Text 45"/>
          <p:cNvSpPr txBox="1"/>
          <p:nvPr/>
        </p:nvSpPr>
        <p:spPr>
          <a:xfrm>
            <a:off x="4924697"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9" name="Text 47"/>
          <p:cNvSpPr txBox="1"/>
          <p:nvPr/>
        </p:nvSpPr>
        <p:spPr>
          <a:xfrm>
            <a:off x="5708469"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1" name="Shape 49"/>
          <p:cNvSpPr/>
          <p:nvPr/>
        </p:nvSpPr>
        <p:spPr>
          <a:xfrm>
            <a:off x="1554480" y="4764024"/>
            <a:ext cx="470263" cy="0"/>
          </a:xfrm>
          <a:prstGeom prst="line">
            <a:avLst/>
          </a:prstGeom>
          <a:noFill/>
          <a:ln w="38100">
            <a:solidFill>
              <a:srgbClr val="F2B544"/>
            </a:solidFill>
            <a:prstDash val="solid"/>
          </a:ln>
        </p:spPr>
        <p:txBody>
          <a:bodyPr/>
          <a:lstStyle/>
          <a:p>
            <a:endParaRPr lang="en-KR"/>
          </a:p>
        </p:txBody>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3" name="Shape 51"/>
          <p:cNvSpPr/>
          <p:nvPr/>
        </p:nvSpPr>
        <p:spPr>
          <a:xfrm>
            <a:off x="2338251" y="4764024"/>
            <a:ext cx="470263" cy="0"/>
          </a:xfrm>
          <a:prstGeom prst="line">
            <a:avLst/>
          </a:prstGeom>
          <a:noFill/>
          <a:ln w="38100">
            <a:solidFill>
              <a:srgbClr val="F2B544"/>
            </a:solidFill>
            <a:prstDash val="solid"/>
          </a:ln>
        </p:spPr>
        <p:txBody>
          <a:bodyPr/>
          <a:lstStyle/>
          <a:p>
            <a:endParaRPr lang="en-KR"/>
          </a:p>
        </p:txBody>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5" name="Shape 53"/>
          <p:cNvSpPr/>
          <p:nvPr/>
        </p:nvSpPr>
        <p:spPr>
          <a:xfrm>
            <a:off x="3905794" y="4764024"/>
            <a:ext cx="470263" cy="0"/>
          </a:xfrm>
          <a:prstGeom prst="line">
            <a:avLst/>
          </a:prstGeom>
          <a:noFill/>
          <a:ln w="38100">
            <a:solidFill>
              <a:srgbClr val="F2B544"/>
            </a:solidFill>
            <a:prstDash val="solid"/>
          </a:ln>
        </p:spPr>
        <p:txBody>
          <a:bodyPr/>
          <a:lstStyle/>
          <a:p>
            <a:endParaRPr lang="en-KR"/>
          </a:p>
        </p:txBody>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7" name="Shape 55"/>
          <p:cNvSpPr/>
          <p:nvPr/>
        </p:nvSpPr>
        <p:spPr>
          <a:xfrm>
            <a:off x="4689566" y="4764024"/>
            <a:ext cx="470263" cy="0"/>
          </a:xfrm>
          <a:prstGeom prst="line">
            <a:avLst/>
          </a:prstGeom>
          <a:noFill/>
          <a:ln w="38100">
            <a:solidFill>
              <a:srgbClr val="F2B544"/>
            </a:solidFill>
            <a:prstDash val="solid"/>
          </a:ln>
        </p:spPr>
        <p:txBody>
          <a:bodyPr/>
          <a:lstStyle/>
          <a:p>
            <a:endParaRPr lang="en-KR"/>
          </a:p>
        </p:txBody>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9" name="Shape 57"/>
          <p:cNvSpPr/>
          <p:nvPr/>
        </p:nvSpPr>
        <p:spPr>
          <a:xfrm>
            <a:off x="5473337" y="4764024"/>
            <a:ext cx="470263" cy="0"/>
          </a:xfrm>
          <a:prstGeom prst="line">
            <a:avLst/>
          </a:prstGeom>
          <a:noFill/>
          <a:ln w="38100">
            <a:solidFill>
              <a:srgbClr val="F2B544"/>
            </a:solidFill>
            <a:prstDash val="solid"/>
          </a:ln>
        </p:spPr>
        <p:txBody>
          <a:bodyPr/>
          <a:lstStyle/>
          <a:p>
            <a:endParaRPr lang="en-KR"/>
          </a:p>
        </p:txBody>
      </p:sp>
      <p:sp>
        <p:nvSpPr>
          <p:cNvPr id="60" name="Shape 58"/>
          <p:cNvSpPr/>
          <p:nvPr/>
        </p:nvSpPr>
        <p:spPr>
          <a:xfrm>
            <a:off x="1005840" y="5148072"/>
            <a:ext cx="5486400" cy="0"/>
          </a:xfrm>
          <a:prstGeom prst="line">
            <a:avLst/>
          </a:prstGeom>
          <a:noFill/>
          <a:ln w="38100">
            <a:solidFill>
              <a:srgbClr val="F4EEDF"/>
            </a:solidFill>
            <a:prstDash val="solid"/>
          </a:ln>
        </p:spPr>
        <p:txBody>
          <a:bodyPr/>
          <a:lstStyle/>
          <a:p>
            <a:endParaRPr lang="en-KR"/>
          </a:p>
        </p:txBody>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3" name="Shape 61"/>
          <p:cNvSpPr/>
          <p:nvPr/>
        </p:nvSpPr>
        <p:spPr>
          <a:xfrm>
            <a:off x="4532811" y="1965960"/>
            <a:ext cx="0" cy="2148840"/>
          </a:xfrm>
          <a:prstGeom prst="line">
            <a:avLst/>
          </a:prstGeom>
          <a:noFill/>
          <a:ln w="38100">
            <a:solidFill>
              <a:srgbClr val="F4EEDF"/>
            </a:solidFill>
            <a:prstDash val="solid"/>
          </a:ln>
        </p:spPr>
        <p:txBody>
          <a:bodyPr/>
          <a:lstStyle/>
          <a:p>
            <a:endParaRPr lang="en-KR"/>
          </a:p>
        </p:txBody>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txBody>
          <a:bodyPr/>
          <a:lstStyle/>
          <a:p>
            <a:endParaRPr lang="en-KR"/>
          </a:p>
        </p:txBody>
      </p:sp>
      <p:sp>
        <p:nvSpPr>
          <p:cNvPr id="66" name="Text 64"/>
          <p:cNvSpPr txBox="1"/>
          <p:nvPr/>
        </p:nvSpPr>
        <p:spPr>
          <a:xfrm>
            <a:off x="5452437" y="3017520"/>
            <a:ext cx="228600" cy="256032"/>
          </a:xfrm>
          <a:prstGeom prst="rect">
            <a:avLst/>
          </a:prstGeom>
          <a:noFill/>
          <a:ln/>
        </p:spPr>
        <p:txBody>
          <a:bodyPr wrap="square" lIns="0" tIns="0" rIns="0" bIns="0" rtlCol="0" anchor="t"/>
          <a:lstStyle/>
          <a:p>
            <a:pPr marL="0" indent="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txBody>
          <a:bodyPr/>
          <a:lstStyle/>
          <a:p>
            <a:endParaRPr lang="en-KR"/>
          </a:p>
        </p:txBody>
      </p:sp>
      <p:sp>
        <p:nvSpPr>
          <p:cNvPr id="68" name="Text 66"/>
          <p:cNvSpPr txBox="1"/>
          <p:nvPr/>
        </p:nvSpPr>
        <p:spPr>
          <a:xfrm>
            <a:off x="2335639" y="2011680"/>
            <a:ext cx="228600" cy="256032"/>
          </a:xfrm>
          <a:prstGeom prst="rect">
            <a:avLst/>
          </a:prstGeom>
          <a:noFill/>
          <a:ln/>
        </p:spPr>
        <p:txBody>
          <a:bodyPr wrap="square" lIns="0" tIns="0" rIns="0" bIns="0" rtlCol="0" anchor="t"/>
          <a:lstStyle/>
          <a:p>
            <a:pPr marL="0" indent="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txBody>
          <a:bodyPr/>
          <a:lstStyle/>
          <a:p>
            <a:endParaRPr lang="en-KR"/>
          </a:p>
        </p:txBody>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txBody>
          <a:bodyPr/>
          <a:lstStyle/>
          <a:p>
            <a:endParaRPr lang="en-KR"/>
          </a:p>
        </p:txBody>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txBody>
          <a:bodyPr/>
          <a:lstStyle/>
          <a:p>
            <a:endParaRPr lang="en-KR"/>
          </a:p>
        </p:txBody>
      </p:sp>
      <p:sp>
        <p:nvSpPr>
          <p:cNvPr id="72" name="Shape 70"/>
          <p:cNvSpPr/>
          <p:nvPr/>
        </p:nvSpPr>
        <p:spPr>
          <a:xfrm>
            <a:off x="1789611" y="4434840"/>
            <a:ext cx="862149" cy="164592"/>
          </a:xfrm>
          <a:prstGeom prst="line">
            <a:avLst/>
          </a:prstGeom>
          <a:noFill/>
          <a:ln w="12700">
            <a:solidFill>
              <a:srgbClr val="F2B544"/>
            </a:solidFill>
            <a:prstDash val="dash"/>
          </a:ln>
        </p:spPr>
        <p:txBody>
          <a:bodyPr/>
          <a:lstStyle/>
          <a:p>
            <a:endParaRPr lang="en-KR"/>
          </a:p>
        </p:txBody>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txBody>
          <a:bodyPr/>
          <a:lstStyle/>
          <a:p>
            <a:endParaRPr lang="en-KR"/>
          </a:p>
        </p:txBody>
      </p:sp>
      <p:sp>
        <p:nvSpPr>
          <p:cNvPr id="74" name="Text 72"/>
          <p:cNvSpPr txBox="1"/>
          <p:nvPr/>
        </p:nvSpPr>
        <p:spPr>
          <a:xfrm>
            <a:off x="3573998" y="2907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txBody>
          <a:bodyPr/>
          <a:lstStyle/>
          <a:p>
            <a:endParaRPr lang="en-KR"/>
          </a:p>
        </p:txBody>
      </p:sp>
      <p:sp>
        <p:nvSpPr>
          <p:cNvPr id="76" name="Text 74"/>
          <p:cNvSpPr txBox="1"/>
          <p:nvPr/>
        </p:nvSpPr>
        <p:spPr>
          <a:xfrm>
            <a:off x="1664208"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txBody>
          <a:bodyPr/>
          <a:lstStyle/>
          <a:p>
            <a:endParaRPr lang="en-KR"/>
          </a:p>
        </p:txBody>
      </p:sp>
      <p:sp>
        <p:nvSpPr>
          <p:cNvPr id="78" name="Text 76"/>
          <p:cNvSpPr txBox="1"/>
          <p:nvPr/>
        </p:nvSpPr>
        <p:spPr>
          <a:xfrm>
            <a:off x="4605963"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txBody>
          <a:bodyPr/>
          <a:lstStyle/>
          <a:p>
            <a:endParaRPr lang="en-KR"/>
          </a:p>
        </p:txBody>
      </p:sp>
      <p:sp>
        <p:nvSpPr>
          <p:cNvPr id="80" name="Text 78"/>
          <p:cNvSpPr txBox="1"/>
          <p:nvPr/>
        </p:nvSpPr>
        <p:spPr>
          <a:xfrm>
            <a:off x="4796681"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txBody>
          <a:bodyPr/>
          <a:lstStyle/>
          <a:p>
            <a:endParaRPr lang="en-KR"/>
          </a:p>
        </p:txBody>
      </p:sp>
      <p:sp>
        <p:nvSpPr>
          <p:cNvPr id="82" name="Text 80"/>
          <p:cNvSpPr txBox="1"/>
          <p:nvPr/>
        </p:nvSpPr>
        <p:spPr>
          <a:xfrm>
            <a:off x="6119949"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txBody>
          <a:bodyPr/>
          <a:lstStyle/>
          <a:p>
            <a:endParaRPr lang="en-KR"/>
          </a:p>
        </p:txBody>
      </p:sp>
      <p:sp>
        <p:nvSpPr>
          <p:cNvPr id="84" name="Text 82"/>
          <p:cNvSpPr txBox="1"/>
          <p:nvPr/>
        </p:nvSpPr>
        <p:spPr>
          <a:xfrm>
            <a:off x="612648" y="29260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화면 </a:t>
            </a:r>
            <a:r>
              <a:rPr lang="en-US" sz="1000" dirty="0" err="1">
                <a:solidFill>
                  <a:srgbClr val="767D88"/>
                </a:solidFill>
                <a:latin typeface="Apple SD Gothic Neo" pitchFamily="34" charset="0"/>
                <a:ea typeface="Apple SD Gothic Neo" pitchFamily="34" charset="-122"/>
                <a:cs typeface="Apple SD Gothic Neo" pitchFamily="34" charset="-120"/>
              </a:rPr>
              <a:t>목업</a:t>
            </a:r>
            <a:r>
              <a:rPr lang="en-US" sz="1000" dirty="0">
                <a:solidFill>
                  <a:srgbClr val="767D88"/>
                </a:solidFill>
                <a:latin typeface="Apple SD Gothic Neo" pitchFamily="34" charset="0"/>
                <a:ea typeface="Apple SD Gothic Neo" pitchFamily="34" charset="-122"/>
                <a:cs typeface="Apple SD Gothic Neo" pitchFamily="34" charset="-120"/>
              </a:rPr>
              <a:t> </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txBody>
          <a:bodyPr/>
          <a:lstStyle/>
          <a:p>
            <a:endParaRPr lang="en-KR"/>
          </a:p>
        </p:txBody>
      </p:sp>
      <p:sp>
        <p:nvSpPr>
          <p:cNvPr id="87" name="Text 85"/>
          <p:cNvSpPr txBox="1"/>
          <p:nvPr/>
        </p:nvSpPr>
        <p:spPr>
          <a:xfrm>
            <a:off x="7315200" y="14813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txBody>
          <a:bodyPr/>
          <a:lstStyle/>
          <a:p>
            <a:endParaRPr lang="en-KR"/>
          </a:p>
        </p:txBody>
      </p:sp>
      <p:sp>
        <p:nvSpPr>
          <p:cNvPr id="91" name="Text 89"/>
          <p:cNvSpPr txBox="1"/>
          <p:nvPr/>
        </p:nvSpPr>
        <p:spPr>
          <a:xfrm>
            <a:off x="731520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txBody>
          <a:bodyPr/>
          <a:lstStyle/>
          <a:p>
            <a:endParaRPr lang="en-KR"/>
          </a:p>
        </p:txBody>
      </p:sp>
      <p:sp>
        <p:nvSpPr>
          <p:cNvPr id="95" name="Text 93"/>
          <p:cNvSpPr txBox="1"/>
          <p:nvPr/>
        </p:nvSpPr>
        <p:spPr>
          <a:xfrm>
            <a:off x="731520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txBody>
          <a:bodyPr/>
          <a:lstStyle/>
          <a:p>
            <a:endParaRPr lang="en-KR"/>
          </a:p>
        </p:txBody>
      </p:sp>
      <p:sp>
        <p:nvSpPr>
          <p:cNvPr id="99" name="Text 97"/>
          <p:cNvSpPr txBox="1"/>
          <p:nvPr/>
        </p:nvSpPr>
        <p:spPr>
          <a:xfrm>
            <a:off x="7315200" y="32095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txBody>
          <a:bodyPr/>
          <a:lstStyle/>
          <a:p>
            <a:endParaRPr lang="en-KR"/>
          </a:p>
        </p:txBody>
      </p:sp>
      <p:sp>
        <p:nvSpPr>
          <p:cNvPr id="103" name="Text 101"/>
          <p:cNvSpPr txBox="1"/>
          <p:nvPr/>
        </p:nvSpPr>
        <p:spPr>
          <a:xfrm>
            <a:off x="7315200"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txBody>
          <a:bodyPr/>
          <a:lstStyle/>
          <a:p>
            <a:endParaRPr lang="en-KR"/>
          </a:p>
        </p:txBody>
      </p:sp>
      <p:sp>
        <p:nvSpPr>
          <p:cNvPr id="107" name="Text 105"/>
          <p:cNvSpPr txBox="1"/>
          <p:nvPr/>
        </p:nvSpPr>
        <p:spPr>
          <a:xfrm>
            <a:off x="7315200" y="4361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86868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11" name="Text 109"/>
          <p:cNvSpPr txBox="1"/>
          <p:nvPr/>
        </p:nvSpPr>
        <p:spPr>
          <a:xfrm>
            <a:off x="7498080" y="4983480"/>
            <a:ext cx="4144975" cy="86868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a:t>
            </a:r>
            <a:r>
              <a:rPr lang="en-US" sz="1150" dirty="0" err="1">
                <a:solidFill>
                  <a:srgbClr val="444A54"/>
                </a:solidFill>
                <a:latin typeface="Apple SD Gothic Neo" pitchFamily="34" charset="0"/>
                <a:ea typeface="Apple SD Gothic Neo" pitchFamily="34" charset="-122"/>
                <a:cs typeface="Apple SD Gothic Neo" pitchFamily="34" charset="-120"/>
              </a:rPr>
              <a:t>위치를</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알려</a:t>
            </a:r>
            <a:r>
              <a:rPr lang="ko-KR" altLang="en-US" sz="1150" dirty="0">
                <a:solidFill>
                  <a:srgbClr val="444A54"/>
                </a:solidFill>
                <a:latin typeface="Apple SD Gothic Neo" pitchFamily="34" charset="0"/>
                <a:ea typeface="Apple SD Gothic Neo" pitchFamily="34" charset="-122"/>
                <a:cs typeface="Apple SD Gothic Neo" pitchFamily="34" charset="-120"/>
              </a:rPr>
              <a:t>줘서 알맞은 위치를 누를 수 있도록 함</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a:t>
            </a:r>
            <a:r>
              <a:rPr lang="en-US" sz="2800" b="1" dirty="0" err="1">
                <a:solidFill>
                  <a:srgbClr val="16181D"/>
                </a:solidFill>
                <a:latin typeface="Apple SD Gothic Neo" pitchFamily="34" charset="0"/>
                <a:ea typeface="Apple SD Gothic Neo" pitchFamily="34" charset="-122"/>
                <a:cs typeface="Apple SD Gothic Neo" pitchFamily="34" charset="-120"/>
              </a:rPr>
              <a:t>노트와</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기믹</a:t>
            </a:r>
            <a:endParaRPr lang="en-US" sz="2800" dirty="0"/>
          </a:p>
        </p:txBody>
      </p:sp>
      <p:sp>
        <p:nvSpPr>
          <p:cNvPr id="7" name="Shape 5"/>
          <p:cNvSpPr/>
          <p:nvPr/>
        </p:nvSpPr>
        <p:spPr>
          <a:xfrm>
            <a:off x="548640" y="1652609"/>
            <a:ext cx="3515258" cy="2834640"/>
          </a:xfrm>
          <a:prstGeom prst="roundRect">
            <a:avLst>
              <a:gd name="adj" fmla="val 2581"/>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89769"/>
            <a:ext cx="3058058" cy="32004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4566818"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8356397"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5140042"/>
            <a:ext cx="2304000" cy="457200"/>
          </a:xfrm>
          <a:prstGeom prst="rect">
            <a:avLst/>
          </a:prstGeom>
          <a:solidFill>
            <a:srgbClr val="A9D8FF"/>
          </a:solidFill>
          <a:ln w="12700">
            <a:solidFill>
              <a:srgbClr val="A9D8FF"/>
            </a:solidFill>
            <a:prstDash val="solid"/>
          </a:ln>
        </p:spPr>
        <p:txBody>
          <a:bodyPr/>
          <a:lstStyle/>
          <a:p>
            <a:endParaRPr lang="en-KR"/>
          </a:p>
        </p:txBody>
      </p:sp>
      <p:sp>
        <p:nvSpPr>
          <p:cNvPr id="45" name="Text 43"/>
          <p:cNvSpPr txBox="1"/>
          <p:nvPr/>
        </p:nvSpPr>
        <p:spPr>
          <a:xfrm>
            <a:off x="621792" y="5140042"/>
            <a:ext cx="21942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5140042"/>
            <a:ext cx="1843200" cy="457200"/>
          </a:xfrm>
          <a:prstGeom prst="rect">
            <a:avLst/>
          </a:prstGeom>
          <a:solidFill>
            <a:srgbClr val="D5D8DE"/>
          </a:solidFill>
          <a:ln w="12700">
            <a:solidFill>
              <a:srgbClr val="D5D8DE"/>
            </a:solidFill>
            <a:prstDash val="solid"/>
          </a:ln>
        </p:spPr>
        <p:txBody>
          <a:bodyPr/>
          <a:lstStyle/>
          <a:p>
            <a:endParaRPr lang="en-KR"/>
          </a:p>
        </p:txBody>
      </p:sp>
      <p:sp>
        <p:nvSpPr>
          <p:cNvPr id="47" name="Text 45"/>
          <p:cNvSpPr txBox="1"/>
          <p:nvPr/>
        </p:nvSpPr>
        <p:spPr>
          <a:xfrm>
            <a:off x="2925792" y="5140042"/>
            <a:ext cx="17334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5140042"/>
            <a:ext cx="1704960" cy="457200"/>
          </a:xfrm>
          <a:prstGeom prst="rect">
            <a:avLst/>
          </a:prstGeom>
          <a:solidFill>
            <a:srgbClr val="FF6B3D"/>
          </a:solidFill>
          <a:ln w="12700">
            <a:solidFill>
              <a:srgbClr val="FF6B3D"/>
            </a:solidFill>
            <a:prstDash val="solid"/>
          </a:ln>
        </p:spPr>
        <p:txBody>
          <a:bodyPr/>
          <a:lstStyle/>
          <a:p>
            <a:endParaRPr lang="en-KR"/>
          </a:p>
        </p:txBody>
      </p:sp>
      <p:sp>
        <p:nvSpPr>
          <p:cNvPr id="49" name="Text 47"/>
          <p:cNvSpPr txBox="1"/>
          <p:nvPr/>
        </p:nvSpPr>
        <p:spPr>
          <a:xfrm>
            <a:off x="4768992" y="5140042"/>
            <a:ext cx="1595232"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marL="0" indent="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1" name="Text 49"/>
          <p:cNvSpPr txBox="1"/>
          <p:nvPr/>
        </p:nvSpPr>
        <p:spPr>
          <a:xfrm>
            <a:off x="67208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5140042"/>
            <a:ext cx="1579778" cy="457200"/>
          </a:xfrm>
          <a:prstGeom prst="roundRect">
            <a:avLst>
              <a:gd name="adj" fmla="val 16000"/>
            </a:avLst>
          </a:prstGeom>
          <a:solidFill>
            <a:srgbClr val="121317"/>
          </a:solidFill>
          <a:ln w="12700">
            <a:solidFill>
              <a:srgbClr val="121317"/>
            </a:solidFill>
            <a:prstDash val="solid"/>
          </a:ln>
        </p:spPr>
        <p:txBody>
          <a:bodyPr/>
          <a:lstStyle/>
          <a:p>
            <a:endParaRPr lang="en-KR"/>
          </a:p>
        </p:txBody>
      </p:sp>
      <p:sp>
        <p:nvSpPr>
          <p:cNvPr id="53" name="Text 51"/>
          <p:cNvSpPr txBox="1"/>
          <p:nvPr/>
        </p:nvSpPr>
        <p:spPr>
          <a:xfrm>
            <a:off x="6812280" y="5140042"/>
            <a:ext cx="1396898"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marL="0" indent="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8483498"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7" name="Text 55"/>
          <p:cNvSpPr txBox="1"/>
          <p:nvPr/>
        </p:nvSpPr>
        <p:spPr>
          <a:xfrm>
            <a:off x="10154717"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a:t>
            </a:r>
            <a:r>
              <a:rPr lang="en-US" sz="2800" b="1" dirty="0" err="1">
                <a:solidFill>
                  <a:srgbClr val="16181D"/>
                </a:solidFill>
                <a:latin typeface="Apple SD Gothic Neo" pitchFamily="34" charset="0"/>
                <a:ea typeface="Apple SD Gothic Neo" pitchFamily="34" charset="-122"/>
                <a:cs typeface="Apple SD Gothic Neo" pitchFamily="34" charset="-120"/>
              </a:rPr>
              <a:t>누름을</a:t>
            </a:r>
            <a:r>
              <a:rPr lang="en-US" sz="2800" b="1" dirty="0">
                <a:solidFill>
                  <a:srgbClr val="16181D"/>
                </a:solidFill>
                <a:latin typeface="Apple SD Gothic Neo" pitchFamily="34" charset="0"/>
                <a:ea typeface="Apple SD Gothic Neo" pitchFamily="34" charset="-122"/>
                <a:cs typeface="Apple SD Gothic Neo" pitchFamily="34" charset="-120"/>
              </a:rPr>
              <a:t> </a:t>
            </a:r>
            <a:r>
              <a:rPr lang="ko-KR" altLang="en-US" sz="2800" b="1" dirty="0">
                <a:solidFill>
                  <a:srgbClr val="16181D"/>
                </a:solidFill>
                <a:latin typeface="Apple SD Gothic Neo" pitchFamily="34" charset="0"/>
                <a:ea typeface="Apple SD Gothic Neo" pitchFamily="34" charset="-122"/>
                <a:cs typeface="Apple SD Gothic Neo" pitchFamily="34" charset="-120"/>
              </a:rPr>
              <a:t>확인하는 핵심</a:t>
            </a:r>
            <a:r>
              <a:rPr lang="en-US" sz="2800" b="1" dirty="0">
                <a:solidFill>
                  <a:srgbClr val="16181D"/>
                </a:solidFill>
                <a:latin typeface="Apple SD Gothic Neo" pitchFamily="34" charset="0"/>
                <a:ea typeface="Apple SD Gothic Neo" pitchFamily="34" charset="-122"/>
                <a:cs typeface="Apple SD Gothic Neo" pitchFamily="34" charset="-120"/>
              </a:rPr>
              <a:t>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p_L20.jpg"/>
          <p:cNvPicPr>
            <a:picLocks noChangeAspect="1"/>
          </p:cNvPicPr>
          <p:nvPr/>
        </p:nvPicPr>
        <p:blipFill>
          <a:blip r:embed="rId3"/>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4/assets/p_L21.jpg"/>
          <p:cNvPicPr>
            <a:picLocks noChangeAspect="1"/>
          </p:cNvPicPr>
          <p:nvPr/>
        </p:nvPicPr>
        <p:blipFill>
          <a:blip r:embed="rId4"/>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4/assets/p_L18.jpg"/>
          <p:cNvPicPr>
            <a:picLocks noChangeAspect="1"/>
          </p:cNvPicPr>
          <p:nvPr/>
        </p:nvPicPr>
        <p:blipFill>
          <a:blip r:embed="rId5"/>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4/assets/p_L19.jpg"/>
          <p:cNvPicPr>
            <a:picLocks noChangeAspect="1"/>
          </p:cNvPicPr>
          <p:nvPr/>
        </p:nvPicPr>
        <p:blipFill>
          <a:blip r:embed="rId6"/>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a:t>
            </a:r>
            <a:r>
              <a:rPr lang="en-US" sz="1300" dirty="0" err="1">
                <a:solidFill>
                  <a:srgbClr val="444A54"/>
                </a:solidFill>
                <a:latin typeface="Apple SD Gothic Neo" pitchFamily="34" charset="0"/>
                <a:ea typeface="Apple SD Gothic Neo" pitchFamily="34" charset="-122"/>
                <a:cs typeface="Apple SD Gothic Neo" pitchFamily="34" charset="-120"/>
              </a:rPr>
              <a:t>위치를</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연속으로</a:t>
            </a:r>
            <a:r>
              <a:rPr lang="en-US" sz="1300" dirty="0">
                <a:solidFill>
                  <a:srgbClr val="444A54"/>
                </a:solidFill>
                <a:latin typeface="Apple SD Gothic Neo" pitchFamily="34" charset="0"/>
                <a:ea typeface="Apple SD Gothic Neo" pitchFamily="34" charset="-122"/>
                <a:cs typeface="Apple SD Gothic Neo" pitchFamily="34" charset="-120"/>
              </a:rPr>
              <a:t> 재서 세기를 계산할 수 있다.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a:t>
            </a:r>
            <a:r>
              <a:rPr lang="en-US" sz="2800" b="1" dirty="0" err="1">
                <a:solidFill>
                  <a:srgbClr val="16181D"/>
                </a:solidFill>
                <a:latin typeface="Apple SD Gothic Neo" pitchFamily="34" charset="0"/>
                <a:ea typeface="Apple SD Gothic Neo" pitchFamily="34" charset="-122"/>
                <a:cs typeface="Apple SD Gothic Neo" pitchFamily="34" charset="-120"/>
              </a:rPr>
              <a:t>액션</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altLang="ko-KR" sz="2800" b="1" dirty="0">
                <a:solidFill>
                  <a:srgbClr val="16181D"/>
                </a:solidFill>
                <a:latin typeface="Apple SD Gothic Neo" pitchFamily="34" charset="0"/>
                <a:ea typeface="Apple SD Gothic Neo" pitchFamily="34" charset="-122"/>
                <a:cs typeface="Apple SD Gothic Neo" pitchFamily="34" charset="-120"/>
              </a:rPr>
              <a:t>(</a:t>
            </a:r>
            <a:r>
              <a:rPr lang="en-US" sz="2800" b="1" dirty="0" err="1">
                <a:solidFill>
                  <a:srgbClr val="16181D"/>
                </a:solidFill>
                <a:latin typeface="Apple SD Gothic Neo" pitchFamily="34" charset="0"/>
                <a:ea typeface="Apple SD Gothic Neo" pitchFamily="34" charset="-122"/>
                <a:cs typeface="Apple SD Gothic Neo" pitchFamily="34" charset="-120"/>
              </a:rPr>
              <a:t>시소</a:t>
            </a:r>
            <a:r>
              <a:rPr lang="en-US" sz="2800" b="1" dirty="0">
                <a:solidFill>
                  <a:srgbClr val="16181D"/>
                </a:solidFill>
                <a:latin typeface="Apple SD Gothic Neo" pitchFamily="34" charset="0"/>
                <a:ea typeface="Apple SD Gothic Neo" pitchFamily="34" charset="-122"/>
                <a:cs typeface="Apple SD Gothic Neo" pitchFamily="34" charset="-120"/>
              </a:rPr>
              <a:t>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w_weight.jpg"/>
          <p:cNvPicPr>
            <a:picLocks noChangeAspect="1"/>
          </p:cNvPicPr>
          <p:nvPr/>
        </p:nvPicPr>
        <p:blipFill>
          <a:blip r:embed="rId3"/>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4/assets/w_rod.jpg"/>
          <p:cNvPicPr>
            <a:picLocks noChangeAspect="1"/>
          </p:cNvPicPr>
          <p:nvPr/>
        </p:nvPicPr>
        <p:blipFill>
          <a:blip r:embed="rId4"/>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4/assets/w_capstan.jpg"/>
          <p:cNvPicPr>
            <a:picLocks noChangeAspect="1"/>
          </p:cNvPicPr>
          <p:nvPr/>
        </p:nvPicPr>
        <p:blipFill>
          <a:blip r:embed="rId5"/>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4/assets/w_pins.jpg"/>
          <p:cNvPicPr>
            <a:picLocks noChangeAspect="1"/>
          </p:cNvPicPr>
          <p:nvPr/>
        </p:nvPicPr>
        <p:blipFill>
          <a:blip r:embed="rId6"/>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4/assets/w_tspring.jpg"/>
          <p:cNvPicPr>
            <a:picLocks noChangeAspect="1"/>
          </p:cNvPicPr>
          <p:nvPr/>
        </p:nvPicPr>
        <p:blipFill>
          <a:blip r:embed="rId7"/>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18,000원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스프링 강선 0.5 mm</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비틀림 보조 스프링 100개를 직접 감음</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4/assets/w_pu.jpg"/>
          <p:cNvPicPr>
            <a:picLocks noChangeAspect="1"/>
          </p:cNvPicPr>
          <p:nvPr/>
        </p:nvPicPr>
        <p:blipFill>
          <a:blip r:embed="rId8"/>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8" name="Shape 6"/>
          <p:cNvSpPr/>
          <p:nvPr/>
        </p:nvSpPr>
        <p:spPr>
          <a:xfrm>
            <a:off x="685800"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9" name="Image 0" descr="/private/tmp/claude-501/-Users-kwg-Desktop-mydrive-project-Toccata/78323d34-2a2b-4f50-ae4c-82ce3905c7c6/scratchpad/ppt4/assets/p_L01.jpg"/>
          <p:cNvPicPr>
            <a:picLocks noChangeAspect="1"/>
          </p:cNvPicPr>
          <p:nvPr/>
        </p:nvPicPr>
        <p:blipFill>
          <a:blip r:embed="rId3"/>
          <a:stretch>
            <a:fillRect/>
          </a:stretch>
        </p:blipFill>
        <p:spPr>
          <a:xfrm>
            <a:off x="731520" y="1709928"/>
            <a:ext cx="1005840" cy="1005840"/>
          </a:xfrm>
          <a:prstGeom prst="rect">
            <a:avLst/>
          </a:prstGeom>
        </p:spPr>
      </p:pic>
      <p:sp>
        <p:nvSpPr>
          <p:cNvPr id="10" name="Text 7"/>
          <p:cNvSpPr txBox="1"/>
          <p:nvPr/>
        </p:nvSpPr>
        <p:spPr>
          <a:xfrm>
            <a:off x="1901952"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14" name="Shape 11"/>
          <p:cNvSpPr/>
          <p:nvPr/>
        </p:nvSpPr>
        <p:spPr>
          <a:xfrm>
            <a:off x="3516554"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15" name="Image 1" descr="/private/tmp/claude-501/-Users-kwg-Desktop-mydrive-project-Toccata/78323d34-2a2b-4f50-ae4c-82ce3905c7c6/scratchpad/ppt4/assets/p_L17.jpg"/>
          <p:cNvPicPr>
            <a:picLocks noChangeAspect="1"/>
          </p:cNvPicPr>
          <p:nvPr/>
        </p:nvPicPr>
        <p:blipFill>
          <a:blip r:embed="rId4"/>
          <a:stretch>
            <a:fillRect/>
          </a:stretch>
        </p:blipFill>
        <p:spPr>
          <a:xfrm>
            <a:off x="3562274" y="1709928"/>
            <a:ext cx="1005840" cy="1005840"/>
          </a:xfrm>
          <a:prstGeom prst="rect">
            <a:avLst/>
          </a:prstGeom>
        </p:spPr>
      </p:pic>
      <p:sp>
        <p:nvSpPr>
          <p:cNvPr id="16" name="Text 12"/>
          <p:cNvSpPr txBox="1"/>
          <p:nvPr/>
        </p:nvSpPr>
        <p:spPr>
          <a:xfrm>
            <a:off x="4732706"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30,700원</a:t>
            </a:r>
            <a:endParaRPr lang="en-US" sz="1400" dirty="0"/>
          </a:p>
        </p:txBody>
      </p:sp>
      <p:sp>
        <p:nvSpPr>
          <p:cNvPr id="17" name="Text 13"/>
          <p:cNvSpPr txBox="1"/>
          <p:nvPr/>
        </p:nvSpPr>
        <p:spPr>
          <a:xfrm>
            <a:off x="3562274"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0" name="Shape 16"/>
          <p:cNvSpPr/>
          <p:nvPr/>
        </p:nvSpPr>
        <p:spPr>
          <a:xfrm>
            <a:off x="6347308"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1" name="Image 2" descr="/private/tmp/claude-501/-Users-kwg-Desktop-mydrive-project-Toccata/78323d34-2a2b-4f50-ae4c-82ce3905c7c6/scratchpad/ppt4/assets/p_L51.jpg"/>
          <p:cNvPicPr>
            <a:picLocks noChangeAspect="1"/>
          </p:cNvPicPr>
          <p:nvPr/>
        </p:nvPicPr>
        <p:blipFill>
          <a:blip r:embed="rId5"/>
          <a:stretch>
            <a:fillRect/>
          </a:stretch>
        </p:blipFill>
        <p:spPr>
          <a:xfrm>
            <a:off x="6393028" y="1709928"/>
            <a:ext cx="1005840" cy="1005840"/>
          </a:xfrm>
          <a:prstGeom prst="rect">
            <a:avLst/>
          </a:prstGeom>
        </p:spPr>
      </p:pic>
      <p:sp>
        <p:nvSpPr>
          <p:cNvPr id="22" name="Text 17"/>
          <p:cNvSpPr txBox="1"/>
          <p:nvPr/>
        </p:nvSpPr>
        <p:spPr>
          <a:xfrm>
            <a:off x="7563460"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463040"/>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6" name="Shape 21"/>
          <p:cNvSpPr/>
          <p:nvPr/>
        </p:nvSpPr>
        <p:spPr>
          <a:xfrm>
            <a:off x="9178061" y="1664208"/>
            <a:ext cx="1097280" cy="1097280"/>
          </a:xfrm>
          <a:prstGeom prst="rect">
            <a:avLst/>
          </a:prstGeom>
          <a:solidFill>
            <a:srgbClr val="F2F3F5"/>
          </a:solidFill>
          <a:ln w="12700">
            <a:solidFill>
              <a:srgbClr val="F2F3F5"/>
            </a:solidFill>
            <a:prstDash val="solid"/>
          </a:ln>
        </p:spPr>
        <p:txBody>
          <a:bodyPr/>
          <a:lstStyle/>
          <a:p>
            <a:endParaRPr lang="en-KR"/>
          </a:p>
        </p:txBody>
      </p:sp>
      <p:pic>
        <p:nvPicPr>
          <p:cNvPr id="27" name="Image 3" descr="/private/tmp/claude-501/-Users-kwg-Desktop-mydrive-project-Toccata/78323d34-2a2b-4f50-ae4c-82ce3905c7c6/scratchpad/ppt4/assets/p_L53.jpg"/>
          <p:cNvPicPr>
            <a:picLocks noChangeAspect="1"/>
          </p:cNvPicPr>
          <p:nvPr/>
        </p:nvPicPr>
        <p:blipFill>
          <a:blip r:embed="rId6"/>
          <a:stretch>
            <a:fillRect/>
          </a:stretch>
        </p:blipFill>
        <p:spPr>
          <a:xfrm>
            <a:off x="9223781" y="1709928"/>
            <a:ext cx="1005840" cy="1005840"/>
          </a:xfrm>
          <a:prstGeom prst="rect">
            <a:avLst/>
          </a:prstGeom>
        </p:spPr>
      </p:pic>
      <p:sp>
        <p:nvSpPr>
          <p:cNvPr id="28" name="Text 22"/>
          <p:cNvSpPr txBox="1"/>
          <p:nvPr/>
        </p:nvSpPr>
        <p:spPr>
          <a:xfrm>
            <a:off x="10394213" y="1691640"/>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2,750원</a:t>
            </a:r>
            <a:endParaRPr lang="en-US" sz="1400" dirty="0"/>
          </a:p>
        </p:txBody>
      </p:sp>
      <p:sp>
        <p:nvSpPr>
          <p:cNvPr id="29" name="Text 23"/>
          <p:cNvSpPr txBox="1"/>
          <p:nvPr/>
        </p:nvSpPr>
        <p:spPr>
          <a:xfrm>
            <a:off x="9223781" y="2852928"/>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145536"/>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2" name="Shape 26"/>
          <p:cNvSpPr/>
          <p:nvPr/>
        </p:nvSpPr>
        <p:spPr>
          <a:xfrm>
            <a:off x="685800"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3" name="Image 4" descr="/private/tmp/claude-501/-Users-kwg-Desktop-mydrive-project-Toccata/78323d34-2a2b-4f50-ae4c-82ce3905c7c6/scratchpad/ppt4/assets/p_L07.jpg"/>
          <p:cNvPicPr>
            <a:picLocks noChangeAspect="1"/>
          </p:cNvPicPr>
          <p:nvPr/>
        </p:nvPicPr>
        <p:blipFill>
          <a:blip r:embed="rId7"/>
          <a:stretch>
            <a:fillRect/>
          </a:stretch>
        </p:blipFill>
        <p:spPr>
          <a:xfrm>
            <a:off x="731520" y="3968496"/>
            <a:ext cx="1005840" cy="1005840"/>
          </a:xfrm>
          <a:prstGeom prst="rect">
            <a:avLst/>
          </a:prstGeom>
        </p:spPr>
      </p:pic>
      <p:sp>
        <p:nvSpPr>
          <p:cNvPr id="34" name="Text 27"/>
          <p:cNvSpPr txBox="1"/>
          <p:nvPr/>
        </p:nvSpPr>
        <p:spPr>
          <a:xfrm>
            <a:off x="1901952"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8" name="Shape 31"/>
          <p:cNvSpPr/>
          <p:nvPr/>
        </p:nvSpPr>
        <p:spPr>
          <a:xfrm>
            <a:off x="3516554"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39" name="Image 5" descr="/private/tmp/claude-501/-Users-kwg-Desktop-mydrive-project-Toccata/78323d34-2a2b-4f50-ae4c-82ce3905c7c6/scratchpad/ppt4/assets/p_L57.jpg"/>
          <p:cNvPicPr>
            <a:picLocks noChangeAspect="1"/>
          </p:cNvPicPr>
          <p:nvPr/>
        </p:nvPicPr>
        <p:blipFill>
          <a:blip r:embed="rId8"/>
          <a:stretch>
            <a:fillRect/>
          </a:stretch>
        </p:blipFill>
        <p:spPr>
          <a:xfrm>
            <a:off x="3562274" y="3968496"/>
            <a:ext cx="1005840" cy="1005840"/>
          </a:xfrm>
          <a:prstGeom prst="rect">
            <a:avLst/>
          </a:prstGeom>
        </p:spPr>
      </p:pic>
      <p:sp>
        <p:nvSpPr>
          <p:cNvPr id="40" name="Text 32"/>
          <p:cNvSpPr txBox="1"/>
          <p:nvPr/>
        </p:nvSpPr>
        <p:spPr>
          <a:xfrm>
            <a:off x="4732706"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44" name="Shape 36"/>
          <p:cNvSpPr/>
          <p:nvPr/>
        </p:nvSpPr>
        <p:spPr>
          <a:xfrm>
            <a:off x="6347308"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45" name="Image 6" descr="/private/tmp/claude-501/-Users-kwg-Desktop-mydrive-project-Toccata/78323d34-2a2b-4f50-ae4c-82ce3905c7c6/scratchpad/ppt4/assets/p_L58.jpg"/>
          <p:cNvPicPr>
            <a:picLocks noChangeAspect="1"/>
          </p:cNvPicPr>
          <p:nvPr/>
        </p:nvPicPr>
        <p:blipFill>
          <a:blip r:embed="rId9"/>
          <a:stretch>
            <a:fillRect/>
          </a:stretch>
        </p:blipFill>
        <p:spPr>
          <a:xfrm>
            <a:off x="6393028" y="3968496"/>
            <a:ext cx="1005840" cy="1005840"/>
          </a:xfrm>
          <a:prstGeom prst="rect">
            <a:avLst/>
          </a:prstGeom>
        </p:spPr>
      </p:pic>
      <p:sp>
        <p:nvSpPr>
          <p:cNvPr id="46" name="Text 37"/>
          <p:cNvSpPr txBox="1"/>
          <p:nvPr/>
        </p:nvSpPr>
        <p:spPr>
          <a:xfrm>
            <a:off x="7563460"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5,170원</a:t>
            </a:r>
            <a:endParaRPr lang="en-US" sz="1400" dirty="0"/>
          </a:p>
        </p:txBody>
      </p:sp>
      <p:sp>
        <p:nvSpPr>
          <p:cNvPr id="47" name="Text 38"/>
          <p:cNvSpPr txBox="1"/>
          <p:nvPr/>
        </p:nvSpPr>
        <p:spPr>
          <a:xfrm>
            <a:off x="6393028"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72160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50" name="Shape 41"/>
          <p:cNvSpPr/>
          <p:nvPr/>
        </p:nvSpPr>
        <p:spPr>
          <a:xfrm>
            <a:off x="9178061" y="3922776"/>
            <a:ext cx="1097280" cy="1097280"/>
          </a:xfrm>
          <a:prstGeom prst="rect">
            <a:avLst/>
          </a:prstGeom>
          <a:solidFill>
            <a:srgbClr val="F2F3F5"/>
          </a:solidFill>
          <a:ln w="12700">
            <a:solidFill>
              <a:srgbClr val="F2F3F5"/>
            </a:solidFill>
            <a:prstDash val="solid"/>
          </a:ln>
        </p:spPr>
        <p:txBody>
          <a:bodyPr/>
          <a:lstStyle/>
          <a:p>
            <a:endParaRPr lang="en-KR"/>
          </a:p>
        </p:txBody>
      </p:sp>
      <p:pic>
        <p:nvPicPr>
          <p:cNvPr id="51" name="Image 7" descr="/private/tmp/claude-501/-Users-kwg-Desktop-mydrive-project-Toccata/78323d34-2a2b-4f50-ae4c-82ce3905c7c6/scratchpad/ppt4/assets/p_L43.jpg"/>
          <p:cNvPicPr>
            <a:picLocks noChangeAspect="1"/>
          </p:cNvPicPr>
          <p:nvPr/>
        </p:nvPicPr>
        <p:blipFill>
          <a:blip r:embed="rId10"/>
          <a:stretch>
            <a:fillRect/>
          </a:stretch>
        </p:blipFill>
        <p:spPr>
          <a:xfrm>
            <a:off x="9223781" y="3968496"/>
            <a:ext cx="1005840" cy="1005840"/>
          </a:xfrm>
          <a:prstGeom prst="rect">
            <a:avLst/>
          </a:prstGeom>
        </p:spPr>
      </p:pic>
      <p:sp>
        <p:nvSpPr>
          <p:cNvPr id="52" name="Text 42"/>
          <p:cNvSpPr txBox="1"/>
          <p:nvPr/>
        </p:nvSpPr>
        <p:spPr>
          <a:xfrm>
            <a:off x="10394213" y="395020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비용 제외</a:t>
            </a:r>
            <a:endParaRPr lang="en-US" sz="1400" dirty="0"/>
          </a:p>
        </p:txBody>
      </p:sp>
      <p:sp>
        <p:nvSpPr>
          <p:cNvPr id="53" name="Text 43"/>
          <p:cNvSpPr txBox="1"/>
          <p:nvPr/>
        </p:nvSpPr>
        <p:spPr>
          <a:xfrm>
            <a:off x="9223781" y="511149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40410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a:t>
            </a:r>
            <a:endParaRPr lang="en-US" sz="1100" dirty="0"/>
          </a:p>
        </p:txBody>
      </p:sp>
      <p:sp>
        <p:nvSpPr>
          <p:cNvPr id="55" name="Text 45"/>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2단계 게임  </a:t>
            </a:r>
            <a:r>
              <a:rPr lang="en-US" sz="1200" dirty="0">
                <a:solidFill>
                  <a:srgbClr val="444A54"/>
                </a:solidFill>
                <a:latin typeface="Apple SD Gothic Neo" pitchFamily="34" charset="0"/>
                <a:ea typeface="Apple SD Gothic Neo" pitchFamily="34" charset="-122"/>
                <a:cs typeface="Apple SD Gothic Neo" pitchFamily="34" charset="-120"/>
              </a:rPr>
              <a:t>Micro HDMI → HDMI </a:t>
            </a:r>
            <a:r>
              <a:rPr lang="en-US" sz="1200" dirty="0" err="1">
                <a:solidFill>
                  <a:srgbClr val="444A54"/>
                </a:solidFill>
                <a:latin typeface="Apple SD Gothic Neo" pitchFamily="34" charset="0"/>
                <a:ea typeface="Apple SD Gothic Neo" pitchFamily="34" charset="-122"/>
                <a:cs typeface="Apple SD Gothic Neo" pitchFamily="34" charset="-120"/>
              </a:rPr>
              <a:t>케이블</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b="1" dirty="0" err="1">
                <a:solidFill>
                  <a:srgbClr val="D9482B"/>
                </a:solidFill>
                <a:latin typeface="Apple SD Gothic Neo" pitchFamily="34" charset="0"/>
                <a:ea typeface="Apple SD Gothic Neo" pitchFamily="34" charset="-122"/>
                <a:cs typeface="Apple SD Gothic Neo" pitchFamily="34" charset="-120"/>
              </a:rPr>
              <a:t>음원</a:t>
            </a:r>
            <a:r>
              <a:rPr lang="en-US" sz="1200" b="1" dirty="0">
                <a:solidFill>
                  <a:srgbClr val="D9482B"/>
                </a:solidFill>
                <a:latin typeface="Apple SD Gothic Neo" pitchFamily="34" charset="0"/>
                <a:ea typeface="Apple SD Gothic Neo" pitchFamily="34" charset="-122"/>
                <a:cs typeface="Apple SD Gothic Neo" pitchFamily="34" charset="-120"/>
              </a:rPr>
              <a:t>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비용</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부품 601,135원의 구성 (피아노)</a:t>
            </a:r>
            <a:endParaRPr lang="en-US" sz="1400" dirty="0"/>
          </a:p>
        </p:txBody>
      </p:sp>
      <p:graphicFrame>
        <p:nvGraphicFramePr>
          <p:cNvPr id="8" name="Chart 0"/>
          <p:cNvGraphicFramePr/>
          <p:nvPr>
            <p:extLst>
              <p:ext uri="{D42A27DB-BD31-4B8C-83A1-F6EECF244321}">
                <p14:modId xmlns:p14="http://schemas.microsoft.com/office/powerpoint/2010/main" val="2988853116"/>
              </p:ext>
            </p:extLst>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26680" y="2183491"/>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2256643"/>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2229211"/>
            <a:ext cx="2453335" cy="347472"/>
          </a:xfrm>
          <a:prstGeom prst="rect">
            <a:avLst/>
          </a:prstGeom>
          <a:noFill/>
          <a:ln/>
        </p:spPr>
        <p:txBody>
          <a:bodyPr wrap="square" lIns="0" tIns="0" rIns="0" bIns="0" rtlCol="0" anchor="t"/>
          <a:lstStyle/>
          <a:p>
            <a:pPr marL="0" indent="0" algn="r">
              <a:buNone/>
            </a:pPr>
            <a:r>
              <a:rPr lang="en-US" altLang="ko-KR" sz="1700" b="1" dirty="0">
                <a:solidFill>
                  <a:srgbClr val="16181D"/>
                </a:solidFill>
                <a:latin typeface="Apple SD Gothic Neo" pitchFamily="34" charset="0"/>
                <a:ea typeface="Apple SD Gothic Neo" pitchFamily="34" charset="-122"/>
                <a:cs typeface="Apple SD Gothic Neo" pitchFamily="34" charset="-120"/>
              </a:rPr>
              <a:t>601,135</a:t>
            </a:r>
            <a:r>
              <a:rPr lang="en-US" sz="1700" b="1" dirty="0">
                <a:solidFill>
                  <a:srgbClr val="16181D"/>
                </a:solidFill>
                <a:latin typeface="Apple SD Gothic Neo" pitchFamily="34" charset="0"/>
                <a:ea typeface="Apple SD Gothic Neo" pitchFamily="34" charset="-122"/>
                <a:cs typeface="Apple SD Gothic Neo" pitchFamily="34" charset="-120"/>
              </a:rPr>
              <a:t>원</a:t>
            </a:r>
            <a:endParaRPr lang="en-US" sz="1700" dirty="0"/>
          </a:p>
        </p:txBody>
      </p:sp>
      <p:sp>
        <p:nvSpPr>
          <p:cNvPr id="13" name="Text 10"/>
          <p:cNvSpPr txBox="1"/>
          <p:nvPr/>
        </p:nvSpPr>
        <p:spPr>
          <a:xfrm>
            <a:off x="7955280" y="2576683"/>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피아노 부품 (페달 · 2단계 게임 제외)</a:t>
            </a:r>
            <a:endParaRPr lang="en-US" sz="1050" dirty="0"/>
          </a:p>
        </p:txBody>
      </p:sp>
      <p:sp>
        <p:nvSpPr>
          <p:cNvPr id="14" name="Shape 11"/>
          <p:cNvSpPr/>
          <p:nvPr/>
        </p:nvSpPr>
        <p:spPr>
          <a:xfrm>
            <a:off x="7726680" y="2969875"/>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3043027"/>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소모품</a:t>
            </a:r>
            <a:endParaRPr lang="en-US" sz="1300" dirty="0"/>
          </a:p>
        </p:txBody>
      </p:sp>
      <p:sp>
        <p:nvSpPr>
          <p:cNvPr id="16" name="Text 13"/>
          <p:cNvSpPr txBox="1"/>
          <p:nvPr/>
        </p:nvSpPr>
        <p:spPr>
          <a:xfrm>
            <a:off x="8961120" y="3015595"/>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203,814원</a:t>
            </a:r>
            <a:endParaRPr lang="en-US" sz="1700" dirty="0"/>
          </a:p>
        </p:txBody>
      </p:sp>
      <p:sp>
        <p:nvSpPr>
          <p:cNvPr id="17" name="Text 14"/>
          <p:cNvSpPr txBox="1"/>
          <p:nvPr/>
        </p:nvSpPr>
        <p:spPr>
          <a:xfrm>
            <a:off x="7955280" y="3363067"/>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필라멘트 8 kg · 케이블 · 납 · 본드</a:t>
            </a:r>
            <a:endParaRPr lang="en-US" sz="1050" dirty="0"/>
          </a:p>
        </p:txBody>
      </p:sp>
      <p:sp>
        <p:nvSpPr>
          <p:cNvPr id="26" name="Shape 23"/>
          <p:cNvSpPr/>
          <p:nvPr/>
        </p:nvSpPr>
        <p:spPr>
          <a:xfrm>
            <a:off x="7726680" y="3966571"/>
            <a:ext cx="3916375"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27" name="Text 24"/>
          <p:cNvSpPr txBox="1"/>
          <p:nvPr/>
        </p:nvSpPr>
        <p:spPr>
          <a:xfrm>
            <a:off x="7955280" y="4103731"/>
            <a:ext cx="3459175" cy="274320"/>
          </a:xfrm>
          <a:prstGeom prst="rect">
            <a:avLst/>
          </a:prstGeom>
          <a:noFill/>
          <a:ln/>
        </p:spPr>
        <p:txBody>
          <a:bodyPr wrap="square" lIns="0" tIns="0" rIns="0" bIns="0" rtlCol="0" anchor="t"/>
          <a:lstStyle/>
          <a:p>
            <a:pPr marL="0" indent="0">
              <a:buNone/>
            </a:pPr>
            <a:r>
              <a:rPr lang="en-US" sz="1150" b="1" dirty="0">
                <a:solidFill>
                  <a:srgbClr val="B9BEC7"/>
                </a:solidFill>
                <a:latin typeface="Apple SD Gothic Neo" pitchFamily="34" charset="0"/>
                <a:ea typeface="Apple SD Gothic Neo" pitchFamily="34" charset="-122"/>
                <a:cs typeface="Apple SD Gothic Neo" pitchFamily="34" charset="-120"/>
              </a:rPr>
              <a:t>전체 제작비 (부품 + 소모품, 공구 · 배송비 별도)</a:t>
            </a:r>
            <a:endParaRPr lang="en-US" sz="1150" dirty="0"/>
          </a:p>
        </p:txBody>
      </p:sp>
      <p:sp>
        <p:nvSpPr>
          <p:cNvPr id="28" name="Text 25"/>
          <p:cNvSpPr txBox="1"/>
          <p:nvPr/>
        </p:nvSpPr>
        <p:spPr>
          <a:xfrm>
            <a:off x="7955280" y="4295755"/>
            <a:ext cx="3459175" cy="502920"/>
          </a:xfrm>
          <a:prstGeom prst="rect">
            <a:avLst/>
          </a:prstGeom>
          <a:noFill/>
          <a:ln/>
        </p:spPr>
        <p:txBody>
          <a:bodyPr wrap="square" lIns="0" tIns="0" rIns="0" bIns="0" rtlCol="0" anchor="t"/>
          <a:lstStyle/>
          <a:p>
            <a:pPr marL="0" indent="0">
              <a:buNone/>
            </a:pPr>
            <a:r>
              <a:rPr lang="en-US" altLang="ko-KR" sz="2800" b="1" dirty="0">
                <a:solidFill>
                  <a:srgbClr val="FFFFFF"/>
                </a:solidFill>
                <a:latin typeface="Apple SD Gothic Neo" pitchFamily="34" charset="0"/>
                <a:ea typeface="Apple SD Gothic Neo" pitchFamily="34" charset="-122"/>
                <a:cs typeface="Apple SD Gothic Neo" pitchFamily="34" charset="-120"/>
              </a:rPr>
              <a:t>804,949</a:t>
            </a:r>
            <a:r>
              <a:rPr lang="en-US" sz="2800" b="1" dirty="0">
                <a:solidFill>
                  <a:srgbClr val="FFFFFF"/>
                </a:solidFill>
                <a:latin typeface="Apple SD Gothic Neo" pitchFamily="34" charset="0"/>
                <a:ea typeface="Apple SD Gothic Neo" pitchFamily="34" charset="-122"/>
                <a:cs typeface="Apple SD Gothic Neo" pitchFamily="34" charset="-120"/>
              </a:rPr>
              <a:t>원</a:t>
            </a:r>
            <a:endParaRPr lang="en-US" sz="2800" dirty="0"/>
          </a:p>
        </p:txBody>
      </p:sp>
      <p:sp>
        <p:nvSpPr>
          <p:cNvPr id="29" name="Text 26"/>
          <p:cNvSpPr txBox="1"/>
          <p:nvPr/>
        </p:nvSpPr>
        <p:spPr>
          <a:xfrm>
            <a:off x="7955280" y="4807819"/>
            <a:ext cx="3459175" cy="274320"/>
          </a:xfrm>
          <a:prstGeom prst="rect">
            <a:avLst/>
          </a:prstGeom>
          <a:noFill/>
          <a:ln/>
        </p:spPr>
        <p:txBody>
          <a:bodyPr wrap="square" lIns="0" tIns="0" rIns="0" bIns="0" rtlCol="0" anchor="t"/>
          <a:lstStyle/>
          <a:p>
            <a:pPr marL="0" indent="0">
              <a:buNone/>
            </a:pPr>
            <a:r>
              <a:rPr lang="ko-KR" altLang="en-US" sz="1150" dirty="0">
                <a:solidFill>
                  <a:srgbClr val="B9BEC7"/>
                </a:solidFill>
                <a:latin typeface="Apple SD Gothic Neo" pitchFamily="34" charset="0"/>
                <a:ea typeface="Apple SD Gothic Neo" pitchFamily="34" charset="-122"/>
              </a:rPr>
              <a:t>지원비와 사비로 제작할 예정</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4"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5"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6"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7"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제작</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계획</a:t>
            </a:r>
            <a:endParaRPr lang="en-US" sz="2800" dirty="0"/>
          </a:p>
        </p:txBody>
      </p:sp>
      <p:sp>
        <p:nvSpPr>
          <p:cNvPr id="8" name="Shape 5"/>
          <p:cNvSpPr/>
          <p:nvPr/>
        </p:nvSpPr>
        <p:spPr>
          <a:xfrm>
            <a:off x="3671316" y="1353312"/>
            <a:ext cx="2468023" cy="237744"/>
          </a:xfrm>
          <a:prstGeom prst="rect">
            <a:avLst/>
          </a:prstGeom>
          <a:solidFill>
            <a:srgbClr val="F3F4F6"/>
          </a:solidFill>
          <a:ln w="12700">
            <a:solidFill>
              <a:srgbClr val="FFFFFF"/>
            </a:solidFill>
            <a:prstDash val="solid"/>
          </a:ln>
        </p:spPr>
        <p:txBody>
          <a:bodyPr/>
          <a:lstStyle/>
          <a:p>
            <a:endParaRPr lang="en-KR"/>
          </a:p>
        </p:txBody>
      </p:sp>
      <p:sp>
        <p:nvSpPr>
          <p:cNvPr id="9" name="Text 6"/>
          <p:cNvSpPr txBox="1"/>
          <p:nvPr/>
        </p:nvSpPr>
        <p:spPr>
          <a:xfrm>
            <a:off x="3657600" y="1353312"/>
            <a:ext cx="2495455" cy="237744"/>
          </a:xfrm>
          <a:prstGeom prst="rect">
            <a:avLst/>
          </a:prstGeom>
          <a:noFill/>
          <a:ln/>
        </p:spPr>
        <p:txBody>
          <a:bodyPr wrap="square" lIns="0" tIns="0" rIns="0" bIns="0" rtlCol="0" anchor="ctr"/>
          <a:lstStyle/>
          <a:p>
            <a:pPr marL="0" indent="0" algn="ctr">
              <a:buNone/>
            </a:pPr>
            <a:r>
              <a:rPr lang="en-US" sz="1100" b="1" dirty="0">
                <a:solidFill>
                  <a:srgbClr val="767D88"/>
                </a:solidFill>
                <a:latin typeface="Apple SD Gothic Neo" pitchFamily="34" charset="0"/>
                <a:ea typeface="Apple SD Gothic Neo" pitchFamily="34" charset="-122"/>
                <a:cs typeface="Apple SD Gothic Neo" pitchFamily="34" charset="-120"/>
              </a:rPr>
              <a:t>9월</a:t>
            </a:r>
            <a:endParaRPr lang="en-US" sz="1100" dirty="0"/>
          </a:p>
        </p:txBody>
      </p:sp>
      <p:sp>
        <p:nvSpPr>
          <p:cNvPr id="10" name="Shape 7"/>
          <p:cNvSpPr/>
          <p:nvPr/>
        </p:nvSpPr>
        <p:spPr>
          <a:xfrm>
            <a:off x="6166771" y="1353312"/>
            <a:ext cx="1968932" cy="237744"/>
          </a:xfrm>
          <a:prstGeom prst="rect">
            <a:avLst/>
          </a:prstGeom>
          <a:solidFill>
            <a:srgbClr val="16181D"/>
          </a:solidFill>
          <a:ln w="12700">
            <a:solidFill>
              <a:srgbClr val="FFFFFF"/>
            </a:solidFill>
            <a:prstDash val="solid"/>
          </a:ln>
        </p:spPr>
        <p:txBody>
          <a:bodyPr/>
          <a:lstStyle/>
          <a:p>
            <a:endParaRPr lang="en-KR"/>
          </a:p>
        </p:txBody>
      </p:sp>
      <p:sp>
        <p:nvSpPr>
          <p:cNvPr id="11" name="Text 8"/>
          <p:cNvSpPr txBox="1"/>
          <p:nvPr/>
        </p:nvSpPr>
        <p:spPr>
          <a:xfrm>
            <a:off x="6153055" y="1353312"/>
            <a:ext cx="199636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10월</a:t>
            </a:r>
            <a:endParaRPr lang="en-US" sz="1100" dirty="0"/>
          </a:p>
        </p:txBody>
      </p:sp>
      <p:sp>
        <p:nvSpPr>
          <p:cNvPr id="12" name="Shape 9"/>
          <p:cNvSpPr/>
          <p:nvPr/>
        </p:nvSpPr>
        <p:spPr>
          <a:xfrm>
            <a:off x="8163135" y="1353312"/>
            <a:ext cx="1968932" cy="237744"/>
          </a:xfrm>
          <a:prstGeom prst="rect">
            <a:avLst/>
          </a:prstGeom>
          <a:solidFill>
            <a:srgbClr val="16181D"/>
          </a:solidFill>
          <a:ln w="12700">
            <a:solidFill>
              <a:srgbClr val="FFFFFF"/>
            </a:solidFill>
            <a:prstDash val="solid"/>
          </a:ln>
        </p:spPr>
        <p:txBody>
          <a:bodyPr/>
          <a:lstStyle/>
          <a:p>
            <a:endParaRPr lang="en-KR"/>
          </a:p>
        </p:txBody>
      </p:sp>
      <p:sp>
        <p:nvSpPr>
          <p:cNvPr id="13" name="Text 10"/>
          <p:cNvSpPr txBox="1"/>
          <p:nvPr/>
        </p:nvSpPr>
        <p:spPr>
          <a:xfrm>
            <a:off x="8149419" y="1353312"/>
            <a:ext cx="1996364"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11월</a:t>
            </a:r>
            <a:endParaRPr lang="en-US" sz="1100" dirty="0"/>
          </a:p>
        </p:txBody>
      </p:sp>
      <p:sp>
        <p:nvSpPr>
          <p:cNvPr id="14" name="Shape 11"/>
          <p:cNvSpPr/>
          <p:nvPr/>
        </p:nvSpPr>
        <p:spPr>
          <a:xfrm>
            <a:off x="10159498" y="1353312"/>
            <a:ext cx="1469841" cy="237744"/>
          </a:xfrm>
          <a:prstGeom prst="rect">
            <a:avLst/>
          </a:prstGeom>
          <a:solidFill>
            <a:srgbClr val="16181D"/>
          </a:solidFill>
          <a:ln w="12700">
            <a:solidFill>
              <a:srgbClr val="FFFFFF"/>
            </a:solidFill>
            <a:prstDash val="solid"/>
          </a:ln>
        </p:spPr>
        <p:txBody>
          <a:bodyPr/>
          <a:lstStyle/>
          <a:p>
            <a:endParaRPr lang="en-KR"/>
          </a:p>
        </p:txBody>
      </p:sp>
      <p:sp>
        <p:nvSpPr>
          <p:cNvPr id="15" name="Text 12"/>
          <p:cNvSpPr txBox="1"/>
          <p:nvPr/>
        </p:nvSpPr>
        <p:spPr>
          <a:xfrm>
            <a:off x="10145782" y="1353312"/>
            <a:ext cx="1497273" cy="237744"/>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12월</a:t>
            </a:r>
            <a:endParaRPr lang="en-US" sz="1100" dirty="0"/>
          </a:p>
        </p:txBody>
      </p:sp>
      <p:sp>
        <p:nvSpPr>
          <p:cNvPr id="16" name="Text 13"/>
          <p:cNvSpPr txBox="1"/>
          <p:nvPr/>
        </p:nvSpPr>
        <p:spPr>
          <a:xfrm>
            <a:off x="3657600"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8/31</a:t>
            </a:r>
            <a:endParaRPr lang="en-US" sz="850" dirty="0"/>
          </a:p>
        </p:txBody>
      </p:sp>
      <p:sp>
        <p:nvSpPr>
          <p:cNvPr id="17" name="Text 14"/>
          <p:cNvSpPr txBox="1"/>
          <p:nvPr/>
        </p:nvSpPr>
        <p:spPr>
          <a:xfrm>
            <a:off x="4156691"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p>
        </p:txBody>
      </p:sp>
      <p:sp>
        <p:nvSpPr>
          <p:cNvPr id="18" name="Text 15"/>
          <p:cNvSpPr txBox="1"/>
          <p:nvPr/>
        </p:nvSpPr>
        <p:spPr>
          <a:xfrm>
            <a:off x="4655782"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9/14</a:t>
            </a:r>
            <a:endParaRPr lang="en-US" sz="850" dirty="0"/>
          </a:p>
        </p:txBody>
      </p:sp>
      <p:sp>
        <p:nvSpPr>
          <p:cNvPr id="19" name="Text 16"/>
          <p:cNvSpPr txBox="1"/>
          <p:nvPr/>
        </p:nvSpPr>
        <p:spPr>
          <a:xfrm>
            <a:off x="5154873"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9/21</a:t>
            </a:r>
            <a:endParaRPr lang="en-US" sz="850" dirty="0"/>
          </a:p>
        </p:txBody>
      </p:sp>
      <p:sp>
        <p:nvSpPr>
          <p:cNvPr id="20" name="Text 17"/>
          <p:cNvSpPr txBox="1"/>
          <p:nvPr/>
        </p:nvSpPr>
        <p:spPr>
          <a:xfrm>
            <a:off x="5653964"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9/28</a:t>
            </a:r>
            <a:endParaRPr lang="en-US" sz="850" dirty="0"/>
          </a:p>
        </p:txBody>
      </p:sp>
      <p:sp>
        <p:nvSpPr>
          <p:cNvPr id="21" name="Text 18"/>
          <p:cNvSpPr txBox="1"/>
          <p:nvPr/>
        </p:nvSpPr>
        <p:spPr>
          <a:xfrm>
            <a:off x="6153055"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p>
        </p:txBody>
      </p:sp>
      <p:sp>
        <p:nvSpPr>
          <p:cNvPr id="22" name="Text 19"/>
          <p:cNvSpPr txBox="1"/>
          <p:nvPr/>
        </p:nvSpPr>
        <p:spPr>
          <a:xfrm>
            <a:off x="6652146"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10/12</a:t>
            </a:r>
            <a:endParaRPr lang="en-US" sz="850" dirty="0"/>
          </a:p>
        </p:txBody>
      </p:sp>
      <p:sp>
        <p:nvSpPr>
          <p:cNvPr id="23" name="Text 20"/>
          <p:cNvSpPr txBox="1"/>
          <p:nvPr/>
        </p:nvSpPr>
        <p:spPr>
          <a:xfrm>
            <a:off x="7151237"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10/19</a:t>
            </a:r>
            <a:endParaRPr lang="en-US" sz="850" dirty="0"/>
          </a:p>
        </p:txBody>
      </p:sp>
      <p:sp>
        <p:nvSpPr>
          <p:cNvPr id="24" name="Text 21"/>
          <p:cNvSpPr txBox="1"/>
          <p:nvPr/>
        </p:nvSpPr>
        <p:spPr>
          <a:xfrm>
            <a:off x="7650328"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10/26</a:t>
            </a:r>
            <a:endParaRPr lang="en-US" sz="850" dirty="0"/>
          </a:p>
        </p:txBody>
      </p:sp>
      <p:sp>
        <p:nvSpPr>
          <p:cNvPr id="25" name="Text 22"/>
          <p:cNvSpPr txBox="1"/>
          <p:nvPr/>
        </p:nvSpPr>
        <p:spPr>
          <a:xfrm>
            <a:off x="8149419"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p>
        </p:txBody>
      </p:sp>
      <p:sp>
        <p:nvSpPr>
          <p:cNvPr id="26" name="Text 23"/>
          <p:cNvSpPr txBox="1"/>
          <p:nvPr/>
        </p:nvSpPr>
        <p:spPr>
          <a:xfrm>
            <a:off x="8648510"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p>
        </p:txBody>
      </p:sp>
      <p:sp>
        <p:nvSpPr>
          <p:cNvPr id="27" name="Text 24"/>
          <p:cNvSpPr txBox="1"/>
          <p:nvPr/>
        </p:nvSpPr>
        <p:spPr>
          <a:xfrm>
            <a:off x="9147600"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11/16</a:t>
            </a:r>
            <a:endParaRPr lang="en-US" sz="850" dirty="0"/>
          </a:p>
        </p:txBody>
      </p:sp>
      <p:sp>
        <p:nvSpPr>
          <p:cNvPr id="28" name="Text 25"/>
          <p:cNvSpPr txBox="1"/>
          <p:nvPr/>
        </p:nvSpPr>
        <p:spPr>
          <a:xfrm>
            <a:off x="9646691"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11/23</a:t>
            </a:r>
            <a:endParaRPr lang="en-US" sz="850" dirty="0"/>
          </a:p>
        </p:txBody>
      </p:sp>
      <p:sp>
        <p:nvSpPr>
          <p:cNvPr id="29" name="Text 26"/>
          <p:cNvSpPr txBox="1"/>
          <p:nvPr/>
        </p:nvSpPr>
        <p:spPr>
          <a:xfrm>
            <a:off x="10145782"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11/30</a:t>
            </a:r>
            <a:endParaRPr lang="en-US" sz="850" dirty="0"/>
          </a:p>
        </p:txBody>
      </p:sp>
      <p:sp>
        <p:nvSpPr>
          <p:cNvPr id="30" name="Text 27"/>
          <p:cNvSpPr txBox="1"/>
          <p:nvPr/>
        </p:nvSpPr>
        <p:spPr>
          <a:xfrm>
            <a:off x="10644873"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12/7</a:t>
            </a:r>
            <a:endParaRPr lang="en-US" sz="850" dirty="0"/>
          </a:p>
        </p:txBody>
      </p:sp>
      <p:sp>
        <p:nvSpPr>
          <p:cNvPr id="31" name="Text 28"/>
          <p:cNvSpPr txBox="1"/>
          <p:nvPr/>
        </p:nvSpPr>
        <p:spPr>
          <a:xfrm>
            <a:off x="11143964" y="1618488"/>
            <a:ext cx="499091" cy="182880"/>
          </a:xfrm>
          <a:prstGeom prst="rect">
            <a:avLst/>
          </a:prstGeom>
          <a:noFill/>
          <a:ln/>
        </p:spPr>
        <p:txBody>
          <a:bodyPr wrap="square" lIns="0" tIns="0" rIns="0" bIns="0" rtlCol="0" anchor="t"/>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12/14</a:t>
            </a:r>
            <a:endParaRPr lang="en-US" sz="850" dirty="0"/>
          </a:p>
        </p:txBody>
      </p:sp>
      <p:sp>
        <p:nvSpPr>
          <p:cNvPr id="32" name="Shape 29"/>
          <p:cNvSpPr/>
          <p:nvPr/>
        </p:nvSpPr>
        <p:spPr>
          <a:xfrm>
            <a:off x="4156691" y="1828800"/>
            <a:ext cx="0" cy="3767328"/>
          </a:xfrm>
          <a:prstGeom prst="line">
            <a:avLst/>
          </a:prstGeom>
          <a:noFill/>
          <a:ln w="6350">
            <a:solidFill>
              <a:srgbClr val="DDE0E5"/>
            </a:solidFill>
            <a:prstDash val="dash"/>
          </a:ln>
        </p:spPr>
        <p:txBody>
          <a:bodyPr/>
          <a:lstStyle/>
          <a:p>
            <a:endParaRPr lang="en-KR"/>
          </a:p>
        </p:txBody>
      </p:sp>
      <p:sp>
        <p:nvSpPr>
          <p:cNvPr id="33" name="Shape 30"/>
          <p:cNvSpPr/>
          <p:nvPr/>
        </p:nvSpPr>
        <p:spPr>
          <a:xfrm>
            <a:off x="4655782" y="1828800"/>
            <a:ext cx="0" cy="3767328"/>
          </a:xfrm>
          <a:prstGeom prst="line">
            <a:avLst/>
          </a:prstGeom>
          <a:noFill/>
          <a:ln w="6350">
            <a:solidFill>
              <a:srgbClr val="DDE0E5"/>
            </a:solidFill>
            <a:prstDash val="dash"/>
          </a:ln>
        </p:spPr>
        <p:txBody>
          <a:bodyPr/>
          <a:lstStyle/>
          <a:p>
            <a:endParaRPr lang="en-KR"/>
          </a:p>
        </p:txBody>
      </p:sp>
      <p:sp>
        <p:nvSpPr>
          <p:cNvPr id="34" name="Shape 31"/>
          <p:cNvSpPr/>
          <p:nvPr/>
        </p:nvSpPr>
        <p:spPr>
          <a:xfrm>
            <a:off x="5154873" y="1828800"/>
            <a:ext cx="0" cy="3767328"/>
          </a:xfrm>
          <a:prstGeom prst="line">
            <a:avLst/>
          </a:prstGeom>
          <a:noFill/>
          <a:ln w="6350">
            <a:solidFill>
              <a:srgbClr val="DDE0E5"/>
            </a:solidFill>
            <a:prstDash val="dash"/>
          </a:ln>
        </p:spPr>
        <p:txBody>
          <a:bodyPr/>
          <a:lstStyle/>
          <a:p>
            <a:endParaRPr lang="en-KR"/>
          </a:p>
        </p:txBody>
      </p:sp>
      <p:sp>
        <p:nvSpPr>
          <p:cNvPr id="35" name="Shape 32"/>
          <p:cNvSpPr/>
          <p:nvPr/>
        </p:nvSpPr>
        <p:spPr>
          <a:xfrm>
            <a:off x="5653964" y="1828800"/>
            <a:ext cx="0" cy="3767328"/>
          </a:xfrm>
          <a:prstGeom prst="line">
            <a:avLst/>
          </a:prstGeom>
          <a:noFill/>
          <a:ln w="6350">
            <a:solidFill>
              <a:srgbClr val="DDE0E5"/>
            </a:solidFill>
            <a:prstDash val="dash"/>
          </a:ln>
        </p:spPr>
        <p:txBody>
          <a:bodyPr/>
          <a:lstStyle/>
          <a:p>
            <a:endParaRPr lang="en-KR"/>
          </a:p>
        </p:txBody>
      </p:sp>
      <p:sp>
        <p:nvSpPr>
          <p:cNvPr id="36" name="Shape 33"/>
          <p:cNvSpPr/>
          <p:nvPr/>
        </p:nvSpPr>
        <p:spPr>
          <a:xfrm>
            <a:off x="6153055" y="1828800"/>
            <a:ext cx="0" cy="3767328"/>
          </a:xfrm>
          <a:prstGeom prst="line">
            <a:avLst/>
          </a:prstGeom>
          <a:noFill/>
          <a:ln w="9525">
            <a:solidFill>
              <a:srgbClr val="767D88"/>
            </a:solidFill>
            <a:prstDash val="solid"/>
          </a:ln>
        </p:spPr>
        <p:txBody>
          <a:bodyPr/>
          <a:lstStyle/>
          <a:p>
            <a:endParaRPr lang="en-KR"/>
          </a:p>
        </p:txBody>
      </p:sp>
      <p:sp>
        <p:nvSpPr>
          <p:cNvPr id="37" name="Shape 34"/>
          <p:cNvSpPr/>
          <p:nvPr/>
        </p:nvSpPr>
        <p:spPr>
          <a:xfrm>
            <a:off x="6652146" y="1828800"/>
            <a:ext cx="0" cy="3767328"/>
          </a:xfrm>
          <a:prstGeom prst="line">
            <a:avLst/>
          </a:prstGeom>
          <a:noFill/>
          <a:ln w="6350">
            <a:solidFill>
              <a:srgbClr val="DDE0E5"/>
            </a:solidFill>
            <a:prstDash val="dash"/>
          </a:ln>
        </p:spPr>
        <p:txBody>
          <a:bodyPr/>
          <a:lstStyle/>
          <a:p>
            <a:endParaRPr lang="en-KR"/>
          </a:p>
        </p:txBody>
      </p:sp>
      <p:sp>
        <p:nvSpPr>
          <p:cNvPr id="38" name="Shape 35"/>
          <p:cNvSpPr/>
          <p:nvPr/>
        </p:nvSpPr>
        <p:spPr>
          <a:xfrm>
            <a:off x="7151237" y="1828800"/>
            <a:ext cx="0" cy="3767328"/>
          </a:xfrm>
          <a:prstGeom prst="line">
            <a:avLst/>
          </a:prstGeom>
          <a:noFill/>
          <a:ln w="6350">
            <a:solidFill>
              <a:srgbClr val="DDE0E5"/>
            </a:solidFill>
            <a:prstDash val="dash"/>
          </a:ln>
        </p:spPr>
        <p:txBody>
          <a:bodyPr/>
          <a:lstStyle/>
          <a:p>
            <a:endParaRPr lang="en-KR"/>
          </a:p>
        </p:txBody>
      </p:sp>
      <p:sp>
        <p:nvSpPr>
          <p:cNvPr id="39" name="Shape 36"/>
          <p:cNvSpPr/>
          <p:nvPr/>
        </p:nvSpPr>
        <p:spPr>
          <a:xfrm>
            <a:off x="7650328" y="1828800"/>
            <a:ext cx="0" cy="3767328"/>
          </a:xfrm>
          <a:prstGeom prst="line">
            <a:avLst/>
          </a:prstGeom>
          <a:noFill/>
          <a:ln w="6350">
            <a:solidFill>
              <a:srgbClr val="DDE0E5"/>
            </a:solidFill>
            <a:prstDash val="dash"/>
          </a:ln>
        </p:spPr>
        <p:txBody>
          <a:bodyPr/>
          <a:lstStyle/>
          <a:p>
            <a:endParaRPr lang="en-KR"/>
          </a:p>
        </p:txBody>
      </p:sp>
      <p:sp>
        <p:nvSpPr>
          <p:cNvPr id="40" name="Shape 37"/>
          <p:cNvSpPr/>
          <p:nvPr/>
        </p:nvSpPr>
        <p:spPr>
          <a:xfrm>
            <a:off x="8149419" y="1828800"/>
            <a:ext cx="0" cy="3767328"/>
          </a:xfrm>
          <a:prstGeom prst="line">
            <a:avLst/>
          </a:prstGeom>
          <a:noFill/>
          <a:ln w="9525">
            <a:solidFill>
              <a:srgbClr val="767D88"/>
            </a:solidFill>
            <a:prstDash val="solid"/>
          </a:ln>
        </p:spPr>
        <p:txBody>
          <a:bodyPr/>
          <a:lstStyle/>
          <a:p>
            <a:endParaRPr lang="en-KR"/>
          </a:p>
        </p:txBody>
      </p:sp>
      <p:sp>
        <p:nvSpPr>
          <p:cNvPr id="41" name="Shape 38"/>
          <p:cNvSpPr/>
          <p:nvPr/>
        </p:nvSpPr>
        <p:spPr>
          <a:xfrm>
            <a:off x="8648510" y="1828800"/>
            <a:ext cx="0" cy="3767328"/>
          </a:xfrm>
          <a:prstGeom prst="line">
            <a:avLst/>
          </a:prstGeom>
          <a:noFill/>
          <a:ln w="6350">
            <a:solidFill>
              <a:srgbClr val="DDE0E5"/>
            </a:solidFill>
            <a:prstDash val="dash"/>
          </a:ln>
        </p:spPr>
        <p:txBody>
          <a:bodyPr/>
          <a:lstStyle/>
          <a:p>
            <a:endParaRPr lang="en-KR"/>
          </a:p>
        </p:txBody>
      </p:sp>
      <p:sp>
        <p:nvSpPr>
          <p:cNvPr id="42" name="Shape 39"/>
          <p:cNvSpPr/>
          <p:nvPr/>
        </p:nvSpPr>
        <p:spPr>
          <a:xfrm>
            <a:off x="9147600" y="1828800"/>
            <a:ext cx="0" cy="3767328"/>
          </a:xfrm>
          <a:prstGeom prst="line">
            <a:avLst/>
          </a:prstGeom>
          <a:noFill/>
          <a:ln w="6350">
            <a:solidFill>
              <a:srgbClr val="DDE0E5"/>
            </a:solidFill>
            <a:prstDash val="dash"/>
          </a:ln>
        </p:spPr>
        <p:txBody>
          <a:bodyPr/>
          <a:lstStyle/>
          <a:p>
            <a:endParaRPr lang="en-KR"/>
          </a:p>
        </p:txBody>
      </p:sp>
      <p:sp>
        <p:nvSpPr>
          <p:cNvPr id="43" name="Shape 40"/>
          <p:cNvSpPr/>
          <p:nvPr/>
        </p:nvSpPr>
        <p:spPr>
          <a:xfrm>
            <a:off x="9646691" y="1828800"/>
            <a:ext cx="0" cy="3767328"/>
          </a:xfrm>
          <a:prstGeom prst="line">
            <a:avLst/>
          </a:prstGeom>
          <a:noFill/>
          <a:ln w="6350">
            <a:solidFill>
              <a:srgbClr val="DDE0E5"/>
            </a:solidFill>
            <a:prstDash val="dash"/>
          </a:ln>
        </p:spPr>
        <p:txBody>
          <a:bodyPr/>
          <a:lstStyle/>
          <a:p>
            <a:endParaRPr lang="en-KR"/>
          </a:p>
        </p:txBody>
      </p:sp>
      <p:sp>
        <p:nvSpPr>
          <p:cNvPr id="44" name="Shape 41"/>
          <p:cNvSpPr/>
          <p:nvPr/>
        </p:nvSpPr>
        <p:spPr>
          <a:xfrm>
            <a:off x="10145782" y="1828800"/>
            <a:ext cx="0" cy="3767328"/>
          </a:xfrm>
          <a:prstGeom prst="line">
            <a:avLst/>
          </a:prstGeom>
          <a:noFill/>
          <a:ln w="9525">
            <a:solidFill>
              <a:srgbClr val="767D88"/>
            </a:solidFill>
            <a:prstDash val="solid"/>
          </a:ln>
        </p:spPr>
        <p:txBody>
          <a:bodyPr/>
          <a:lstStyle/>
          <a:p>
            <a:endParaRPr lang="en-KR"/>
          </a:p>
        </p:txBody>
      </p:sp>
      <p:sp>
        <p:nvSpPr>
          <p:cNvPr id="45" name="Shape 42"/>
          <p:cNvSpPr/>
          <p:nvPr/>
        </p:nvSpPr>
        <p:spPr>
          <a:xfrm>
            <a:off x="10644873" y="1828800"/>
            <a:ext cx="0" cy="3767328"/>
          </a:xfrm>
          <a:prstGeom prst="line">
            <a:avLst/>
          </a:prstGeom>
          <a:noFill/>
          <a:ln w="6350">
            <a:solidFill>
              <a:srgbClr val="DDE0E5"/>
            </a:solidFill>
            <a:prstDash val="dash"/>
          </a:ln>
        </p:spPr>
        <p:txBody>
          <a:bodyPr/>
          <a:lstStyle/>
          <a:p>
            <a:endParaRPr lang="en-KR"/>
          </a:p>
        </p:txBody>
      </p:sp>
      <p:sp>
        <p:nvSpPr>
          <p:cNvPr id="46" name="Shape 43"/>
          <p:cNvSpPr/>
          <p:nvPr/>
        </p:nvSpPr>
        <p:spPr>
          <a:xfrm>
            <a:off x="11143964" y="1828800"/>
            <a:ext cx="0" cy="3767328"/>
          </a:xfrm>
          <a:prstGeom prst="line">
            <a:avLst/>
          </a:prstGeom>
          <a:noFill/>
          <a:ln w="6350">
            <a:solidFill>
              <a:srgbClr val="DDE0E5"/>
            </a:solidFill>
            <a:prstDash val="dash"/>
          </a:ln>
        </p:spPr>
        <p:txBody>
          <a:bodyPr/>
          <a:lstStyle/>
          <a:p>
            <a:endParaRPr lang="en-KR"/>
          </a:p>
        </p:txBody>
      </p:sp>
      <p:sp>
        <p:nvSpPr>
          <p:cNvPr id="47" name="Shape 44"/>
          <p:cNvSpPr/>
          <p:nvPr/>
        </p:nvSpPr>
        <p:spPr>
          <a:xfrm>
            <a:off x="5653964" y="1810512"/>
            <a:ext cx="0" cy="3785616"/>
          </a:xfrm>
          <a:prstGeom prst="line">
            <a:avLst/>
          </a:prstGeom>
          <a:noFill/>
          <a:ln w="19050">
            <a:solidFill>
              <a:srgbClr val="D9482B"/>
            </a:solidFill>
            <a:prstDash val="solid"/>
          </a:ln>
        </p:spPr>
        <p:txBody>
          <a:bodyPr/>
          <a:lstStyle/>
          <a:p>
            <a:endParaRPr lang="en-KR"/>
          </a:p>
        </p:txBody>
      </p:sp>
      <p:sp>
        <p:nvSpPr>
          <p:cNvPr id="48" name="Text 45"/>
          <p:cNvSpPr txBox="1"/>
          <p:nvPr/>
        </p:nvSpPr>
        <p:spPr>
          <a:xfrm>
            <a:off x="5288204" y="5614416"/>
            <a:ext cx="731520" cy="182880"/>
          </a:xfrm>
          <a:prstGeom prst="rect">
            <a:avLst/>
          </a:prstGeom>
          <a:noFill/>
          <a:ln/>
        </p:spPr>
        <p:txBody>
          <a:bodyPr wrap="square" lIns="0" tIns="0" rIns="0" bIns="0" rtlCol="0" anchor="t"/>
          <a:lstStyle/>
          <a:p>
            <a:pPr marL="0" indent="0" algn="ctr">
              <a:buNone/>
            </a:pPr>
            <a:r>
              <a:rPr lang="en-US" sz="850" b="1" dirty="0">
                <a:solidFill>
                  <a:srgbClr val="D9482B"/>
                </a:solidFill>
                <a:latin typeface="Apple SD Gothic Neo" pitchFamily="34" charset="0"/>
                <a:ea typeface="Apple SD Gothic Neo" pitchFamily="34" charset="-122"/>
                <a:cs typeface="Apple SD Gothic Neo" pitchFamily="34" charset="-120"/>
              </a:rPr>
              <a:t>오늘</a:t>
            </a:r>
            <a:endParaRPr lang="en-US" sz="850" dirty="0"/>
          </a:p>
        </p:txBody>
      </p:sp>
      <p:sp>
        <p:nvSpPr>
          <p:cNvPr id="49" name="Text 46"/>
          <p:cNvSpPr txBox="1"/>
          <p:nvPr/>
        </p:nvSpPr>
        <p:spPr>
          <a:xfrm>
            <a:off x="548640" y="1847088"/>
            <a:ext cx="11002975" cy="196596"/>
          </a:xfrm>
          <a:prstGeom prst="rect">
            <a:avLst/>
          </a:prstGeom>
          <a:noFill/>
          <a:ln/>
        </p:spPr>
        <p:txBody>
          <a:bodyPr wrap="square" lIns="0" tIns="0" rIns="0" bIns="0" rtlCol="0" anchor="ctr"/>
          <a:lstStyle/>
          <a:p>
            <a:pPr marL="0" indent="0">
              <a:buNone/>
            </a:pPr>
            <a:r>
              <a:rPr lang="en-US" sz="1150" b="1" dirty="0">
                <a:solidFill>
                  <a:srgbClr val="767D88"/>
                </a:solidFill>
                <a:latin typeface="Apple SD Gothic Neo" pitchFamily="34" charset="0"/>
                <a:ea typeface="Apple SD Gothic Neo" pitchFamily="34" charset="-122"/>
                <a:cs typeface="Apple SD Gothic Neo" pitchFamily="34" charset="-120"/>
              </a:rPr>
              <a:t>9월 · 준비 (완료)</a:t>
            </a:r>
            <a:endParaRPr lang="en-US" sz="1150" dirty="0"/>
          </a:p>
        </p:txBody>
      </p:sp>
      <p:sp>
        <p:nvSpPr>
          <p:cNvPr id="50" name="Text 47"/>
          <p:cNvSpPr txBox="1"/>
          <p:nvPr/>
        </p:nvSpPr>
        <p:spPr>
          <a:xfrm>
            <a:off x="676656" y="2043684"/>
            <a:ext cx="2889504" cy="193853"/>
          </a:xfrm>
          <a:prstGeom prst="rect">
            <a:avLst/>
          </a:prstGeom>
          <a:noFill/>
          <a:ln/>
        </p:spPr>
        <p:txBody>
          <a:bodyPr wrap="square" lIns="0" tIns="0" rIns="0" bIns="0" rtlCol="0" anchor="ctr"/>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설계 · 회로도 · 부품 목록 · 게임 기획</a:t>
            </a:r>
            <a:endParaRPr lang="en-US" sz="1050" dirty="0"/>
          </a:p>
        </p:txBody>
      </p:sp>
      <p:sp>
        <p:nvSpPr>
          <p:cNvPr id="51" name="Shape 48"/>
          <p:cNvSpPr/>
          <p:nvPr/>
        </p:nvSpPr>
        <p:spPr>
          <a:xfrm>
            <a:off x="3680460" y="2093976"/>
            <a:ext cx="1950644" cy="93269"/>
          </a:xfrm>
          <a:prstGeom prst="roundRect">
            <a:avLst>
              <a:gd name="adj" fmla="val 39216"/>
            </a:avLst>
          </a:prstGeom>
          <a:solidFill>
            <a:srgbClr val="AEB3BB"/>
          </a:solidFill>
          <a:ln w="12700">
            <a:solidFill>
              <a:srgbClr val="AEB3BB"/>
            </a:solidFill>
            <a:prstDash val="solid"/>
          </a:ln>
        </p:spPr>
        <p:txBody>
          <a:bodyPr/>
          <a:lstStyle/>
          <a:p>
            <a:endParaRPr lang="en-KR"/>
          </a:p>
        </p:txBody>
      </p:sp>
      <p:sp>
        <p:nvSpPr>
          <p:cNvPr id="52" name="Text 49"/>
          <p:cNvSpPr txBox="1"/>
          <p:nvPr/>
        </p:nvSpPr>
        <p:spPr>
          <a:xfrm>
            <a:off x="5704256" y="2061972"/>
            <a:ext cx="1973275"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W1 건반 · 본체, 회로도 9장, 부품 83종</a:t>
            </a:r>
            <a:endParaRPr lang="en-US" sz="850" dirty="0"/>
          </a:p>
        </p:txBody>
      </p:sp>
      <p:sp>
        <p:nvSpPr>
          <p:cNvPr id="53" name="Text 50"/>
          <p:cNvSpPr txBox="1"/>
          <p:nvPr/>
        </p:nvSpPr>
        <p:spPr>
          <a:xfrm>
            <a:off x="548640" y="2255825"/>
            <a:ext cx="11002975" cy="196596"/>
          </a:xfrm>
          <a:prstGeom prst="rect">
            <a:avLst/>
          </a:prstGeom>
          <a:noFill/>
          <a:ln/>
        </p:spPr>
        <p:txBody>
          <a:bodyPr wrap="square" lIns="0" tIns="0" rIns="0" bIns="0" rtlCol="0" anchor="ctr"/>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1단계 · 피아노 — 프린터 1대, 하루 약 11~13시간 출력 기준</a:t>
            </a:r>
            <a:endParaRPr lang="en-US" sz="1150" dirty="0"/>
          </a:p>
        </p:txBody>
      </p:sp>
      <p:sp>
        <p:nvSpPr>
          <p:cNvPr id="54" name="Text 51"/>
          <p:cNvSpPr txBox="1"/>
          <p:nvPr/>
        </p:nvSpPr>
        <p:spPr>
          <a:xfrm>
            <a:off x="676656" y="2452421"/>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프린터 결정 · 부품 주문</a:t>
            </a:r>
            <a:endParaRPr lang="en-US" sz="1050" dirty="0"/>
          </a:p>
        </p:txBody>
      </p:sp>
      <p:sp>
        <p:nvSpPr>
          <p:cNvPr id="55" name="Shape 52"/>
          <p:cNvSpPr/>
          <p:nvPr/>
        </p:nvSpPr>
        <p:spPr>
          <a:xfrm>
            <a:off x="5676824" y="2502713"/>
            <a:ext cx="453371"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56" name="Text 53"/>
          <p:cNvSpPr txBox="1"/>
          <p:nvPr/>
        </p:nvSpPr>
        <p:spPr>
          <a:xfrm>
            <a:off x="6203347" y="2470709"/>
            <a:ext cx="2928823"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9/30까지 주문 (10/5 · 10/9 택배 휴무) · Pi 5 재고 확인</a:t>
            </a:r>
            <a:endParaRPr lang="en-US" sz="850" dirty="0"/>
          </a:p>
        </p:txBody>
      </p:sp>
      <p:sp>
        <p:nvSpPr>
          <p:cNvPr id="57" name="Text 54"/>
          <p:cNvSpPr txBox="1"/>
          <p:nvPr/>
        </p:nvSpPr>
        <p:spPr>
          <a:xfrm>
            <a:off x="676656" y="2646274"/>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출력용 3D 모델 (STL)</a:t>
            </a:r>
            <a:endParaRPr lang="en-US" sz="1050" dirty="0"/>
          </a:p>
        </p:txBody>
      </p:sp>
      <p:sp>
        <p:nvSpPr>
          <p:cNvPr id="58" name="Shape 55"/>
          <p:cNvSpPr/>
          <p:nvPr/>
        </p:nvSpPr>
        <p:spPr>
          <a:xfrm>
            <a:off x="5676824" y="2696566"/>
            <a:ext cx="1451553"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59" name="Text 56"/>
          <p:cNvSpPr txBox="1"/>
          <p:nvPr/>
        </p:nvSpPr>
        <p:spPr>
          <a:xfrm>
            <a:off x="7201529" y="2664562"/>
            <a:ext cx="1580083"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W1 도면 → 출력 파일, 시편부터</a:t>
            </a:r>
            <a:endParaRPr lang="en-US" sz="850" dirty="0"/>
          </a:p>
        </p:txBody>
      </p:sp>
      <p:sp>
        <p:nvSpPr>
          <p:cNvPr id="60" name="Text 57"/>
          <p:cNvSpPr txBox="1"/>
          <p:nvPr/>
        </p:nvSpPr>
        <p:spPr>
          <a:xfrm>
            <a:off x="676656" y="2840126"/>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050" dirty="0"/>
          </a:p>
        </p:txBody>
      </p:sp>
      <p:sp>
        <p:nvSpPr>
          <p:cNvPr id="61" name="Shape 58"/>
          <p:cNvSpPr/>
          <p:nvPr/>
        </p:nvSpPr>
        <p:spPr>
          <a:xfrm>
            <a:off x="6675006" y="2890418"/>
            <a:ext cx="1451553"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62" name="Text 59"/>
          <p:cNvSpPr txBox="1"/>
          <p:nvPr/>
        </p:nvSpPr>
        <p:spPr>
          <a:xfrm>
            <a:off x="8199711" y="2858414"/>
            <a:ext cx="2620670"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3건반 시편 19가지 · 피로 시험 장치는 10월 초 제작</a:t>
            </a:r>
            <a:endParaRPr lang="en-US" sz="850" dirty="0"/>
          </a:p>
        </p:txBody>
      </p:sp>
      <p:sp>
        <p:nvSpPr>
          <p:cNvPr id="63" name="Text 60"/>
          <p:cNvSpPr txBox="1"/>
          <p:nvPr/>
        </p:nvSpPr>
        <p:spPr>
          <a:xfrm>
            <a:off x="676656" y="3033979"/>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시제품 → 첫 소리</a:t>
            </a:r>
            <a:endParaRPr lang="en-US" sz="1050" dirty="0"/>
          </a:p>
        </p:txBody>
      </p:sp>
      <p:sp>
        <p:nvSpPr>
          <p:cNvPr id="64" name="Shape 61"/>
          <p:cNvSpPr/>
          <p:nvPr/>
        </p:nvSpPr>
        <p:spPr>
          <a:xfrm>
            <a:off x="7174097" y="3084271"/>
            <a:ext cx="1451553"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65" name="Text 62"/>
          <p:cNvSpPr txBox="1"/>
          <p:nvPr/>
        </p:nvSpPr>
        <p:spPr>
          <a:xfrm>
            <a:off x="8808530" y="3052267"/>
            <a:ext cx="2074774"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O4 출력 약 48시간 · 납땜 · PC로 첫 소리</a:t>
            </a:r>
            <a:endParaRPr lang="en-US" sz="850" dirty="0"/>
          </a:p>
        </p:txBody>
      </p:sp>
      <p:sp>
        <p:nvSpPr>
          <p:cNvPr id="66" name="Shape 63"/>
          <p:cNvSpPr/>
          <p:nvPr/>
        </p:nvSpPr>
        <p:spPr>
          <a:xfrm>
            <a:off x="8547926" y="3052267"/>
            <a:ext cx="193853" cy="157277"/>
          </a:xfrm>
          <a:prstGeom prst="diamond">
            <a:avLst/>
          </a:prstGeom>
          <a:solidFill>
            <a:srgbClr val="D9482B"/>
          </a:solidFill>
          <a:ln w="12700">
            <a:solidFill>
              <a:srgbClr val="FFFFFF"/>
            </a:solidFill>
            <a:prstDash val="solid"/>
          </a:ln>
        </p:spPr>
        <p:txBody>
          <a:bodyPr/>
          <a:lstStyle/>
          <a:p>
            <a:endParaRPr lang="en-KR"/>
          </a:p>
        </p:txBody>
      </p:sp>
      <p:sp>
        <p:nvSpPr>
          <p:cNvPr id="67" name="Text 64"/>
          <p:cNvSpPr txBox="1"/>
          <p:nvPr/>
        </p:nvSpPr>
        <p:spPr>
          <a:xfrm>
            <a:off x="676656" y="3227832"/>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펌웨어</a:t>
            </a:r>
            <a:endParaRPr lang="en-US" sz="1050" dirty="0"/>
          </a:p>
        </p:txBody>
      </p:sp>
      <p:sp>
        <p:nvSpPr>
          <p:cNvPr id="68" name="Shape 65"/>
          <p:cNvSpPr/>
          <p:nvPr/>
        </p:nvSpPr>
        <p:spPr>
          <a:xfrm>
            <a:off x="6175915" y="3278124"/>
            <a:ext cx="2449735"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69" name="Text 66"/>
          <p:cNvSpPr txBox="1"/>
          <p:nvPr/>
        </p:nvSpPr>
        <p:spPr>
          <a:xfrm>
            <a:off x="8698802" y="3246120"/>
            <a:ext cx="1944929"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MUX 스캔 · 세기 · 튐 거름 · USB-MIDI</a:t>
            </a:r>
            <a:endParaRPr lang="en-US" sz="850" dirty="0"/>
          </a:p>
        </p:txBody>
      </p:sp>
      <p:sp>
        <p:nvSpPr>
          <p:cNvPr id="70" name="Text 67"/>
          <p:cNvSpPr txBox="1"/>
          <p:nvPr/>
        </p:nvSpPr>
        <p:spPr>
          <a:xfrm>
            <a:off x="676656" y="3421685"/>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강철 · 봉 절단 · 스프링 · 납땜</a:t>
            </a:r>
            <a:endParaRPr lang="en-US" sz="1050" dirty="0"/>
          </a:p>
        </p:txBody>
      </p:sp>
      <p:sp>
        <p:nvSpPr>
          <p:cNvPr id="71" name="Shape 68"/>
          <p:cNvSpPr/>
          <p:nvPr/>
        </p:nvSpPr>
        <p:spPr>
          <a:xfrm>
            <a:off x="6675006" y="3471977"/>
            <a:ext cx="2948826"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72" name="Text 69"/>
          <p:cNvSpPr txBox="1"/>
          <p:nvPr/>
        </p:nvSpPr>
        <p:spPr>
          <a:xfrm>
            <a:off x="9696983" y="3439973"/>
            <a:ext cx="1776679"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강철 90 · 스프링 100 · 기판 8세트</a:t>
            </a:r>
            <a:endParaRPr lang="en-US" sz="850" dirty="0"/>
          </a:p>
        </p:txBody>
      </p:sp>
      <p:sp>
        <p:nvSpPr>
          <p:cNvPr id="73" name="Text 70"/>
          <p:cNvSpPr txBox="1"/>
          <p:nvPr/>
        </p:nvSpPr>
        <p:spPr>
          <a:xfrm>
            <a:off x="676656" y="3615538"/>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나머지 출력 (6모듈 · 끝 부속 · 예비)</a:t>
            </a:r>
            <a:endParaRPr lang="en-US" sz="1050" dirty="0"/>
          </a:p>
        </p:txBody>
      </p:sp>
      <p:sp>
        <p:nvSpPr>
          <p:cNvPr id="74" name="Shape 71"/>
          <p:cNvSpPr/>
          <p:nvPr/>
        </p:nvSpPr>
        <p:spPr>
          <a:xfrm>
            <a:off x="7673188" y="3665830"/>
            <a:ext cx="2948826"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75" name="Text 72"/>
          <p:cNvSpPr txBox="1"/>
          <p:nvPr/>
        </p:nvSpPr>
        <p:spPr>
          <a:xfrm>
            <a:off x="5068062" y="3633826"/>
            <a:ext cx="2531974"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약 380시간: 본체 · 스피커 먼저, 모듈은 11월부터</a:t>
            </a:r>
            <a:endParaRPr lang="en-US" sz="850" dirty="0"/>
          </a:p>
        </p:txBody>
      </p:sp>
      <p:sp>
        <p:nvSpPr>
          <p:cNvPr id="76" name="Text 73"/>
          <p:cNvSpPr txBox="1"/>
          <p:nvPr/>
        </p:nvSpPr>
        <p:spPr>
          <a:xfrm>
            <a:off x="676656" y="3809390"/>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모듈 조립 · 조정</a:t>
            </a:r>
            <a:endParaRPr lang="en-US" sz="1050" dirty="0"/>
          </a:p>
        </p:txBody>
      </p:sp>
      <p:sp>
        <p:nvSpPr>
          <p:cNvPr id="77" name="Shape 74"/>
          <p:cNvSpPr/>
          <p:nvPr/>
        </p:nvSpPr>
        <p:spPr>
          <a:xfrm>
            <a:off x="8671370" y="3859682"/>
            <a:ext cx="2449735"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78" name="Text 75"/>
          <p:cNvSpPr txBox="1"/>
          <p:nvPr/>
        </p:nvSpPr>
        <p:spPr>
          <a:xfrm>
            <a:off x="6644145" y="3827678"/>
            <a:ext cx="1954073"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출력되는 대로 조립 · 무게 · 높이 맞춤</a:t>
            </a:r>
            <a:endParaRPr lang="en-US" sz="850" dirty="0"/>
          </a:p>
        </p:txBody>
      </p:sp>
      <p:sp>
        <p:nvSpPr>
          <p:cNvPr id="79" name="Text 76"/>
          <p:cNvSpPr txBox="1"/>
          <p:nvPr/>
        </p:nvSpPr>
        <p:spPr>
          <a:xfrm>
            <a:off x="676656" y="4003243"/>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제어부 · 오디오 · 88건반 통합</a:t>
            </a:r>
            <a:endParaRPr lang="en-US" sz="1050" dirty="0"/>
          </a:p>
        </p:txBody>
      </p:sp>
      <p:sp>
        <p:nvSpPr>
          <p:cNvPr id="80" name="Shape 77"/>
          <p:cNvSpPr/>
          <p:nvPr/>
        </p:nvSpPr>
        <p:spPr>
          <a:xfrm>
            <a:off x="9170460" y="4053535"/>
            <a:ext cx="1950644" cy="93269"/>
          </a:xfrm>
          <a:prstGeom prst="roundRect">
            <a:avLst>
              <a:gd name="adj" fmla="val 39216"/>
            </a:avLst>
          </a:prstGeom>
          <a:solidFill>
            <a:srgbClr val="16181D"/>
          </a:solidFill>
          <a:ln w="12700">
            <a:solidFill>
              <a:srgbClr val="16181D"/>
            </a:solidFill>
            <a:prstDash val="solid"/>
          </a:ln>
        </p:spPr>
        <p:txBody>
          <a:bodyPr/>
          <a:lstStyle/>
          <a:p>
            <a:endParaRPr lang="en-KR"/>
          </a:p>
        </p:txBody>
      </p:sp>
      <p:sp>
        <p:nvSpPr>
          <p:cNvPr id="81" name="Text 78"/>
          <p:cNvSpPr txBox="1"/>
          <p:nvPr/>
        </p:nvSpPr>
        <p:spPr>
          <a:xfrm>
            <a:off x="7060940" y="4021531"/>
            <a:ext cx="2036369"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합판 상자 · 전원 · 스피커 · 소리 테스트</a:t>
            </a:r>
            <a:endParaRPr lang="en-US" sz="850" dirty="0"/>
          </a:p>
        </p:txBody>
      </p:sp>
      <p:sp>
        <p:nvSpPr>
          <p:cNvPr id="82" name="Shape 79"/>
          <p:cNvSpPr/>
          <p:nvPr/>
        </p:nvSpPr>
        <p:spPr>
          <a:xfrm>
            <a:off x="11043380" y="4021531"/>
            <a:ext cx="193853" cy="157277"/>
          </a:xfrm>
          <a:prstGeom prst="diamond">
            <a:avLst/>
          </a:prstGeom>
          <a:solidFill>
            <a:srgbClr val="D9482B"/>
          </a:solidFill>
          <a:ln w="12700">
            <a:solidFill>
              <a:srgbClr val="FFFFFF"/>
            </a:solidFill>
            <a:prstDash val="solid"/>
          </a:ln>
        </p:spPr>
        <p:txBody>
          <a:bodyPr/>
          <a:lstStyle/>
          <a:p>
            <a:endParaRPr lang="en-KR"/>
          </a:p>
        </p:txBody>
      </p:sp>
      <p:sp>
        <p:nvSpPr>
          <p:cNvPr id="83" name="Text 80"/>
          <p:cNvSpPr txBox="1"/>
          <p:nvPr/>
        </p:nvSpPr>
        <p:spPr>
          <a:xfrm>
            <a:off x="548640" y="4215384"/>
            <a:ext cx="11002975" cy="196596"/>
          </a:xfrm>
          <a:prstGeom prst="rect">
            <a:avLst/>
          </a:prstGeom>
          <a:noFill/>
          <a:ln/>
        </p:spPr>
        <p:txBody>
          <a:bodyPr wrap="square" lIns="0" tIns="0" rIns="0" bIns="0" rtlCol="0" anchor="ctr"/>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2단계 · </a:t>
            </a:r>
            <a:r>
              <a:rPr lang="en-US" sz="1150" b="1" dirty="0" err="1">
                <a:solidFill>
                  <a:srgbClr val="D9482B"/>
                </a:solidFill>
                <a:latin typeface="Apple SD Gothic Neo" pitchFamily="34" charset="0"/>
                <a:ea typeface="Apple SD Gothic Neo" pitchFamily="34" charset="-122"/>
                <a:cs typeface="Apple SD Gothic Neo" pitchFamily="34" charset="-120"/>
              </a:rPr>
              <a:t>리듬게임</a:t>
            </a:r>
            <a:r>
              <a:rPr lang="en-US" sz="1150" b="1" dirty="0">
                <a:solidFill>
                  <a:srgbClr val="D9482B"/>
                </a:solidFill>
                <a:latin typeface="Apple SD Gothic Neo" pitchFamily="34" charset="0"/>
                <a:ea typeface="Apple SD Gothic Neo" pitchFamily="34" charset="-122"/>
                <a:cs typeface="Apple SD Gothic Neo" pitchFamily="34" charset="-120"/>
              </a:rPr>
              <a:t> Toccata</a:t>
            </a:r>
            <a:endParaRPr lang="en-US" sz="1150" dirty="0"/>
          </a:p>
        </p:txBody>
      </p:sp>
      <p:sp>
        <p:nvSpPr>
          <p:cNvPr id="84" name="Text 81"/>
          <p:cNvSpPr txBox="1"/>
          <p:nvPr/>
        </p:nvSpPr>
        <p:spPr>
          <a:xfrm>
            <a:off x="676656" y="4411980"/>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입력 · 판정 기본 (PC)</a:t>
            </a:r>
            <a:endParaRPr lang="en-US" sz="1050" dirty="0"/>
          </a:p>
        </p:txBody>
      </p:sp>
      <p:sp>
        <p:nvSpPr>
          <p:cNvPr id="85" name="Shape 82"/>
          <p:cNvSpPr/>
          <p:nvPr/>
        </p:nvSpPr>
        <p:spPr>
          <a:xfrm>
            <a:off x="6175915" y="4462272"/>
            <a:ext cx="1950644" cy="93269"/>
          </a:xfrm>
          <a:prstGeom prst="roundRect">
            <a:avLst>
              <a:gd name="adj" fmla="val 39216"/>
            </a:avLst>
          </a:prstGeom>
          <a:solidFill>
            <a:srgbClr val="D9482B"/>
          </a:solidFill>
          <a:ln w="12700">
            <a:solidFill>
              <a:srgbClr val="D9482B"/>
            </a:solidFill>
            <a:prstDash val="solid"/>
          </a:ln>
        </p:spPr>
        <p:txBody>
          <a:bodyPr/>
          <a:lstStyle/>
          <a:p>
            <a:endParaRPr lang="en-KR"/>
          </a:p>
        </p:txBody>
      </p:sp>
      <p:sp>
        <p:nvSpPr>
          <p:cNvPr id="86" name="Text 83"/>
          <p:cNvSpPr txBox="1"/>
          <p:nvPr/>
        </p:nvSpPr>
        <p:spPr>
          <a:xfrm>
            <a:off x="8199711" y="4430268"/>
            <a:ext cx="1792224"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12레인 탭 · 홀드 · 판정 · 리플레이</a:t>
            </a:r>
            <a:endParaRPr lang="en-US" sz="850" dirty="0"/>
          </a:p>
        </p:txBody>
      </p:sp>
      <p:sp>
        <p:nvSpPr>
          <p:cNvPr id="87" name="Text 84"/>
          <p:cNvSpPr txBox="1"/>
          <p:nvPr/>
        </p:nvSpPr>
        <p:spPr>
          <a:xfrm>
            <a:off x="676656" y="4605833"/>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연동 · 핵심 루프</a:t>
            </a:r>
            <a:endParaRPr lang="en-US" sz="1050" dirty="0"/>
          </a:p>
        </p:txBody>
      </p:sp>
      <p:sp>
        <p:nvSpPr>
          <p:cNvPr id="88" name="Shape 85"/>
          <p:cNvSpPr/>
          <p:nvPr/>
        </p:nvSpPr>
        <p:spPr>
          <a:xfrm>
            <a:off x="8172279" y="4656125"/>
            <a:ext cx="1451553" cy="93269"/>
          </a:xfrm>
          <a:prstGeom prst="roundRect">
            <a:avLst>
              <a:gd name="adj" fmla="val 39216"/>
            </a:avLst>
          </a:prstGeom>
          <a:solidFill>
            <a:srgbClr val="D9482B"/>
          </a:solidFill>
          <a:ln w="12700">
            <a:solidFill>
              <a:srgbClr val="D9482B"/>
            </a:solidFill>
            <a:prstDash val="solid"/>
          </a:ln>
        </p:spPr>
        <p:txBody>
          <a:bodyPr/>
          <a:lstStyle/>
          <a:p>
            <a:endParaRPr lang="en-KR"/>
          </a:p>
        </p:txBody>
      </p:sp>
      <p:sp>
        <p:nvSpPr>
          <p:cNvPr id="89" name="Text 86"/>
          <p:cNvSpPr txBox="1"/>
          <p:nvPr/>
        </p:nvSpPr>
        <p:spPr>
          <a:xfrm>
            <a:off x="9696983" y="4624121"/>
            <a:ext cx="1522476"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지연 · 세기 측정, 흑현 · 강약</a:t>
            </a:r>
            <a:endParaRPr lang="en-US" sz="850" dirty="0"/>
          </a:p>
        </p:txBody>
      </p:sp>
      <p:sp>
        <p:nvSpPr>
          <p:cNvPr id="90" name="Text 87"/>
          <p:cNvSpPr txBox="1"/>
          <p:nvPr/>
        </p:nvSpPr>
        <p:spPr>
          <a:xfrm>
            <a:off x="676656" y="4799686"/>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콘텐츠 (서장 + 1장, 곡 3~4개)</a:t>
            </a:r>
            <a:endParaRPr lang="en-US" sz="1050" dirty="0"/>
          </a:p>
        </p:txBody>
      </p:sp>
      <p:sp>
        <p:nvSpPr>
          <p:cNvPr id="91" name="Shape 88"/>
          <p:cNvSpPr/>
          <p:nvPr/>
        </p:nvSpPr>
        <p:spPr>
          <a:xfrm>
            <a:off x="7673188" y="4849978"/>
            <a:ext cx="2948826" cy="93269"/>
          </a:xfrm>
          <a:prstGeom prst="roundRect">
            <a:avLst>
              <a:gd name="adj" fmla="val 39216"/>
            </a:avLst>
          </a:prstGeom>
          <a:solidFill>
            <a:srgbClr val="D9482B"/>
          </a:solidFill>
          <a:ln w="12700">
            <a:solidFill>
              <a:srgbClr val="D9482B"/>
            </a:solidFill>
            <a:prstDash val="solid"/>
          </a:ln>
        </p:spPr>
        <p:txBody>
          <a:bodyPr/>
          <a:lstStyle/>
          <a:p>
            <a:endParaRPr lang="en-KR"/>
          </a:p>
        </p:txBody>
      </p:sp>
      <p:sp>
        <p:nvSpPr>
          <p:cNvPr id="92" name="Text 89"/>
          <p:cNvSpPr txBox="1"/>
          <p:nvPr/>
        </p:nvSpPr>
        <p:spPr>
          <a:xfrm>
            <a:off x="6375654" y="4817974"/>
            <a:ext cx="1224382"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화면 · 연출 · 결과 화면</a:t>
            </a:r>
            <a:endParaRPr lang="en-US" sz="850" dirty="0"/>
          </a:p>
        </p:txBody>
      </p:sp>
      <p:sp>
        <p:nvSpPr>
          <p:cNvPr id="93" name="Text 90"/>
          <p:cNvSpPr txBox="1"/>
          <p:nvPr/>
        </p:nvSpPr>
        <p:spPr>
          <a:xfrm>
            <a:off x="676656" y="4993538"/>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Pi 5 이식 · 시연 준비</a:t>
            </a:r>
            <a:endParaRPr lang="en-US" sz="1050" dirty="0"/>
          </a:p>
        </p:txBody>
      </p:sp>
      <p:sp>
        <p:nvSpPr>
          <p:cNvPr id="94" name="Shape 91"/>
          <p:cNvSpPr/>
          <p:nvPr/>
        </p:nvSpPr>
        <p:spPr>
          <a:xfrm>
            <a:off x="10168642" y="5043830"/>
            <a:ext cx="952462" cy="93269"/>
          </a:xfrm>
          <a:prstGeom prst="roundRect">
            <a:avLst>
              <a:gd name="adj" fmla="val 39216"/>
            </a:avLst>
          </a:prstGeom>
          <a:solidFill>
            <a:srgbClr val="D9482B"/>
          </a:solidFill>
          <a:ln w="12700">
            <a:solidFill>
              <a:srgbClr val="D9482B"/>
            </a:solidFill>
            <a:prstDash val="solid"/>
          </a:ln>
        </p:spPr>
        <p:txBody>
          <a:bodyPr/>
          <a:lstStyle/>
          <a:p>
            <a:endParaRPr lang="en-KR"/>
          </a:p>
        </p:txBody>
      </p:sp>
      <p:sp>
        <p:nvSpPr>
          <p:cNvPr id="95" name="Text 92"/>
          <p:cNvSpPr txBox="1"/>
          <p:nvPr/>
        </p:nvSpPr>
        <p:spPr>
          <a:xfrm>
            <a:off x="8677256" y="5011826"/>
            <a:ext cx="1418234"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60 fps · 반주 중 지연 확인</a:t>
            </a:r>
            <a:endParaRPr lang="en-US" sz="850" dirty="0"/>
          </a:p>
        </p:txBody>
      </p:sp>
      <p:sp>
        <p:nvSpPr>
          <p:cNvPr id="96" name="Shape 93"/>
          <p:cNvSpPr/>
          <p:nvPr/>
        </p:nvSpPr>
        <p:spPr>
          <a:xfrm>
            <a:off x="11043380" y="5011826"/>
            <a:ext cx="193853" cy="157277"/>
          </a:xfrm>
          <a:prstGeom prst="diamond">
            <a:avLst/>
          </a:prstGeom>
          <a:solidFill>
            <a:srgbClr val="D9482B"/>
          </a:solidFill>
          <a:ln w="12700">
            <a:solidFill>
              <a:srgbClr val="FFFFFF"/>
            </a:solidFill>
            <a:prstDash val="solid"/>
          </a:ln>
        </p:spPr>
        <p:txBody>
          <a:bodyPr/>
          <a:lstStyle/>
          <a:p>
            <a:endParaRPr lang="en-KR"/>
          </a:p>
        </p:txBody>
      </p:sp>
      <p:sp>
        <p:nvSpPr>
          <p:cNvPr id="97" name="Text 94"/>
          <p:cNvSpPr txBox="1"/>
          <p:nvPr/>
        </p:nvSpPr>
        <p:spPr>
          <a:xfrm>
            <a:off x="548640" y="5205679"/>
            <a:ext cx="11002975" cy="196596"/>
          </a:xfrm>
          <a:prstGeom prst="rect">
            <a:avLst/>
          </a:prstGeom>
          <a:noFill/>
          <a:ln/>
        </p:spPr>
        <p:txBody>
          <a:bodyPr wrap="square" lIns="0" tIns="0" rIns="0" bIns="0" rtlCol="0" anchor="ctr"/>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12월 · 발표</a:t>
            </a:r>
            <a:endParaRPr lang="en-US" sz="1150" dirty="0"/>
          </a:p>
        </p:txBody>
      </p:sp>
      <p:sp>
        <p:nvSpPr>
          <p:cNvPr id="98" name="Text 95"/>
          <p:cNvSpPr txBox="1"/>
          <p:nvPr/>
        </p:nvSpPr>
        <p:spPr>
          <a:xfrm>
            <a:off x="676656" y="5402275"/>
            <a:ext cx="2889504" cy="193853"/>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최종 발표 · 시연</a:t>
            </a:r>
            <a:endParaRPr lang="en-US" sz="1050" dirty="0"/>
          </a:p>
        </p:txBody>
      </p:sp>
      <p:sp>
        <p:nvSpPr>
          <p:cNvPr id="99" name="Shape 96"/>
          <p:cNvSpPr/>
          <p:nvPr/>
        </p:nvSpPr>
        <p:spPr>
          <a:xfrm>
            <a:off x="11166824" y="5452567"/>
            <a:ext cx="453371" cy="93269"/>
          </a:xfrm>
          <a:prstGeom prst="roundRect">
            <a:avLst>
              <a:gd name="adj" fmla="val 39216"/>
            </a:avLst>
          </a:prstGeom>
          <a:solidFill>
            <a:srgbClr val="444A54"/>
          </a:solidFill>
          <a:ln w="12700">
            <a:solidFill>
              <a:srgbClr val="444A54"/>
            </a:solidFill>
            <a:prstDash val="solid"/>
          </a:ln>
        </p:spPr>
        <p:txBody>
          <a:bodyPr/>
          <a:lstStyle/>
          <a:p>
            <a:endParaRPr lang="en-KR"/>
          </a:p>
        </p:txBody>
      </p:sp>
      <p:sp>
        <p:nvSpPr>
          <p:cNvPr id="100" name="Text 97"/>
          <p:cNvSpPr txBox="1"/>
          <p:nvPr/>
        </p:nvSpPr>
        <p:spPr>
          <a:xfrm>
            <a:off x="9811683" y="5420563"/>
            <a:ext cx="1281989" cy="157277"/>
          </a:xfrm>
          <a:prstGeom prst="rect">
            <a:avLst/>
          </a:prstGeom>
          <a:solidFill>
            <a:srgbClr val="FFFFFF"/>
          </a:solidFill>
          <a:ln/>
        </p:spPr>
        <p:txBody>
          <a:bodyPr wrap="square" lIns="0" tIns="0" rIns="0" bIns="0" rtlCol="0" anchor="ct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88건반 연주 + 게임 시연</a:t>
            </a:r>
            <a:endParaRPr lang="en-US" sz="850" dirty="0"/>
          </a:p>
        </p:txBody>
      </p:sp>
      <p:sp>
        <p:nvSpPr>
          <p:cNvPr id="101" name="Shape 98"/>
          <p:cNvSpPr/>
          <p:nvPr/>
        </p:nvSpPr>
        <p:spPr>
          <a:xfrm>
            <a:off x="11430914" y="5420563"/>
            <a:ext cx="193853" cy="157277"/>
          </a:xfrm>
          <a:prstGeom prst="diamond">
            <a:avLst/>
          </a:prstGeom>
          <a:solidFill>
            <a:srgbClr val="D9482B"/>
          </a:solidFill>
          <a:ln w="12700">
            <a:solidFill>
              <a:srgbClr val="FFFFFF"/>
            </a:solidFill>
            <a:prstDash val="solid"/>
          </a:ln>
        </p:spPr>
        <p:txBody>
          <a:bodyPr/>
          <a:lstStyle/>
          <a:p>
            <a:endParaRPr lang="en-KR"/>
          </a:p>
        </p:txBody>
      </p:sp>
      <p:sp>
        <p:nvSpPr>
          <p:cNvPr id="102" name="Shape 99"/>
          <p:cNvSpPr/>
          <p:nvPr/>
        </p:nvSpPr>
        <p:spPr>
          <a:xfrm>
            <a:off x="548640" y="5815584"/>
            <a:ext cx="5455768" cy="566928"/>
          </a:xfrm>
          <a:prstGeom prst="roundRect">
            <a:avLst>
              <a:gd name="adj" fmla="val 9677"/>
            </a:avLst>
          </a:prstGeom>
          <a:solidFill>
            <a:srgbClr val="F3F4F6"/>
          </a:solidFill>
          <a:ln w="12700">
            <a:solidFill>
              <a:srgbClr val="F3F4F6"/>
            </a:solidFill>
            <a:prstDash val="solid"/>
          </a:ln>
        </p:spPr>
        <p:txBody>
          <a:bodyPr/>
          <a:lstStyle/>
          <a:p>
            <a:endParaRPr lang="en-KR"/>
          </a:p>
        </p:txBody>
      </p:sp>
      <p:sp>
        <p:nvSpPr>
          <p:cNvPr id="103" name="Text 100"/>
          <p:cNvSpPr txBox="1"/>
          <p:nvPr/>
        </p:nvSpPr>
        <p:spPr>
          <a:xfrm>
            <a:off x="731520" y="5870448"/>
            <a:ext cx="5090008" cy="237744"/>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12월 결과물 ① 88건반 디지털 피아노</a:t>
            </a:r>
            <a:endParaRPr lang="en-US" sz="1150" dirty="0"/>
          </a:p>
        </p:txBody>
      </p:sp>
      <p:sp>
        <p:nvSpPr>
          <p:cNvPr id="104" name="Text 101"/>
          <p:cNvSpPr txBox="1"/>
          <p:nvPr/>
        </p:nvSpPr>
        <p:spPr>
          <a:xfrm>
            <a:off x="731520" y="6108192"/>
            <a:ext cx="5090008" cy="237744"/>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시소 건반 + 무게 레버 · 누르는 세기 · 댐퍼 페달 · 내장 스피커 · 보조배터리, 누르고 10 ms 안에 소리</a:t>
            </a:r>
            <a:endParaRPr lang="en-US" sz="950" dirty="0"/>
          </a:p>
        </p:txBody>
      </p:sp>
      <p:sp>
        <p:nvSpPr>
          <p:cNvPr id="105" name="Shape 102"/>
          <p:cNvSpPr/>
          <p:nvPr/>
        </p:nvSpPr>
        <p:spPr>
          <a:xfrm>
            <a:off x="6187288" y="5815584"/>
            <a:ext cx="5455768" cy="566928"/>
          </a:xfrm>
          <a:prstGeom prst="roundRect">
            <a:avLst>
              <a:gd name="adj" fmla="val 9677"/>
            </a:avLst>
          </a:prstGeom>
          <a:solidFill>
            <a:srgbClr val="FBE9E4"/>
          </a:solidFill>
          <a:ln w="12700">
            <a:solidFill>
              <a:srgbClr val="FBE9E4"/>
            </a:solidFill>
            <a:prstDash val="solid"/>
          </a:ln>
        </p:spPr>
        <p:txBody>
          <a:bodyPr/>
          <a:lstStyle/>
          <a:p>
            <a:endParaRPr lang="en-KR"/>
          </a:p>
        </p:txBody>
      </p:sp>
      <p:sp>
        <p:nvSpPr>
          <p:cNvPr id="106" name="Text 103"/>
          <p:cNvSpPr txBox="1"/>
          <p:nvPr/>
        </p:nvSpPr>
        <p:spPr>
          <a:xfrm>
            <a:off x="6370168" y="5870448"/>
            <a:ext cx="5090008" cy="237744"/>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12월 결과물 ② 리듬게임 Toccata MVP</a:t>
            </a:r>
            <a:endParaRPr lang="en-US" sz="1150" dirty="0"/>
          </a:p>
        </p:txBody>
      </p:sp>
      <p:sp>
        <p:nvSpPr>
          <p:cNvPr id="107" name="Text 104"/>
          <p:cNvSpPr txBox="1"/>
          <p:nvPr/>
        </p:nvSpPr>
        <p:spPr>
          <a:xfrm>
            <a:off x="6370168" y="6108192"/>
            <a:ext cx="5090008" cy="237744"/>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서장 + 1장 (곡 3~4개): 탭 · 홀드 · 흑건 위쪽 줄 · 강약 — 88레인 · 채보 도구는 다음 단계</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확인</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22</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(1/4)</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091384"/>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 제어 · 전원 (핵심)   ·   소계 199,455원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www.icbanq.com/P016286897">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 허브 10포트 (전원형)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페달을 Pi 5 한 포트로 모음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tooltip="https://prod.danawa.com/info/?pcode=29865749">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tooltip="https://www.icbanq.com/P017179277">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강압 모듈 XL4016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 5.1 V (Pi 5 · 허브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5,170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tooltip="https://www.icbanq.com/P017179502">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microSD 32GB (SanDisk Ultra)</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운영체제 · 음원 · 게임 저장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tooltip="https://prod.danawa.com/info/?pcode=20358155">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Pi 5 방열판 (4개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칩 방열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tooltip="https://www.mechasolution.com/goods/goods_view.php?goodsNo=605179">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로커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tooltip="https://www.eleparts.co.kr/goods/view?no=3256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홀더 (5×20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tooltip="https://www.eleparts.co.kr/goods/view?no=323782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퓨즈 5 A 지연형 (5개)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tooltip="https://www.eleparts.co.kr/goods/view?no=127668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65 W PD 충전기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벽 전원 (보조배터리 대신 쓸 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tooltip="https://prod.danawa.com/info/?pcode=59074565">
                            <a:extLst>
                              <a:ext uri="{A12FA001-AC4F-418D-AE19-62706E023703}">
                                <ahyp:hlinkClr xmlns:ahyp="http://schemas.microsoft.com/office/drawing/2018/hyperlinkcolor" val="tx"/>
                              </a:ext>
                            </a:extLst>
                          </a:hlinkClick>
                        </a:rPr>
                        <a:t>prod.danawa.com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150,123원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RP2040-Zero 마이크로컨트롤러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tooltip="https://parts-parts.co.kr/product/detail.html?product_no=2383">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홀센서 TI DRV5055A2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건반 위치 측정 (88 + 페달 1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icbanq.com/P018076669">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dgmagnet.com/product/%EC%B4%88%EA%B0%95%EB%A0%A5-%EB%84%A4%EC%98%A4%EB%94%94%EC%9B%80-%EC%9B%90%ED%98%95%EC%9E%90%EC%84%9D-5mm/13/">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16채널 MUX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tooltip="https://parts-parts.co.kr/product/detail.html?product_no=303">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 (W1: 앞쪽 핀 홈 자리 비움)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tooltip="https://www.mechasolution.com/goods/goods_view.php?goodsNo=329798">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만능기판 12×18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띠로 잘라 씀 (모듈 7 + 끝 부속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tooltip="https://www.mechasolution.com/goods/goods_view.php?goodsNo=540645">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100 nF (1206)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MUX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tooltip="https://www.icbanq.com/P014968846">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칩 콘덴서 10 µF (1206,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 회로도 △1·△3)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tooltip="https://www.icbanq.com/P00124809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소켓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연결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tooltip="https://www.icbanq.com/P014161879">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핀헤더 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MUX 모듈 · EXT 커넥터 · RP2040-Zero 핀 헤더 (5줄 + 회로도 추가 4줄)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2" tooltip="https://www.icbanq.com/P005666127">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 페달 · 끝 부속 입력 (8개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3" tooltip="https://www.eleparts.co.kr/goods/view?no=109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(2/4)</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5091384"/>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 끝 부속 입력 풀다운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www.eleparts.co.kr/goods/view?no=1099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tooltip="https://www.eleparts.co.kr/goods/view?no=1095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tooltip="https://www.eleparts.co.kr/goods/view?no=1087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3. 건반 액션 (W1: 시소 건반 + 무게 레버)   ·   소계 119,328원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강철 평철 9T×19 (1 m 맞춤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블록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tooltip="https://www.allsteelshop.com/product/squareplate/9t">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tooltip="https://www.11st.co.kr/products/130463151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스테인리스 봉 Ø4 (1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tooltip="https://www.11st.co.kr/products/130463151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tooltip="https://www.icbanq.com/P015973844">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M3 육각 너트 (강철)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96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tooltip="https://www.icbanq.com/P015976209">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tooltip="https://www.nasakorea.com/goods/goods_view.php?goodsNo=6009">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스프링용 스테인리스 강선 0.5 mm (200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비틀림 보조 스프링 100개를 직접 감아 만듦 — 먼저 5개로 단계 0 시험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tooltip="https://www.11st.co.kr/products/9030046679">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2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tooltip="https://studiobunt.com/product/detail.html?product_no=4117">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양모 펠트 1 mm (20×30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tooltip="https://studiobunt.com/product/detail.html?product_no=1157">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포론(PORON) 폼 5T 점착 (100×100)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패드 바 쐐기를 1.0 mm 두껍게 출력, 단계 0 시험 먼저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navimro.com/g/1028764/">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충격흡수재 하네나이트 1T (170×245)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navimro.com/g/1029233/">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접착 펠트 0.5T (30×45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tooltip="https://www.11st.co.kr/products/8517880969">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67,229원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앰프 보드 XH-A232 (TPA3110)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구동, 채널당 약 21 W</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tooltip="https://www.icbanq.com/P017179248">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유닛 삼미 CW-100B25 (4인치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tooltip="https://www.11st.co.kr/products/1565354988">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tooltip="https://www.apple.com/kr/shop/product/mw2q3kh/a">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 USB-A 젠더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어댑터를 Pi 5 USB 포트에 연결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tooltip="https://www.eleparts.co.kr/goods/view?no=11043038">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잭 PJ-313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헤드폰 잭(꽂으면 스피커 차단) · 앰프 입력 · 페달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1" tooltip="https://www.eleparts.co.kr/goods/view?no=678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(3/4)</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4879243"/>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767D88"/>
                          </a:solidFill>
                          <a:latin typeface="Apple SD Gothic Neo" pitchFamily="34" charset="0"/>
                          <a:ea typeface="Apple SD Gothic Neo" pitchFamily="34" charset="-122"/>
                          <a:cs typeface="Apple SD Gothic Neo" pitchFamily="34" charset="-120"/>
                        </a:rPr>
                        <a:t>4. 오디오 (스피커 · 앰프)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적층 세라믹 콘덴서 1 µF</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www.icbanq.com/P014159115">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수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tooltip="https://www.eleparts.co.kr/goods/view?no=1277972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XT30 커넥터 암 (선 포함)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tooltip="https://www.eleparts.co.kr/goods/view?no=1277972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tooltip="https://namugongjang.com/product/detail.html?product_no=1378">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tooltip="https://www.11st.co.kr/products/23255982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65,000원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 (무료 재단)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tooltip="https://namugongjang.com/product/detail.html?product_no=1378">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토글 래치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tooltip="https://www.metaldiy.com/item/itemView.do?itemId=8806379117286">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tooltip="https://dgmagnet.com/product/detail.html?product_no=17">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tooltip="https://www.rcbank.co.kr/shop/goods/goods_view.php?goodsno=29812">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고무발 28×5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받침 (아래 케이블 통로 확보)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tooltip="https://www.eleparts.co.kr/goods/view?no=1662829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실리콘 방진 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tooltip="https://ko.aliexpress.com/item/1005012184121268.html">
                            <a:extLst>
                              <a:ext uri="{A12FA001-AC4F-418D-AE19-62706E023703}">
                                <ahyp:hlinkClr xmlns:ahyp="http://schemas.microsoft.com/office/drawing/2018/hyperlinkcolor" val="tx"/>
                              </a:ext>
                            </a:extLst>
                          </a:hlinkClick>
                        </a:rPr>
                        <a:t>ko.aliexpress.com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EVA 폼 3T (330×490)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tooltip="https://www.11st.co.kr/products/7591566666">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M3×10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11st.co.kr/products/42361984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M3×6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제어 기판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11st.co.kr/products/42361984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렌치볼트 M2.5×6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11st.co.kr/products/42361984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와셔 M4 (SUS)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11st.co.kr/products/4236198413">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13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11st.co.kr/products/435347153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16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11st.co.kr/products/435347153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19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11st.co.kr/products/435347153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직결피스 25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11st.co.kr/products/435347153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25</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marL="0" indent="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(4/4)</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4186073732"/>
              </p:ext>
            </p:extLst>
          </p:nvPr>
        </p:nvGraphicFramePr>
        <p:xfrm>
          <a:off x="548640" y="868680"/>
          <a:ext cx="11094415" cy="5303525"/>
        </p:xfrm>
        <a:graphic>
          <a:graphicData uri="http://schemas.openxmlformats.org/drawingml/2006/table">
            <a:tbl>
              <a:tblPr/>
              <a:tblGrid>
                <a:gridCol w="41148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4160520">
                  <a:extLst>
                    <a:ext uri="{9D8B030D-6E8A-4147-A177-3AD203B41FA5}">
                      <a16:colId xmlns:a16="http://schemas.microsoft.com/office/drawing/2014/main" val="20003"/>
                    </a:ext>
                  </a:extLst>
                </a:gridCol>
                <a:gridCol w="1033272">
                  <a:extLst>
                    <a:ext uri="{9D8B030D-6E8A-4147-A177-3AD203B41FA5}">
                      <a16:colId xmlns:a16="http://schemas.microsoft.com/office/drawing/2014/main" val="20004"/>
                    </a:ext>
                  </a:extLst>
                </a:gridCol>
                <a:gridCol w="1877263">
                  <a:extLst>
                    <a:ext uri="{9D8B030D-6E8A-4147-A177-3AD203B41FA5}">
                      <a16:colId xmlns:a16="http://schemas.microsoft.com/office/drawing/2014/main" val="20005"/>
                    </a:ext>
                  </a:extLst>
                </a:gridCol>
              </a:tblGrid>
              <a:tr h="212141">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ctr">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l">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2141">
                <a:tc gridSpan="6">
                  <a:txBody>
                    <a:bodyPr/>
                    <a:lstStyle/>
                    <a:p>
                      <a:pPr marL="0" indent="0">
                        <a:buNone/>
                      </a:pPr>
                      <a:r>
                        <a:rPr lang="en-US" sz="850" b="1" dirty="0">
                          <a:solidFill>
                            <a:srgbClr val="16181D"/>
                          </a:solidFill>
                          <a:latin typeface="Apple SD Gothic Neo" pitchFamily="34" charset="0"/>
                          <a:ea typeface="Apple SD Gothic Neo" pitchFamily="34" charset="-122"/>
                          <a:cs typeface="Apple SD Gothic Neo" pitchFamily="34" charset="-120"/>
                        </a:rPr>
                        <a:t>6. 소모품   ·   소계 203,814원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0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kr.store.bambulab.com/products/petg-basic">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흰색 1 kg (리필)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백건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kr.store.bambulab.com/products/petg-basic">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검정 1 kg (스풀)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프레임 · 레버 캐리어 · 흑건 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80,750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kr.store.bambulab.com/products/petg-basic">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PETG 필라멘트 1 kg 추가 (흰색 또는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 여분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16,150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3" tooltip="https://kr.store.bambulab.com/products/petg-basic">
                            <a:extLst>
                              <a:ext uri="{A12FA001-AC4F-418D-AE19-62706E023703}">
                                <ahyp:hlinkClr xmlns:ahyp="http://schemas.microsoft.com/office/drawing/2018/hyperlinkcolor" val="tx"/>
                              </a:ext>
                            </a:extLst>
                          </a:hlinkClick>
                        </a:rPr>
                        <a:t>kr.store.bambulab.com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USB-A → USB-C 케이블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 USB 허브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12,960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4" tooltip="https://www.eleparts.co.kr/goods/view?no=431349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tooltip="https://www.eleparts.co.kr/goods/view?no=42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리본 케이블 16P (1 m) 추가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5" tooltip="https://www.eleparts.co.kr/goods/view?no=42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스피커 케이블 16AWG 7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6" tooltip="https://www.eleparts.co.kr/goods/view?no=1838861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케이블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7" tooltip="https://www.eleparts.co.kr/goods/view?no=292567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8" tooltip="https://www.eleparts.co.kr/goods/view?no=17806172">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PD 케이블 2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충전기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2,670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9" tooltip="https://www.eleparts.co.kr/goods/view?no=1780617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USB-C 전원 케이블 (제작용)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강압 모듈 → Pi 5 전원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0" tooltip="https://www.eleparts.co.kr/goods/view?no=17358965">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3"/>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열수축 튜브 세트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1" tooltip="https://www.eleparts.co.kr/goods/view?no=8170311">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4"/>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캡톤 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기판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4,059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2" tooltip="https://www.eleparts.co.kr/goods/view?no=557">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5"/>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케이블 타이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케이블 정리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438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3" tooltip="https://www.eleparts.co.kr/goods/view?no=9100003">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6"/>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실납 0.8 mm 50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손 납땜 (약 1,500곳)</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3,850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4" tooltip="https://www.eleparts.co.kr/goods/view?no=12755646">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7"/>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순간접착제 5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5" tooltip="https://www.icbanq.com/P015309984">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8"/>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79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종이 양면테이프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EVA 시트 · 펠트 부착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1,080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6" tooltip="https://www.eleparts.co.kr/goods/view?no=17897439">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19"/>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목공 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7" tooltip="https://www.11st.co.kr/products/187465567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0"/>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8" tooltip="https://www.11st.co.kr/products/9579455646">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1"/>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OHP 필름 (A4 20매)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5,980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19" tooltip="https://www.11st.co.kr/products/9367896435">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2"/>
                  </a:ext>
                </a:extLst>
              </a:tr>
              <a:tr h="212141">
                <a:tc>
                  <a:txBody>
                    <a:bodyPr/>
                    <a:lstStyle/>
                    <a:p>
                      <a:pPr marL="0" indent="0" algn="ctr">
                        <a:buNone/>
                      </a:pPr>
                      <a:r>
                        <a:rPr lang="en-US" sz="850" dirty="0">
                          <a:solidFill>
                            <a:srgbClr val="767D88"/>
                          </a:solidFill>
                          <a:latin typeface="Apple SD Gothic Neo" pitchFamily="34" charset="0"/>
                          <a:ea typeface="Apple SD Gothic Neo" pitchFamily="34" charset="-122"/>
                          <a:cs typeface="Apple SD Gothic Neo" pitchFamily="34" charset="-120"/>
                        </a:rPr>
                        <a:t>83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16181D"/>
                          </a:solidFill>
                          <a:latin typeface="Apple SD Gothic Neo" pitchFamily="34" charset="0"/>
                          <a:ea typeface="Apple SD Gothic Neo" pitchFamily="34" charset="-122"/>
                          <a:cs typeface="Apple SD Gothic Neo" pitchFamily="34" charset="-120"/>
                        </a:rPr>
                        <a:t>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20" tooltip="https://www.11st.co.kr/products/1333385437">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23"/>
                  </a:ext>
                </a:extLst>
              </a:tr>
              <a:tr h="212141">
                <a:tc gridSpan="6">
                  <a:txBody>
                    <a:bodyPr/>
                    <a:lstStyle/>
                    <a:p>
                      <a:pPr marL="0" indent="0" algn="r">
                        <a:buNone/>
                      </a:pPr>
                      <a:r>
                        <a:rPr lang="en-US" sz="850" b="1" dirty="0">
                          <a:solidFill>
                            <a:srgbClr val="FFFFFF"/>
                          </a:solidFill>
                          <a:latin typeface="Apple SD Gothic Neo" pitchFamily="34" charset="0"/>
                          <a:ea typeface="Apple SD Gothic Neo" pitchFamily="34" charset="-122"/>
                          <a:cs typeface="Apple SD Gothic Neo" pitchFamily="34" charset="-120"/>
                        </a:rPr>
                        <a:t>피아노 부품 601,135원  +  소모품 203,814원  =  전체 804,949원</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tc hMerge="1">
                  <a:txBody>
                    <a:bodyPr/>
                    <a:lstStyle/>
                    <a:p>
                      <a:endParaRPr lang="en-KR"/>
                    </a:p>
                  </a:txBody>
                  <a:tcPr/>
                </a:tc>
                <a:extLst>
                  <a:ext uri="{0D108BD9-81ED-4DB2-BD59-A6C34878D82A}">
                    <a16:rowId xmlns:a16="http://schemas.microsoft.com/office/drawing/2014/main" val="1002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6912</Words>
  <Application>Microsoft Macintosh PowerPoint</Application>
  <PresentationFormat>Widescreen</PresentationFormat>
  <Paragraphs>1145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Apple SD Gothic Neo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고원규</cp:lastModifiedBy>
  <cp:revision>23</cp:revision>
  <dcterms:created xsi:type="dcterms:W3CDTF">2026-09-27T18:56:08Z</dcterms:created>
  <dcterms:modified xsi:type="dcterms:W3CDTF">2026-09-28T01:07:25Z</dcterms:modified>
</cp:coreProperties>
</file>